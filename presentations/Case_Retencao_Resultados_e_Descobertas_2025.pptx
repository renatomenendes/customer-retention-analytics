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DE CIÊNCIA DE DADOS • ANÁLISE DE RETENÇÃO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de clientes retidos com movimentação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938528"/>
            <a:ext cx="7040880" cy="2852928"/>
          </a:xfrm>
          <a:prstGeom prst="rect">
            <a:avLst/>
          </a:prstGeom>
          <a:solidFill>
            <a:srgbClr val="0B1C28"/>
          </a:solidFill>
          <a:ln w="12700">
            <a:solidFill>
              <a:srgbClr val="0B1C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331720"/>
            <a:ext cx="6355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movimenta produtos após ser classificado como retido?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05840" y="3730752"/>
            <a:ext cx="62727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AE4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o que os valores M0/M30 permitem concluir sobre o negócio?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01000" y="1938528"/>
            <a:ext cx="3419856" cy="2852928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0" y="1938528"/>
            <a:ext cx="50292" cy="285292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2103120"/>
            <a:ext cx="3054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JUN–DEZ 2025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183880" y="2660904"/>
            <a:ext cx="3054096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303.652 registros elegíveis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249.309 retidos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com movimentação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observada não equivale a aceite de oferta, receita preservada ou resultado causal.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pergunta estatística correta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5285232" cy="299923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20240"/>
            <a:ext cx="50292" cy="299923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84832"/>
            <a:ext cx="49194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P(MOV | RETIDO, M0)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14400" y="2642616"/>
            <a:ext cx="491947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os registros retidos, identificar características iniciais associadas à movimentação. É o alvo central do case.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81344" y="1920240"/>
            <a:ext cx="5257800" cy="2999232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81344" y="1920240"/>
            <a:ext cx="50292" cy="299923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2084832"/>
            <a:ext cx="4892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P(RETIDO e MOV | M0)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64224" y="2642616"/>
            <a:ext cx="489204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 composto entre atendimentos encerrados. Útil como diagnóstico secundário; não substitui o perfil condicionado.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real de oferta não aparece como variável observada; tratamos hipóteses e proxies separadamente.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população analisada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303.652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96112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no período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6432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249.309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621024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RETIDO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1344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6345936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 + movimento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06256" y="1993392"/>
            <a:ext cx="2542032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848" y="2176272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34,7%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070848" y="2871216"/>
            <a:ext cx="2212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retidos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867912"/>
            <a:ext cx="5257800" cy="135331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867912"/>
            <a:ext cx="50292" cy="135331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032504"/>
            <a:ext cx="4892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6.252 em aberto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14400" y="4590288"/>
            <a:ext cx="4892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Leads pendentes não foram tratados como perdas.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276088" cy="135331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50292" cy="1353312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4032504"/>
            <a:ext cx="4910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14.069 IDs repetidos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355080" y="4590288"/>
            <a:ext cx="4910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unidade é registro, não episódio ou cliente único confirmado.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Dois registros fora da janela foram excluídos dos indicadores de junho–dezembro.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Há perfis diferentes segundo o mix inicial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10241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Frequência de alguma movimentação entre registros retidos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122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18541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185416"/>
            <a:ext cx="1881236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0848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28,9%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10312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82.490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255803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263118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2631186"/>
            <a:ext cx="2367527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53060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36,3%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54889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63.301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300380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BL+TV+FONE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60520" y="307695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60520" y="3076956"/>
            <a:ext cx="2540696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0" y="29763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39,0%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07040" y="29946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61.897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344957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BL+FONE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60520" y="352272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0520" y="3522726"/>
            <a:ext cx="227723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342214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35,0%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07040" y="344043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21.380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4400" y="389534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60520" y="396849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60520" y="3968496"/>
            <a:ext cx="102576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0" y="38679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15,7%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07040" y="38862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7.120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14400" y="434111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BL+MV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160520" y="441426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0520" y="4414266"/>
            <a:ext cx="361301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0" y="431368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33197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4.802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478688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BL+TV+MV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160520" y="486003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60520" y="4860036"/>
            <a:ext cx="421885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01200" y="47594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64,8%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607040" y="477774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2.511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14400" y="523265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BL+TV+FONE+MV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160520" y="530580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60520" y="5305806"/>
            <a:ext cx="452957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520522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607040" y="522351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2.333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 e oportunidade estão relacionados; essas taxas não isolam o efeito de aumentar a carteira.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tamanho da carteira altera o denominador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família(s)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87552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90.470 retidos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02736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85616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família(s)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85616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36,9%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85616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91.072 retidos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família(s)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40,3%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83680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65.304 retidos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2157984"/>
            <a:ext cx="2587752" cy="26700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81744" y="249631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família(s)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81744" y="3063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69,5%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381744" y="405079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2.333 retidos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resultado por oportunidade M0 no relatório revela viés de comparação de “qualquer movimentação”.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MPlay aponta heterogeneidade — e muita ausência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Taxas por categoria registrada em M0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9456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267712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267712"/>
            <a:ext cx="2757845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167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18541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232.017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289864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2971800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2971800"/>
            <a:ext cx="4333080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8712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88950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10.587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NAO-MARCADO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60520" y="3675888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60520" y="3675888"/>
            <a:ext cx="1221025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0" y="357530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15,2%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07040" y="35935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6.705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“UNKNOWN” representa grande parte da amostra: não interpretar MARCADO como tratamento causal.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posse móvel também diferencia o grupo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entre retidos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3230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Possui móvel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505456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505456"/>
            <a:ext cx="3282619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404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37,8%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4231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136.438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313639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Não possui móvel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3209544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3209544"/>
            <a:ext cx="2692292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31089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31272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112.871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60120" y="4197096"/>
            <a:ext cx="10332720" cy="9692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4197096"/>
            <a:ext cx="50292" cy="969264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361688"/>
            <a:ext cx="99669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Associação, não regra comercial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143000" y="4919472"/>
            <a:ext cx="9966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Mix, elegibilidade e MPlay podem explicar parte da diferença.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Atributos categóricos e monetários são examinados conjuntamente no benchmark condicional.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canal não deve ser julgado sem maturidade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975104"/>
            <a:ext cx="10424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entre registros classificados RETIDO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30428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60520" y="2377440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377440"/>
            <a:ext cx="3355898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22768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35,4%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22951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198.095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300837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60520" y="3081528"/>
            <a:ext cx="5212080" cy="164592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3081528"/>
            <a:ext cx="3032579" cy="16459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0" y="298094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32,0%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0" y="29992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51.214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4407408"/>
            <a:ext cx="10369296" cy="105156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407408"/>
            <a:ext cx="50292" cy="105156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572000"/>
            <a:ext cx="10003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Assimetria de desfechos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097280" y="5129784"/>
            <a:ext cx="10003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LEGADO: 6.162 leads em aberto; SOLAR: 90. Não atribuir a diferença diretamente ao mecanismo de ofertas.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Comparação de canais deve controlar elegibilidade, mix e idade dos leads.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parte da movimentação inclui cancelamento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78992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com movimento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25696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13.161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590288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+ algum cancelamento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36992" y="2084832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01584" y="226771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15,2%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101584" y="2962656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movimentados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986784"/>
            <a:ext cx="10259568" cy="114300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986784"/>
            <a:ext cx="50292" cy="11430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151376"/>
            <a:ext cx="9893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Consequência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97280" y="4709160"/>
            <a:ext cx="989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 necessário distinguir troca de plano, saída de família, downgrade e retenção do relacionamento.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FLAG_CANC de produto não demonstra perda total de cliente.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indicador de aceite não existe na fonte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13816" y="1993392"/>
            <a:ext cx="5212080" cy="297180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" y="1993392"/>
            <a:ext cx="50292" cy="29718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157984"/>
            <a:ext cx="4846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Movimento observado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96696" y="2715768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registros retidos têm alguma FLAG_MOV. Isso pode decorrer de ofertas, solicitações espontâneas ou operações.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993392"/>
            <a:ext cx="5230368" cy="297180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993392"/>
            <a:ext cx="50292" cy="297180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157984"/>
            <a:ext cx="48646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Proxy contratual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55080" y="2715768"/>
            <a:ext cx="4864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86.540 registros têm movimentação e troca não cancelada de produto. Na amostra, a proxy coincide com a flag: não adiciona informação de aceite.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hipótese de aceite é admissível; apresentá-la como resultado medido não é.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a análise de aceite precisaria medir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856232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20025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EXPOSIÇÃO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10128" y="1984248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ID/data/canal da oferta apresentada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2615184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7614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DECISÃO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2743200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Aceite, recusa, pendência e contraproposta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374136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3272" y="35204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0128" y="3502152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Preço, desconto, produto e regra de elegibilidade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42793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10128" y="4261104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Cliente/lead não exposto comparável ou randomizado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4892040"/>
            <a:ext cx="10552176" cy="63093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5038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10128" y="5020056"/>
            <a:ext cx="7690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Retenção posterior, faturamento e margem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taxa verdadeira de aceite não é identificável somente com FLAG_MOV e snapshots M0/M30.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Famílias de produto apresentam transições distintas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6696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6696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74.255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96696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6696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22.478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602736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822192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22192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24.595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822192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2192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19.381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428232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47688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47688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10.007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647688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47688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17.059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253728" y="2084832"/>
            <a:ext cx="2587752" cy="3310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184" y="2432304"/>
            <a:ext cx="2130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473184" y="3136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Troca de código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73184" y="34655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4.387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473184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Remoção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473184" y="444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B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Transições listadas seguem limiar de divulgação; ausência em quadro não significa contagem zero.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Retidos também podem perder valor observado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112264"/>
            <a:ext cx="325526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29514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-25,46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87552" y="2990088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Mediana M30−M0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2112264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95144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78,7%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599432" y="2990088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 Δ valor negativo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12264"/>
            <a:ext cx="324612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295144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-20,1%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211312" y="2990088"/>
            <a:ext cx="2916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Variação da soma M0→M30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3950208"/>
            <a:ext cx="10479024" cy="1225296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950208"/>
            <a:ext cx="50292" cy="1225296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114800"/>
            <a:ext cx="1011326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econômica cuidadosa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05840" y="4672584"/>
            <a:ext cx="101132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DOCX descreve VALOR como montante pago, mas sem conciliação de descontos, pacotes e competência não se estima receita incremental.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Atribuir reduções à oferta ou ao canal exigiria desenho causal e dados financeiros adicionais.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modelos, um mesmo teste cronológico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965960"/>
            <a:ext cx="3108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1965960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66560" y="1965960"/>
            <a:ext cx="12801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05088" y="1965960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487168"/>
            <a:ext cx="10561320" cy="512064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26151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2606040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9984" y="2606040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0,2216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714232" y="2606040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0,330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3182112"/>
            <a:ext cx="10561320" cy="5120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3310128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330098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0,627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9984" y="3300984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0,2104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714232" y="3300984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0,458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3877056"/>
            <a:ext cx="10561320" cy="512064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400507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tree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00600" y="399592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0,629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9984" y="3995928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0,2097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14232" y="3995928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0,444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960" y="4572000"/>
            <a:ext cx="10561320" cy="512064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3272" y="4700016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 boosting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800600" y="469087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0,650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729984" y="4690872"/>
            <a:ext cx="1508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0,2065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714232" y="4690872"/>
            <a:ext cx="1316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0,487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Alvo: movimento entre RETIDOS; treino jun–set, validação out, teste nov–dez, IDs sem cruzar partições.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melhor modelo ganha discriminação moderada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0,650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87552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AUC-ROC no holdout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9704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0,2065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654296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no holdout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209544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33172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1,81×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321040" y="3026664"/>
            <a:ext cx="2880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Lift no top 10%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050792"/>
            <a:ext cx="10396728" cy="105156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050792"/>
            <a:ext cx="50292" cy="105156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215384"/>
            <a:ext cx="100309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Interpretação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51560" y="4773168"/>
            <a:ext cx="10030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 boosting foi escolhido por desempenho na validação, não por ajustar ao teste. Os números são estatísticos, não uplift.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prevalência do evento no holdout é 33,0%; não há avaliação após dezembro de 2025.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calibração requer inspeção por faixa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901952"/>
            <a:ext cx="6565392" cy="3685032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6152" y="5184648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204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6152" y="4375404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2793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6152" y="3566160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3382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2756916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9712" y="1947672"/>
            <a:ext cx="9144" cy="323697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6152" y="1947672"/>
            <a:ext cx="5623560" cy="9144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16152" y="5184648"/>
            <a:ext cx="5623560" cy="-3236976"/>
          </a:xfrm>
          <a:prstGeom prst="line">
            <a:avLst/>
          </a:prstGeom>
          <a:noFill/>
          <a:ln w="12700">
            <a:solidFill>
              <a:srgbClr val="5365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02126" y="4669944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99229" y="4349627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56990" y="4724808"/>
            <a:ext cx="497102" cy="-320318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1509" y="4099970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4093" y="4404491"/>
            <a:ext cx="502280" cy="-249656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69704" y="3677766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56373" y="4154834"/>
            <a:ext cx="568195" cy="-422204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88163" y="3274433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568" y="3732630"/>
            <a:ext cx="518460" cy="-403333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90338" y="2704605"/>
            <a:ext cx="109728" cy="109728"/>
          </a:xfrm>
          <a:prstGeom prst="ellipse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43027" y="3329297"/>
            <a:ext cx="602175" cy="-569828"/>
          </a:xfrm>
          <a:prstGeom prst="line">
            <a:avLst/>
          </a:prstGeom>
          <a:noFill/>
          <a:ln w="25400">
            <a:solidFill>
              <a:srgbClr val="166B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62656" y="52943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Probabilidade prevista 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" y="1746504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Incidência observada ↑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17536" y="1965960"/>
            <a:ext cx="3575304" cy="358444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17536" y="1965960"/>
            <a:ext cx="50292" cy="358444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0416" y="2130552"/>
            <a:ext cx="3209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probabilística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7900416" y="2688336"/>
            <a:ext cx="320954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linha diagonal representa previsão ideal. Pontos agrupam frequências observadas por faixas e podem esconder deriva por mês e canal.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ECE parcial em faixas publicadas; calibração futura ainda não demonstrada.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estabilidade exige olhar os meses separadamente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203704"/>
            <a:ext cx="5221224" cy="28072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2025-11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88720" y="309067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0,647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88720" y="3739896"/>
            <a:ext cx="4535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0,2094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88720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34.912 • prevalência 33,8%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47104" y="2203704"/>
            <a:ext cx="5221224" cy="28072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21424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2025-12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21424" y="309067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AUC 0,652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821424" y="3739896"/>
            <a:ext cx="4535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Brier 0,2036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821424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34.535 • prevalência 32,1%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teste temporal não equivale a generalização anual nem validação prospectiva.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Repetição de cliente: interpretação sensível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176272"/>
            <a:ext cx="475488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359152"/>
            <a:ext cx="4425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34,7%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78992" y="3054096"/>
            <a:ext cx="44256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os registros RETIDO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2176272"/>
            <a:ext cx="4754880" cy="143560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2359152"/>
            <a:ext cx="4425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34,8%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56832" y="3054096"/>
            <a:ext cx="44256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Primeiro RETIDO de cada ID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105656"/>
            <a:ext cx="10369296" cy="1024128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05656"/>
            <a:ext cx="50292" cy="1024128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70248"/>
            <a:ext cx="10003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Definição importante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97280" y="4828032"/>
            <a:ext cx="10003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comparação considera o primeiro registro retido por cliente, não o primeiro atendimento da carteira.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identificador oficial do lead, não reconstruímos coortes únicas de atendimentos.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Decisões prioritárias — hipóteses testáveis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" y="1874520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9842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 inicial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9568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Testar ofertas por famílias elegíveis em M0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24928" y="1993392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Movimentação e retenção em análises separadas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" y="2798064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2907792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observado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17520" y="2880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Auditar downgrade, desconto e cancelamento parcial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24928" y="2916936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valor por produto, receita faturada, margem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" y="3721608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3831336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Maturidade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017520" y="380390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Corrigir elegibilidade e desfechos pendentes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24928" y="3840480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 e status após horizonte fixo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" y="4645152"/>
            <a:ext cx="10533888" cy="722376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" y="47548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de oferta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017520" y="47274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Instrumentar apresentação, resposta e incentivo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24928" y="4764024"/>
            <a:ext cx="3703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Taxa real de aceite e ganho incremental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Instrumentar experimentos randomizados antes de atribuir impacto à política de retenção.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6B6B"/>
          </a:solidFill>
          <a:ln w="12700">
            <a:solidFill>
              <a:srgbClr val="16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0040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ESTUDO OBSERVACIONAL | JUN–DEZ 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5895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o case permite defender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13716"/>
          </a:xfrm>
          <a:prstGeom prst="rect">
            <a:avLst/>
          </a:prstGeom>
          <a:solidFill>
            <a:srgbClr val="D6E0DC"/>
          </a:solidFill>
          <a:ln w="12700">
            <a:solidFill>
              <a:srgbClr val="D6E0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1052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DO FUNIL • DEFINIÇÕES PROVISÓRIAS • NÃO CAUSAL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55680" y="6510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3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5129784" cy="3063240"/>
          </a:xfrm>
          <a:prstGeom prst="rect">
            <a:avLst/>
          </a:prstGeom>
          <a:solidFill>
            <a:srgbClr val="FFFFF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011680"/>
            <a:ext cx="50292" cy="306324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76272"/>
            <a:ext cx="47640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Demonstrado na amostra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05840" y="2734056"/>
            <a:ext cx="47640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Perfis condicionados a RETIDO; mix e MPlay; heterogeneidade de canal; trocas e cancelamentos; valores M0/M30; quatro modelos testados.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99632" y="2011680"/>
            <a:ext cx="5120640" cy="3063240"/>
          </a:xfrm>
          <a:prstGeom prst="rect">
            <a:avLst/>
          </a:prstGeom>
          <a:solidFill>
            <a:srgbClr val="E9F3EF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9632" y="2011680"/>
            <a:ext cx="50292" cy="3063240"/>
          </a:xfrm>
          <a:prstGeom prst="rect">
            <a:avLst/>
          </a:prstGeom>
          <a:solidFill>
            <a:srgbClr val="166B6B"/>
          </a:solidFill>
          <a:ln w="8255">
            <a:solidFill>
              <a:srgbClr val="D6E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2176272"/>
            <a:ext cx="4754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Exige novos dados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382512" y="2734056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Aceite de oferta efetivo, persistência do cliente, competência financeira, chave de lead e retorno incremental da intervenção.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" y="5879592"/>
            <a:ext cx="10744200" cy="420624"/>
          </a:xfrm>
          <a:prstGeom prst="rect">
            <a:avLst/>
          </a:prstGeom>
          <a:solidFill>
            <a:srgbClr val="E9F3EF"/>
          </a:solidFill>
          <a:ln w="12700">
            <a:solidFill>
              <a:srgbClr val="E9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980176"/>
            <a:ext cx="10424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26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Conclusão: evidência suficiente para orientar hipóteses; insuficiente para afirmar ganho causal ou receita incremental.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Retenção e movimentação: perfis e hipóteses comerciais</dc:title>
  <dc:subject>Estudo de perfis de retenção com movimentação - junho a dezembro 2025</dc:subject>
  <dc:creator>Customer Retention Analytics</dc:creator>
  <cp:lastModifiedBy>Customer Retention Analytics</cp:lastModifiedBy>
  <cp:revision>1</cp:revision>
  <dcterms:created xsi:type="dcterms:W3CDTF">2026-10-14T20:40:19Z</dcterms:created>
  <dcterms:modified xsi:type="dcterms:W3CDTF">2026-10-14T20:40:19Z</dcterms:modified>
</cp:coreProperties>
</file>