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Retenção de clientes: perfis, transições contratuais e valor observado
O objetivo deste estudo é identificar características associadas à movimentação de produtos entre os atendimentos classificados como retidos e investigar o que acontece com a carteira e os valores registrados entre o início e o encerramento do processo. A análise cobre junho a dezembro de 2025 e considera quatro famílias de produtos.
Transição: A primeira distinção essencial é separar o status operacional dos resultados contratuais.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atendimento retido pode produzir resultados comerciais diferentes
A amostra mostra que a retenção operacional não encerra a avaliação do resultado comercial. Entre os registros retidos, cerca de um terço apresenta movimentação e aproximadamente um quinto tem cancelamento de algum produto. Essas ocorrências podem coexistir. Precisamos observar conjuntamente o desfecho do atendimento, a configuração final dos produtos e a diferença de valor registrada.
Transição: Comecemos pela definição dos indicadores e pela população analisada.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estudo examina três resultados complementares
O primeiro indicador é o status RETIDO no funil; o segundo combina as flags de movimentação e cancelamento, conferidas com os códigos de produto inicial e final; o terceiro mede M30 menos M0 dos campos de valor. A pergunta central de perfil é feita entre os registros retidos, comparando aqueles que tiveram movimentação e aqueles que não tiveram. M30 é um estado final do processo, e não um horizonte de trinta dias confirmado.
Transição: O universo da amostra mostra por que o denominador precisa ser explícito.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perfis são estudados entre 249.309 registros retidos
A planilha continha 303.654 linhas, das quais duas estavam fora do intervalo analisado. Na janela, 249.309 registros apresentam status RETIDO, 48.091 NÃO RETIDO e 6.252 EM ABERTO. O estudo de perfis condiciona a análise à população RETIDO. Como há IDs de cliente repetidos e não foi fornecida uma chave oficial do episódio de atendimento, os números são expressos por registro do funil.
Transição: Dentro dos retidos, a distinção entre movimentação e cancelamento revela a principal descoberta.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45.479 retidos tiveram cancelamento de pelo menos um produto
Esta é a segmentação comercial decisiva. Mais de trinta e dois mil registros foram retidos sem movimentação, mas com cancelamento de algum produto. Outros treze mil registraram movimentação junto com cancelamento. A soma mostra 45.479 retidos com retirada de pelo menos um produto. Assim, o rótulo RETIDO não garante preservação integral do portfólio. Essas quatro situações orientarão a leitura econômica seguinte.
Transição: A distribuição dos valores observados confirma que as situações comerciais não são equivalentes.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Cancelamentos de produto acompanham as maiores quedas de valor
O grupo sem movimentação ou cancelamento apresenta mediana zero. Quando existe apenas cancelamento, a mediana da diferença M30 menos M0 chega a menos 104,90. Quando há movimentação sem cancelamento, é menos 22,48; quando os dois eventos coexistem, menos 88,96. São valores registrados na base, não perdas de receita causadas pelo atendimento. O padrão torna o cancelamento parcial um ponto prioritário de auditoria comercial.
Transição: Vamos localizar essas transições nas famílias de produto.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Banda Larga concentra trocas; em Fone, remoções superam substituições
Nas transições dos registros retidos, Banda Larga, isto é, internet fixa, concentra o maior volume de substituições de código. TV também apresenta substituições e remoções expressivas. Em Fone, as remoções superam as substituições. A remoção de uma família foi registrada em FLAG_CANC, não em FLAG_MOV; por isso, olhar só movimentações ocultaria parte da contração da carteira. Uma troca de código não é necessariamente upgrade ou downgrade sem interpretação dos planos.
Transição: Além das famílias, vale observar quais alterações aparecem sozinhas e quais ocorrem combinadas.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60% dos retidos movimentados, só a internet fixa mudou
Entre os 86.540 registros retidos que tiveram alguma movimentação, 51.962 apresentaram flag exclusivamente de internet fixa, ou cerca de sessenta por cento. Outros 13.404 combinaram Banda Larga e TV. Portanto, internet fixa é central para o volume operacional observado. Isso não autoriza concluir que suas ofertas sejam causalmente melhores; reflete também a grande presença de BL na base.
Transição: Precisamos, então, trocar o denominador antes de comparar comportamentos.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Carteiras maiores registram mais casos com alguma alteração
Com quatro famílias presentes, quase setenta por cento dos registros retidos tiveram pelo menos uma movimentação; com uma família, foram 27,6 por cento. Entretanto, a taxa de flags sobre o número de famílias disponíveis em M0 não segue a mesma progressão. Isso mostra que uma carteira maior cria mais oportunidades observáveis de alteração e que a taxa por registro não é comparável isoladamente entre portes de carteira.
Transição: O mesmo raciocínio altera o ranking das famílias.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Móvel tem maior incidência entre elegíveis, mas menor base inicial
A taxa condicionada à presença do produto muda a leitura. Entre retidos que possuíam Móvel em M0, quarenta por cento registraram movimento de Móvel, mas a base elegível é de somente 10.964 registros. Em internet fixa, a taxa é de 31 por cento em uma base muito maior, de 239.562. O desbalanceamento de exposição não se resolve comparando somente números absolutos, e as famílias não formam classes exclusivas.
Transição: Agora podemos comparar as composições iniciais mais relevantes.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mix inicial diferencia as taxas de movimentação entre retidos
As combinações iniciais exibem frequências distintas de movimentação. Por exemplo, somente BL aparece com cerca de 28,9 por cento, BL com TV em 36,3, e BL com Móvel em 55,5, mas com uma base muito menor. Esses dados servem para formular hipóteses e estruturar experimentos por elegibilidade. Não mostram que acrescentar um produto aumenta causalmente a probabilidade de movimentação.
Transição: Outros atributos comerciais também apresentam heterogeneidade, com importantes condições de cobertura.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MPlay distingue perfis, mas 93% dos retidos não têm classificação
A variável de consolidação de faturas é interessante do ponto de vista comercial: os grupos MARCADO e NÃO MARCADO têm taxas de movimentação bastante distintas. Entretanto, 232.017 dos registros retidos não trazem classificação informada, cerca de 93,1 por cento. Isso pode refletir ausência estrutural de elegibilidade; não podemos imputar comportamento nem atribuir efeito causal à unificação.
Transição: Na comparação dos canais, também é necessário separar comportamento e composição.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diferença entre canais cai após padronizar mês e carteira
Entre os retidos, a diferença bruta de movimentação a favor de SOLAR foi de 3,41 pontos percentuais. Após padronizar pela distribuição mensal e pela quantidade de famílias iniciais, ela caiu para 2,93 pontos. O intervalo de incerteza foi calculado com reamostragem agrupada por cliente. Esse exercício qualifica a comparação, mas não estima o efeito de usar SOLAR porque a origem não foi aleatorizada e os grupos podem diferir em outros fatores.
Transição: Também há assimetria importante nos atendimentos ainda abertos.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Atendimentos em aberto tornam a comparação de canais sensível
A proporção de atendimentos em aberto é muito diferente: SOLAR tem noventa casos e LEGADO mais de seis mil. Em dezembro, a participação de retidos em LEGADO poderia variar de 72,8 a 84,9 por cento se todos os casos ainda abertos terminassem, respectivamente, como não retidos ou retidos. Essa faixa ilustra uma ameaça concreta à comparabilidade de desempenho dos canais. Não é uma curva de sobrevivência, porque faltam datas individuais de resolução e seguimento.
Transição: Para além da descrição, testamos o quanto as características iniciais diferenciam movimentação.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modelagem distingue movimentações com discriminação moderada
Comparamos quatro referências para o alvo movimento entre registros retidos. O teste foi cronológico, reservado para novembro e dezembro, e sem IDs de cliente compartilhados com treino e validação. Gradient boosting apresentou AUC de 0,650, average precision de 0,487 e Brier de 0,2065. Há informação nas características iniciais, mas a discriminação é moderada. Como a amostra é condicionada ao desfecho RETIDO, esse classificador descreve retrospectivamente os perfis e não é um recomendador automaticamente aplicável a todos os leads na entrada.
Transição: O resultado agregado precisa ser confrontado com a representação de cada família.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desempenho preditivo varia entre as famílias elegíveis
No modelo por família, a telefonia fixa e Móvel apresentam AUC pouco acima de 0,55, enquanto TV e internet fixa ficam próximas de 0,61 a 0,62. A amostra de Móvel no teste contém somente 3.560 elegíveis. Essa heterogeneidade impede extrapolar o desempenho global para qualquer produto. O Brier também varia, mas a comparação direta entre famílias é limitada porque a prevalência do evento é diferente. A análise separada preserva a base elegível de cada produto.
Transição: Outra pergunta era se corrigir artificialmente o desbalanceamento melhoraria as previsões.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Pesar classes piorou o erro probabilístico nos quatro produtos
Testamos ponderação balanceada no treino e avaliamos os mesmos registros de novembro e dezembro. O Brier, que mede erro de probabilidade, piorou para internet fixa, TV, Fone e Móvel. Em Fone, por exemplo, a discriminação teve pequena melhora, mas o erro probabilístico praticamente dobrou. Não há justificativa para impor ponderação uniforme como regra comercial. O balanceamento é uma escolha dependente do custo de erro, da métrica e da calibração.
Transição: Há ainda um resultado que a base não observa: o aceite efetivo da oferta.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Movimentação contratual não comprova aceite de oferta
O enunciado relaciona movimentação ao aceite de ofertas, mas a fonte não registra a proposta apresentada nem a decisão do cliente. Examinamos a flag de movimentação e uma proxy contratual de troca não cancelada; ambas coincidiram integralmente nesta amostra. Essa coincidência esclarece a codificação operacional, mas não acrescenta observação independente sobre aceite. Para medir eficácia da oferta será necessário instrumentar exposição, proposta, decisão, custo e resultado posterior.
Transição: A tradução das descobertas em decisões utiliza exatamente essas fronteiras do que foi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decisões tornam a retenção mensurável além do status
Os resultados sustentam quatro frentes: segmentar testes comerciais pelo mix e pela elegibilidade real; acompanhar cancelamentos parciais e variações de valores por família; comparar canais somente com coortes e desfechos comparáveis; e registrar as intervenções para medir aceite e efeitos incrementais. Cada frente depende de um indicador verificável e de validação com a área de negócios. A leitura conjunta dos eventos permite uma gestão mais precisa do que a contagem isolada de atendimentos retidos.
Transição: Encerramos retomando a principal contribuição do estudo.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Retenção, carteira e valor precisam ser avaliados juntos
A principal contribuição é demonstrar que o atendimento pode ser classificado como retido e, ainda assim, apresentar cancelamento de produto, troca contratual ou redução de valor. O resultado operacional e o resultado econômico não se substituem. Ao caracterizar os perfis de movimentação e separar as transições da carteira, o estudo estabelece uma base para testar ofertas mais adequadas e monitorar a preservação de valor. Essa é a conclusão sustentada pela amostra observada.
Transição: A apresentação principal termina aqui. O material seguinte é apoio técnico para perguntas da banca.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técnico — material de consulta
Esta seção pode ser aberta conforme as perguntas do público. Reúne definições e resultados metodológicos relevantes para interpretar as análises, sem competir com a sequência central de apresentação.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alvo do modelo é movimentação entre registros classificados RETIDO
A probabilidade condicional de movimentação entre retidos é a resposta estatística direta à caracterização solicitada. Ela difere da ocorrência conjunta de retenção e movimentação, que envolve também a etapa de conseguir reter o cliente. Como o status RETIDO é um resultado do atendimento, o modelo condicionado ao desfecho não pode ser aplicado diretamente a todos os novos leads em M0. Essa distinção estabelece limites diferentes para caracterização retrospectiva e decisão em M0.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teste temporal mede generalização dentro da janela observada
O modelo foi ajustado com dados de junho a setembro, selecionado usando outubro e avaliado em novembro e dezembro. Para reduzir vazamento, foram excluídos das partições anteriores os registros de clientes que apareciam nos períodos seguintes. As métricas do teste não demonstram estabilidade anual nem benefício de uma intervenção. Em paralelo, a calibração foi inspecionada por faixas de probabilidade, além do Brier.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ponderação preservou a prevalência natural no teste
Para cada família, comparou-se regressão logística treinada na distribuição natural e com ponderação por classe. O conjunto de teste permaneceu com a prevalência real. A ponderação piorou o Brier nas quatro famílias, embora mudanças em outras métricas não sejam necessariamente do mesmo sinal. O resultado não condena todos os métodos de balanceamento; mostra que a aplicação indiscriminada não foi vantajosa para probabilidades neste experimento.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Efeito causal e lucro exigem observações além da movimentação
A planilha permite observar estados e transições de produto, não a oferta apresentada e aceita, custos comerciais ou o tempo até um possível cancelamento posterior. Por isso, não identifica uplift, lucro incremental nem curvas de sobrevivência do relacionamento. O estudo pode estabelecer limiares econômicos como cenários, desde que explicitamente hipotéticos. Para a decisão real, é necessário medir tratamento, controle, resultado e contribuição financeira.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3A37"/>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BD8F4C"/>
          </a:solidFill>
          <a:ln w="12700">
            <a:solidFill>
              <a:srgbClr val="BD8F4C">
                <a:alpha val="0"/>
              </a:srgbClr>
            </a:solidFill>
            <a:prstDash val="solid"/>
          </a:ln>
        </p:spPr>
      </p:sp>
      <p:sp>
        <p:nvSpPr>
          <p:cNvPr id="3" name="Shape 1"/>
          <p:cNvSpPr/>
          <p:nvPr/>
        </p:nvSpPr>
        <p:spPr>
          <a:xfrm>
            <a:off x="7982712" y="0"/>
            <a:ext cx="4206240" cy="6858000"/>
          </a:xfrm>
          <a:prstGeom prst="roundRect">
            <a:avLst>
              <a:gd name="adj" fmla="val 2609"/>
            </a:avLst>
          </a:prstGeom>
          <a:solidFill>
            <a:srgbClr val="184E47"/>
          </a:solidFill>
          <a:ln w="12700">
            <a:solidFill>
              <a:srgbClr val="184E47">
                <a:alpha val="0"/>
              </a:srgbClr>
            </a:solidFill>
            <a:prstDash val="solid"/>
          </a:ln>
        </p:spPr>
      </p:sp>
      <p:sp>
        <p:nvSpPr>
          <p:cNvPr id="4" name="Shape 2"/>
          <p:cNvSpPr/>
          <p:nvPr/>
        </p:nvSpPr>
        <p:spPr>
          <a:xfrm>
            <a:off x="8229600" y="475488"/>
            <a:ext cx="2194560" cy="1920240"/>
          </a:xfrm>
          <a:prstGeom prst="arc">
            <a:avLst/>
          </a:prstGeom>
          <a:solidFill>
            <a:srgbClr val="184E47">
              <a:alpha val="0"/>
            </a:srgbClr>
          </a:solidFill>
          <a:ln w="13970">
            <a:solidFill>
              <a:srgbClr val="477F73">
                <a:alpha val="55000"/>
              </a:srgbClr>
            </a:solidFill>
            <a:prstDash val="solid"/>
          </a:ln>
        </p:spPr>
      </p:sp>
      <p:sp>
        <p:nvSpPr>
          <p:cNvPr id="5" name="Shape 3"/>
          <p:cNvSpPr/>
          <p:nvPr/>
        </p:nvSpPr>
        <p:spPr>
          <a:xfrm rot="480000">
            <a:off x="8686800" y="914400"/>
            <a:ext cx="2194560" cy="1920240"/>
          </a:xfrm>
          <a:prstGeom prst="arc">
            <a:avLst/>
          </a:prstGeom>
          <a:solidFill>
            <a:srgbClr val="184E47">
              <a:alpha val="0"/>
            </a:srgbClr>
          </a:solidFill>
          <a:ln w="13970">
            <a:solidFill>
              <a:srgbClr val="477F73">
                <a:alpha val="55000"/>
              </a:srgbClr>
            </a:solidFill>
            <a:prstDash val="solid"/>
          </a:ln>
        </p:spPr>
      </p:sp>
      <p:sp>
        <p:nvSpPr>
          <p:cNvPr id="6" name="Shape 4"/>
          <p:cNvSpPr/>
          <p:nvPr/>
        </p:nvSpPr>
        <p:spPr>
          <a:xfrm rot="960000">
            <a:off x="9144000" y="1353312"/>
            <a:ext cx="2194560" cy="1920240"/>
          </a:xfrm>
          <a:prstGeom prst="arc">
            <a:avLst/>
          </a:prstGeom>
          <a:solidFill>
            <a:srgbClr val="184E47">
              <a:alpha val="0"/>
            </a:srgbClr>
          </a:solidFill>
          <a:ln w="13970">
            <a:solidFill>
              <a:srgbClr val="477F73">
                <a:alpha val="55000"/>
              </a:srgbClr>
            </a:solidFill>
            <a:prstDash val="solid"/>
          </a:ln>
        </p:spPr>
      </p:sp>
      <p:sp>
        <p:nvSpPr>
          <p:cNvPr id="7" name="Shape 5"/>
          <p:cNvSpPr/>
          <p:nvPr/>
        </p:nvSpPr>
        <p:spPr>
          <a:xfrm rot="1440000">
            <a:off x="9601200" y="1792224"/>
            <a:ext cx="2194560" cy="1920240"/>
          </a:xfrm>
          <a:prstGeom prst="arc">
            <a:avLst/>
          </a:prstGeom>
          <a:solidFill>
            <a:srgbClr val="184E47">
              <a:alpha val="0"/>
            </a:srgbClr>
          </a:solidFill>
          <a:ln w="13970">
            <a:solidFill>
              <a:srgbClr val="477F73">
                <a:alpha val="55000"/>
              </a:srgbClr>
            </a:solidFill>
            <a:prstDash val="solid"/>
          </a:ln>
        </p:spPr>
      </p:sp>
      <p:sp>
        <p:nvSpPr>
          <p:cNvPr id="8" name="Shape 6"/>
          <p:cNvSpPr/>
          <p:nvPr/>
        </p:nvSpPr>
        <p:spPr>
          <a:xfrm rot="1920000">
            <a:off x="10058400" y="2231136"/>
            <a:ext cx="2194560" cy="1920240"/>
          </a:xfrm>
          <a:prstGeom prst="arc">
            <a:avLst/>
          </a:prstGeom>
          <a:solidFill>
            <a:srgbClr val="184E47">
              <a:alpha val="0"/>
            </a:srgbClr>
          </a:solidFill>
          <a:ln w="13970">
            <a:solidFill>
              <a:srgbClr val="477F73">
                <a:alpha val="55000"/>
              </a:srgbClr>
            </a:solidFill>
            <a:prstDash val="solid"/>
          </a:ln>
        </p:spPr>
      </p:sp>
      <p:sp>
        <p:nvSpPr>
          <p:cNvPr id="9" name="Shape 7"/>
          <p:cNvSpPr/>
          <p:nvPr/>
        </p:nvSpPr>
        <p:spPr>
          <a:xfrm rot="2400000">
            <a:off x="10515600" y="2670048"/>
            <a:ext cx="2194560" cy="1920240"/>
          </a:xfrm>
          <a:prstGeom prst="arc">
            <a:avLst/>
          </a:prstGeom>
          <a:solidFill>
            <a:srgbClr val="184E47">
              <a:alpha val="0"/>
            </a:srgbClr>
          </a:solidFill>
          <a:ln w="13970">
            <a:solidFill>
              <a:srgbClr val="477F73">
                <a:alpha val="55000"/>
              </a:srgbClr>
            </a:solidFill>
            <a:prstDash val="solid"/>
          </a:ln>
        </p:spPr>
      </p:sp>
      <p:sp>
        <p:nvSpPr>
          <p:cNvPr id="10" name="Shape 8"/>
          <p:cNvSpPr/>
          <p:nvPr/>
        </p:nvSpPr>
        <p:spPr>
          <a:xfrm rot="2880000">
            <a:off x="10972800" y="3108960"/>
            <a:ext cx="2194560" cy="1920240"/>
          </a:xfrm>
          <a:prstGeom prst="arc">
            <a:avLst/>
          </a:prstGeom>
          <a:solidFill>
            <a:srgbClr val="184E47">
              <a:alpha val="0"/>
            </a:srgbClr>
          </a:solidFill>
          <a:ln w="13970">
            <a:solidFill>
              <a:srgbClr val="477F73">
                <a:alpha val="55000"/>
              </a:srgbClr>
            </a:solidFill>
            <a:prstDash val="solid"/>
          </a:ln>
        </p:spPr>
      </p:sp>
      <p:sp>
        <p:nvSpPr>
          <p:cNvPr id="11" name="Text 9"/>
          <p:cNvSpPr/>
          <p:nvPr/>
        </p:nvSpPr>
        <p:spPr>
          <a:xfrm>
            <a:off x="786384" y="658368"/>
            <a:ext cx="9144000" cy="210312"/>
          </a:xfrm>
          <a:prstGeom prst="rect">
            <a:avLst/>
          </a:prstGeom>
          <a:noFill/>
          <a:ln/>
        </p:spPr>
        <p:txBody>
          <a:bodyPr wrap="square" lIns="0" tIns="0" rIns="0" bIns="0" rtlCol="0" anchor="ctr"/>
          <a:lstStyle/>
          <a:p>
            <a:pPr indent="0" marL="0">
              <a:buNone/>
            </a:pPr>
            <a:r>
              <a:rPr lang="en-US" sz="1050" b="1" spc="110" kern="0" dirty="0">
                <a:solidFill>
                  <a:srgbClr val="B8D6CA"/>
                </a:solidFill>
                <a:latin typeface="Aptos" pitchFamily="34" charset="0"/>
                <a:ea typeface="Aptos" pitchFamily="34" charset="-122"/>
                <a:cs typeface="Aptos" pitchFamily="34" charset="-120"/>
              </a:rPr>
              <a:t>ESTUDO DE CIÊNCIA DE DADOS · TELECOMUNICAÇÕES</a:t>
            </a:r>
            <a:endParaRPr lang="en-US" sz="1050" dirty="0"/>
          </a:p>
        </p:txBody>
      </p:sp>
      <p:sp>
        <p:nvSpPr>
          <p:cNvPr id="12" name="Text 10"/>
          <p:cNvSpPr/>
          <p:nvPr/>
        </p:nvSpPr>
        <p:spPr>
          <a:xfrm>
            <a:off x="786384" y="1481328"/>
            <a:ext cx="9921240" cy="914400"/>
          </a:xfrm>
          <a:prstGeom prst="rect">
            <a:avLst/>
          </a:prstGeom>
          <a:noFill/>
          <a:ln/>
        </p:spPr>
        <p:txBody>
          <a:bodyPr wrap="square" lIns="0" tIns="0" rIns="0" bIns="0" rtlCol="0" anchor="ctr"/>
          <a:lstStyle/>
          <a:p>
            <a:pPr indent="0" marL="0">
              <a:buNone/>
            </a:pPr>
            <a:r>
              <a:rPr lang="en-US" sz="4400" b="1" dirty="0">
                <a:solidFill>
                  <a:srgbClr val="FFFFFF"/>
                </a:solidFill>
                <a:latin typeface="Aptos" pitchFamily="34" charset="0"/>
                <a:ea typeface="Aptos" pitchFamily="34" charset="-122"/>
                <a:cs typeface="Aptos" pitchFamily="34" charset="-120"/>
              </a:rPr>
              <a:t>Retenção de clientes</a:t>
            </a:r>
            <a:endParaRPr lang="en-US" sz="4400" dirty="0"/>
          </a:p>
        </p:txBody>
      </p:sp>
      <p:sp>
        <p:nvSpPr>
          <p:cNvPr id="13" name="Text 11"/>
          <p:cNvSpPr/>
          <p:nvPr/>
        </p:nvSpPr>
        <p:spPr>
          <a:xfrm>
            <a:off x="813816" y="2505456"/>
            <a:ext cx="8503920" cy="914400"/>
          </a:xfrm>
          <a:prstGeom prst="rect">
            <a:avLst/>
          </a:prstGeom>
          <a:noFill/>
          <a:ln/>
        </p:spPr>
        <p:txBody>
          <a:bodyPr wrap="square" lIns="0" tIns="0" rIns="0" bIns="0" rtlCol="0" anchor="ctr"/>
          <a:lstStyle/>
          <a:p>
            <a:pPr indent="0" marL="0">
              <a:buNone/>
            </a:pPr>
            <a:r>
              <a:rPr lang="en-US" sz="2500" dirty="0">
                <a:solidFill>
                  <a:srgbClr val="E2EAE5"/>
                </a:solidFill>
                <a:latin typeface="Aptos" pitchFamily="34" charset="0"/>
                <a:ea typeface="Aptos" pitchFamily="34" charset="-122"/>
                <a:cs typeface="Aptos" pitchFamily="34" charset="-120"/>
              </a:rPr>
              <a:t>Perfis, transições contratuais e valor observado</a:t>
            </a:r>
            <a:endParaRPr lang="en-US" sz="2500" dirty="0"/>
          </a:p>
        </p:txBody>
      </p:sp>
      <p:sp>
        <p:nvSpPr>
          <p:cNvPr id="14" name="Shape 12"/>
          <p:cNvSpPr/>
          <p:nvPr/>
        </p:nvSpPr>
        <p:spPr>
          <a:xfrm>
            <a:off x="822960" y="3822192"/>
            <a:ext cx="8641080" cy="0"/>
          </a:xfrm>
          <a:prstGeom prst="line">
            <a:avLst/>
          </a:prstGeom>
          <a:noFill/>
          <a:ln w="12700">
            <a:solidFill>
              <a:srgbClr val="8CB3A1"/>
            </a:solidFill>
            <a:prstDash val="solid"/>
          </a:ln>
        </p:spPr>
      </p:sp>
      <p:sp>
        <p:nvSpPr>
          <p:cNvPr id="15" name="Text 13"/>
          <p:cNvSpPr/>
          <p:nvPr/>
        </p:nvSpPr>
        <p:spPr>
          <a:xfrm>
            <a:off x="813816" y="4105656"/>
            <a:ext cx="7498080" cy="338328"/>
          </a:xfrm>
          <a:prstGeom prst="rect">
            <a:avLst/>
          </a:prstGeom>
          <a:noFill/>
          <a:ln/>
        </p:spPr>
        <p:txBody>
          <a:bodyPr wrap="square" lIns="0" tIns="0" rIns="0" bIns="0" rtlCol="0" anchor="ctr"/>
          <a:lstStyle/>
          <a:p>
            <a:pPr indent="0" marL="0">
              <a:buNone/>
            </a:pPr>
            <a:r>
              <a:rPr lang="en-US" sz="1800" b="1" dirty="0">
                <a:solidFill>
                  <a:srgbClr val="E2EAE5"/>
                </a:solidFill>
                <a:latin typeface="Aptos" pitchFamily="34" charset="0"/>
                <a:ea typeface="Aptos" pitchFamily="34" charset="-122"/>
                <a:cs typeface="Aptos" pitchFamily="34" charset="-120"/>
              </a:rPr>
              <a:t>Junho a dezembro de 2025</a:t>
            </a:r>
            <a:endParaRPr lang="en-US" sz="1800" dirty="0"/>
          </a:p>
        </p:txBody>
      </p:sp>
      <p:sp>
        <p:nvSpPr>
          <p:cNvPr id="16" name="Text 14"/>
          <p:cNvSpPr/>
          <p:nvPr/>
        </p:nvSpPr>
        <p:spPr>
          <a:xfrm>
            <a:off x="813816" y="4590288"/>
            <a:ext cx="9052560" cy="329184"/>
          </a:xfrm>
          <a:prstGeom prst="rect">
            <a:avLst/>
          </a:prstGeom>
          <a:noFill/>
          <a:ln/>
        </p:spPr>
        <p:txBody>
          <a:bodyPr wrap="square" lIns="0" tIns="0" rIns="0" bIns="0" rtlCol="0" anchor="ctr"/>
          <a:lstStyle/>
          <a:p>
            <a:pPr indent="0" marL="0">
              <a:buNone/>
            </a:pPr>
            <a:r>
              <a:rPr lang="en-US" sz="1450" dirty="0">
                <a:solidFill>
                  <a:srgbClr val="BBD1C8"/>
                </a:solidFill>
                <a:latin typeface="Aptos" pitchFamily="34" charset="0"/>
                <a:ea typeface="Aptos" pitchFamily="34" charset="-122"/>
                <a:cs typeface="Aptos" pitchFamily="34" charset="-120"/>
              </a:rPr>
              <a:t>Banda Larga (internet fixa) · TV · Telefonia fixa · Móvel</a:t>
            </a:r>
            <a:endParaRPr lang="en-US" sz="1450" dirty="0"/>
          </a:p>
        </p:txBody>
      </p:sp>
      <p:sp>
        <p:nvSpPr>
          <p:cNvPr id="17" name="Text 15"/>
          <p:cNvSpPr/>
          <p:nvPr/>
        </p:nvSpPr>
        <p:spPr>
          <a:xfrm>
            <a:off x="813816" y="6089904"/>
            <a:ext cx="7315200" cy="246888"/>
          </a:xfrm>
          <a:prstGeom prst="rect">
            <a:avLst/>
          </a:prstGeom>
          <a:noFill/>
          <a:ln/>
        </p:spPr>
        <p:txBody>
          <a:bodyPr wrap="square" lIns="0" tIns="0" rIns="0" bIns="0" rtlCol="0" anchor="ctr"/>
          <a:lstStyle/>
          <a:p>
            <a:pPr indent="0" marL="0">
              <a:buNone/>
            </a:pPr>
            <a:r>
              <a:rPr lang="en-US" sz="1100" dirty="0">
                <a:solidFill>
                  <a:srgbClr val="C1D4CD"/>
                </a:solidFill>
                <a:latin typeface="Aptos" pitchFamily="34" charset="0"/>
                <a:ea typeface="Aptos" pitchFamily="34" charset="-122"/>
                <a:cs typeface="Aptos" pitchFamily="34" charset="-120"/>
              </a:rPr>
              <a:t>Análise de atendimentos de retenção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SÍNTESE EXECUTIVA</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Um atendimento retido pode produzir resultados comerciais diferentes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02</a:t>
            </a:r>
            <a:endParaRPr lang="en-US" sz="1050" dirty="0"/>
          </a:p>
        </p:txBody>
      </p:sp>
      <p:sp>
        <p:nvSpPr>
          <p:cNvPr id="8" name="Shape 6"/>
          <p:cNvSpPr/>
          <p:nvPr/>
        </p:nvSpPr>
        <p:spPr>
          <a:xfrm>
            <a:off x="621792" y="1892808"/>
            <a:ext cx="3538728" cy="1993392"/>
          </a:xfrm>
          <a:prstGeom prst="roundRect">
            <a:avLst>
              <a:gd name="adj" fmla="val 5505"/>
            </a:avLst>
          </a:prstGeom>
          <a:solidFill>
            <a:srgbClr val="FFFFFF"/>
          </a:solidFill>
          <a:ln w="11430">
            <a:solidFill>
              <a:srgbClr val="D5DFDC"/>
            </a:solidFill>
            <a:prstDash val="solid"/>
          </a:ln>
        </p:spPr>
      </p:sp>
      <p:sp>
        <p:nvSpPr>
          <p:cNvPr id="9" name="Shape 7"/>
          <p:cNvSpPr/>
          <p:nvPr/>
        </p:nvSpPr>
        <p:spPr>
          <a:xfrm>
            <a:off x="621792" y="1892808"/>
            <a:ext cx="45720" cy="1993392"/>
          </a:xfrm>
          <a:prstGeom prst="roundRect">
            <a:avLst>
              <a:gd name="adj" fmla="val 240000"/>
            </a:avLst>
          </a:prstGeom>
          <a:solidFill>
            <a:srgbClr val="1E6159"/>
          </a:solidFill>
          <a:ln w="12700">
            <a:solidFill>
              <a:srgbClr val="1E6159">
                <a:alpha val="0"/>
              </a:srgbClr>
            </a:solidFill>
            <a:prstDash val="solid"/>
          </a:ln>
        </p:spPr>
      </p:sp>
      <p:sp>
        <p:nvSpPr>
          <p:cNvPr id="10" name="Text 8"/>
          <p:cNvSpPr/>
          <p:nvPr/>
        </p:nvSpPr>
        <p:spPr>
          <a:xfrm>
            <a:off x="859536" y="2075688"/>
            <a:ext cx="3154680"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ATENDIMENTOS RETIDOS</a:t>
            </a:r>
            <a:endParaRPr lang="en-US" sz="950" dirty="0"/>
          </a:p>
        </p:txBody>
      </p:sp>
      <p:sp>
        <p:nvSpPr>
          <p:cNvPr id="11" name="Text 9"/>
          <p:cNvSpPr/>
          <p:nvPr/>
        </p:nvSpPr>
        <p:spPr>
          <a:xfrm>
            <a:off x="859536" y="2432304"/>
            <a:ext cx="3172968" cy="548640"/>
          </a:xfrm>
          <a:prstGeom prst="rect">
            <a:avLst/>
          </a:prstGeom>
          <a:noFill/>
          <a:ln/>
        </p:spPr>
        <p:txBody>
          <a:bodyPr wrap="square" lIns="0" tIns="0" rIns="0" bIns="0" rtlCol="0" anchor="ctr"/>
          <a:lstStyle/>
          <a:p>
            <a:pPr indent="0" marL="0">
              <a:buNone/>
            </a:pPr>
            <a:r>
              <a:rPr lang="en-US" sz="3000" b="1" dirty="0">
                <a:solidFill>
                  <a:srgbClr val="1E6159"/>
                </a:solidFill>
                <a:latin typeface="Aptos" pitchFamily="34" charset="0"/>
                <a:ea typeface="Aptos" pitchFamily="34" charset="-122"/>
                <a:cs typeface="Aptos" pitchFamily="34" charset="-120"/>
              </a:rPr>
              <a:t>249.309</a:t>
            </a:r>
            <a:endParaRPr lang="en-US" sz="3000" dirty="0"/>
          </a:p>
        </p:txBody>
      </p:sp>
      <p:sp>
        <p:nvSpPr>
          <p:cNvPr id="12" name="Text 10"/>
          <p:cNvSpPr/>
          <p:nvPr/>
        </p:nvSpPr>
        <p:spPr>
          <a:xfrm>
            <a:off x="859536" y="3017520"/>
            <a:ext cx="3127248"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Base para caracterização dos perfis observados.</a:t>
            </a:r>
            <a:endParaRPr lang="en-US" sz="1250" dirty="0"/>
          </a:p>
        </p:txBody>
      </p:sp>
      <p:sp>
        <p:nvSpPr>
          <p:cNvPr id="13" name="Shape 11"/>
          <p:cNvSpPr/>
          <p:nvPr/>
        </p:nvSpPr>
        <p:spPr>
          <a:xfrm>
            <a:off x="4334256" y="1892808"/>
            <a:ext cx="3538728" cy="1993392"/>
          </a:xfrm>
          <a:prstGeom prst="roundRect">
            <a:avLst>
              <a:gd name="adj" fmla="val 5505"/>
            </a:avLst>
          </a:prstGeom>
          <a:solidFill>
            <a:srgbClr val="FFFFFF"/>
          </a:solidFill>
          <a:ln w="11430">
            <a:solidFill>
              <a:srgbClr val="D5DFDC"/>
            </a:solidFill>
            <a:prstDash val="solid"/>
          </a:ln>
        </p:spPr>
      </p:sp>
      <p:sp>
        <p:nvSpPr>
          <p:cNvPr id="14" name="Shape 12"/>
          <p:cNvSpPr/>
          <p:nvPr/>
        </p:nvSpPr>
        <p:spPr>
          <a:xfrm>
            <a:off x="4334256" y="1892808"/>
            <a:ext cx="45720" cy="1993392"/>
          </a:xfrm>
          <a:prstGeom prst="roundRect">
            <a:avLst>
              <a:gd name="adj" fmla="val 240000"/>
            </a:avLst>
          </a:prstGeom>
          <a:solidFill>
            <a:srgbClr val="577F99"/>
          </a:solidFill>
          <a:ln w="12700">
            <a:solidFill>
              <a:srgbClr val="577F99">
                <a:alpha val="0"/>
              </a:srgbClr>
            </a:solidFill>
            <a:prstDash val="solid"/>
          </a:ln>
        </p:spPr>
      </p:sp>
      <p:sp>
        <p:nvSpPr>
          <p:cNvPr id="15" name="Text 13"/>
          <p:cNvSpPr/>
          <p:nvPr/>
        </p:nvSpPr>
        <p:spPr>
          <a:xfrm>
            <a:off x="4572000" y="2075688"/>
            <a:ext cx="3154680"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COM MOVIMENTAÇÃO</a:t>
            </a:r>
            <a:endParaRPr lang="en-US" sz="950" dirty="0"/>
          </a:p>
        </p:txBody>
      </p:sp>
      <p:sp>
        <p:nvSpPr>
          <p:cNvPr id="16" name="Text 14"/>
          <p:cNvSpPr/>
          <p:nvPr/>
        </p:nvSpPr>
        <p:spPr>
          <a:xfrm>
            <a:off x="4572000" y="2432304"/>
            <a:ext cx="3172968" cy="548640"/>
          </a:xfrm>
          <a:prstGeom prst="rect">
            <a:avLst/>
          </a:prstGeom>
          <a:noFill/>
          <a:ln/>
        </p:spPr>
        <p:txBody>
          <a:bodyPr wrap="square" lIns="0" tIns="0" rIns="0" bIns="0" rtlCol="0" anchor="ctr"/>
          <a:lstStyle/>
          <a:p>
            <a:pPr indent="0" marL="0">
              <a:buNone/>
            </a:pPr>
            <a:r>
              <a:rPr lang="en-US" sz="3000" b="1" dirty="0">
                <a:solidFill>
                  <a:srgbClr val="577F99"/>
                </a:solidFill>
                <a:latin typeface="Aptos" pitchFamily="34" charset="0"/>
                <a:ea typeface="Aptos" pitchFamily="34" charset="-122"/>
                <a:cs typeface="Aptos" pitchFamily="34" charset="-120"/>
              </a:rPr>
              <a:t>34,7%</a:t>
            </a:r>
            <a:endParaRPr lang="en-US" sz="3000" dirty="0"/>
          </a:p>
        </p:txBody>
      </p:sp>
      <p:sp>
        <p:nvSpPr>
          <p:cNvPr id="17" name="Text 15"/>
          <p:cNvSpPr/>
          <p:nvPr/>
        </p:nvSpPr>
        <p:spPr>
          <a:xfrm>
            <a:off x="4572000" y="3017520"/>
            <a:ext cx="3127248"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86.540 registros com alteração de produto.</a:t>
            </a:r>
            <a:endParaRPr lang="en-US" sz="1250" dirty="0"/>
          </a:p>
        </p:txBody>
      </p:sp>
      <p:sp>
        <p:nvSpPr>
          <p:cNvPr id="18" name="Shape 16"/>
          <p:cNvSpPr/>
          <p:nvPr/>
        </p:nvSpPr>
        <p:spPr>
          <a:xfrm>
            <a:off x="8046720" y="1892808"/>
            <a:ext cx="3538728" cy="1993392"/>
          </a:xfrm>
          <a:prstGeom prst="roundRect">
            <a:avLst>
              <a:gd name="adj" fmla="val 5505"/>
            </a:avLst>
          </a:prstGeom>
          <a:solidFill>
            <a:srgbClr val="FFFFFF"/>
          </a:solidFill>
          <a:ln w="11430">
            <a:solidFill>
              <a:srgbClr val="D5DFDC"/>
            </a:solidFill>
            <a:prstDash val="solid"/>
          </a:ln>
        </p:spPr>
      </p:sp>
      <p:sp>
        <p:nvSpPr>
          <p:cNvPr id="19" name="Shape 17"/>
          <p:cNvSpPr/>
          <p:nvPr/>
        </p:nvSpPr>
        <p:spPr>
          <a:xfrm>
            <a:off x="8046720" y="1892808"/>
            <a:ext cx="45720" cy="1993392"/>
          </a:xfrm>
          <a:prstGeom prst="roundRect">
            <a:avLst>
              <a:gd name="adj" fmla="val 240000"/>
            </a:avLst>
          </a:prstGeom>
          <a:solidFill>
            <a:srgbClr val="AE6A5B"/>
          </a:solidFill>
          <a:ln w="12700">
            <a:solidFill>
              <a:srgbClr val="AE6A5B">
                <a:alpha val="0"/>
              </a:srgbClr>
            </a:solidFill>
            <a:prstDash val="solid"/>
          </a:ln>
        </p:spPr>
      </p:sp>
      <p:sp>
        <p:nvSpPr>
          <p:cNvPr id="20" name="Text 18"/>
          <p:cNvSpPr/>
          <p:nvPr/>
        </p:nvSpPr>
        <p:spPr>
          <a:xfrm>
            <a:off x="8284464" y="2075688"/>
            <a:ext cx="3154680"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COM CANCELAMENTO</a:t>
            </a:r>
            <a:endParaRPr lang="en-US" sz="950" dirty="0"/>
          </a:p>
        </p:txBody>
      </p:sp>
      <p:sp>
        <p:nvSpPr>
          <p:cNvPr id="21" name="Text 19"/>
          <p:cNvSpPr/>
          <p:nvPr/>
        </p:nvSpPr>
        <p:spPr>
          <a:xfrm>
            <a:off x="8284464" y="2432304"/>
            <a:ext cx="3172968" cy="548640"/>
          </a:xfrm>
          <a:prstGeom prst="rect">
            <a:avLst/>
          </a:prstGeom>
          <a:noFill/>
          <a:ln/>
        </p:spPr>
        <p:txBody>
          <a:bodyPr wrap="square" lIns="0" tIns="0" rIns="0" bIns="0" rtlCol="0" anchor="ctr"/>
          <a:lstStyle/>
          <a:p>
            <a:pPr indent="0" marL="0">
              <a:buNone/>
            </a:pPr>
            <a:r>
              <a:rPr lang="en-US" sz="3000" b="1" dirty="0">
                <a:solidFill>
                  <a:srgbClr val="AE6A5B"/>
                </a:solidFill>
                <a:latin typeface="Aptos" pitchFamily="34" charset="0"/>
                <a:ea typeface="Aptos" pitchFamily="34" charset="-122"/>
                <a:cs typeface="Aptos" pitchFamily="34" charset="-120"/>
              </a:rPr>
              <a:t>18,2%</a:t>
            </a:r>
            <a:endParaRPr lang="en-US" sz="3000" dirty="0"/>
          </a:p>
        </p:txBody>
      </p:sp>
      <p:sp>
        <p:nvSpPr>
          <p:cNvPr id="22" name="Text 20"/>
          <p:cNvSpPr/>
          <p:nvPr/>
        </p:nvSpPr>
        <p:spPr>
          <a:xfrm>
            <a:off x="8284464" y="3017520"/>
            <a:ext cx="3127248"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45.479 registros com remoção de pelo menos um produto.</a:t>
            </a:r>
            <a:endParaRPr lang="en-US" sz="1250" dirty="0"/>
          </a:p>
        </p:txBody>
      </p:sp>
      <p:sp>
        <p:nvSpPr>
          <p:cNvPr id="23" name="Shape 21"/>
          <p:cNvSpPr/>
          <p:nvPr/>
        </p:nvSpPr>
        <p:spPr>
          <a:xfrm>
            <a:off x="630936" y="4160520"/>
            <a:ext cx="10945368" cy="1152144"/>
          </a:xfrm>
          <a:prstGeom prst="roundRect">
            <a:avLst>
              <a:gd name="adj" fmla="val 9524"/>
            </a:avLst>
          </a:prstGeom>
          <a:solidFill>
            <a:srgbClr val="113A37"/>
          </a:solidFill>
          <a:ln w="12700">
            <a:solidFill>
              <a:srgbClr val="113A37">
                <a:alpha val="0"/>
              </a:srgbClr>
            </a:solidFill>
            <a:prstDash val="solid"/>
          </a:ln>
        </p:spPr>
      </p:sp>
      <p:sp>
        <p:nvSpPr>
          <p:cNvPr id="24" name="Text 22"/>
          <p:cNvSpPr/>
          <p:nvPr/>
        </p:nvSpPr>
        <p:spPr>
          <a:xfrm>
            <a:off x="859536" y="4343400"/>
            <a:ext cx="2011680" cy="274320"/>
          </a:xfrm>
          <a:prstGeom prst="rect">
            <a:avLst/>
          </a:prstGeom>
          <a:noFill/>
          <a:ln/>
        </p:spPr>
        <p:txBody>
          <a:bodyPr wrap="square" lIns="0" tIns="0" rIns="0" bIns="0" rtlCol="0" anchor="ctr"/>
          <a:lstStyle/>
          <a:p>
            <a:pPr indent="0" marL="0">
              <a:buNone/>
            </a:pPr>
            <a:r>
              <a:rPr lang="en-US" sz="1200" b="1" dirty="0">
                <a:solidFill>
                  <a:srgbClr val="B7D2C9"/>
                </a:solidFill>
                <a:latin typeface="Aptos" pitchFamily="34" charset="0"/>
                <a:ea typeface="Aptos" pitchFamily="34" charset="-122"/>
                <a:cs typeface="Aptos" pitchFamily="34" charset="-120"/>
              </a:rPr>
              <a:t>Tese central</a:t>
            </a:r>
            <a:endParaRPr lang="en-US" sz="1200" dirty="0"/>
          </a:p>
        </p:txBody>
      </p:sp>
      <p:sp>
        <p:nvSpPr>
          <p:cNvPr id="25" name="Text 23"/>
          <p:cNvSpPr/>
          <p:nvPr/>
        </p:nvSpPr>
        <p:spPr>
          <a:xfrm>
            <a:off x="859536" y="4645152"/>
            <a:ext cx="10314432" cy="438912"/>
          </a:xfrm>
          <a:prstGeom prst="rect">
            <a:avLst/>
          </a:prstGeom>
          <a:noFill/>
          <a:ln/>
        </p:spPr>
        <p:txBody>
          <a:bodyPr wrap="square" lIns="0" tIns="0" rIns="0" bIns="0" rtlCol="0" anchor="ctr"/>
          <a:lstStyle/>
          <a:p>
            <a:pPr indent="0" marL="0">
              <a:buNone/>
            </a:pPr>
            <a:r>
              <a:rPr lang="en-US" sz="2000" b="1" dirty="0">
                <a:solidFill>
                  <a:srgbClr val="FFFFFF"/>
                </a:solidFill>
                <a:latin typeface="Aptos" pitchFamily="34" charset="0"/>
                <a:ea typeface="Aptos" pitchFamily="34" charset="-122"/>
                <a:cs typeface="Aptos" pitchFamily="34" charset="-120"/>
              </a:rPr>
              <a:t>Status de retenção, movimentação de produtos e preservação de valor são resultados distintos.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QUESTÃO DE PESQUISA</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estudo examina três resultados complementares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03</a:t>
            </a:r>
            <a:endParaRPr lang="en-US" sz="1050" dirty="0"/>
          </a:p>
        </p:txBody>
      </p:sp>
      <p:sp>
        <p:nvSpPr>
          <p:cNvPr id="8" name="Shape 6"/>
          <p:cNvSpPr/>
          <p:nvPr/>
        </p:nvSpPr>
        <p:spPr>
          <a:xfrm>
            <a:off x="640080" y="2029968"/>
            <a:ext cx="3557016" cy="2926080"/>
          </a:xfrm>
          <a:prstGeom prst="roundRect">
            <a:avLst>
              <a:gd name="adj" fmla="val 3750"/>
            </a:avLst>
          </a:prstGeom>
          <a:solidFill>
            <a:srgbClr val="FFFFFF"/>
          </a:solidFill>
          <a:ln w="11430">
            <a:solidFill>
              <a:srgbClr val="D5DFDC"/>
            </a:solidFill>
            <a:prstDash val="solid"/>
          </a:ln>
        </p:spPr>
      </p:sp>
      <p:sp>
        <p:nvSpPr>
          <p:cNvPr id="9" name="Text 7"/>
          <p:cNvSpPr/>
          <p:nvPr/>
        </p:nvSpPr>
        <p:spPr>
          <a:xfrm>
            <a:off x="832104" y="2212848"/>
            <a:ext cx="530352" cy="484632"/>
          </a:xfrm>
          <a:prstGeom prst="rect">
            <a:avLst/>
          </a:prstGeom>
          <a:noFill/>
          <a:ln/>
        </p:spPr>
        <p:txBody>
          <a:bodyPr wrap="square" lIns="0" tIns="0" rIns="0" bIns="0" rtlCol="0" anchor="ctr"/>
          <a:lstStyle/>
          <a:p>
            <a:pPr indent="0" marL="0">
              <a:buNone/>
            </a:pPr>
            <a:r>
              <a:rPr lang="en-US" sz="2700" b="1" dirty="0">
                <a:solidFill>
                  <a:srgbClr val="BD8F4C"/>
                </a:solidFill>
                <a:latin typeface="Aptos" pitchFamily="34" charset="0"/>
                <a:ea typeface="Aptos" pitchFamily="34" charset="-122"/>
                <a:cs typeface="Aptos" pitchFamily="34" charset="-120"/>
              </a:rPr>
              <a:t>01</a:t>
            </a:r>
            <a:endParaRPr lang="en-US" sz="2700" dirty="0"/>
          </a:p>
        </p:txBody>
      </p:sp>
      <p:sp>
        <p:nvSpPr>
          <p:cNvPr id="10" name="Text 8"/>
          <p:cNvSpPr/>
          <p:nvPr/>
        </p:nvSpPr>
        <p:spPr>
          <a:xfrm>
            <a:off x="850392" y="2807208"/>
            <a:ext cx="3108960" cy="210312"/>
          </a:xfrm>
          <a:prstGeom prst="rect">
            <a:avLst/>
          </a:prstGeom>
          <a:noFill/>
          <a:ln/>
        </p:spPr>
        <p:txBody>
          <a:bodyPr wrap="square" lIns="0" tIns="0" rIns="0" bIns="0" rtlCol="0" anchor="ctr"/>
          <a:lstStyle/>
          <a:p>
            <a:pPr indent="0" marL="0">
              <a:buNone/>
            </a:pPr>
            <a:r>
              <a:rPr lang="en-US" sz="1000" b="1" spc="110" kern="0" dirty="0">
                <a:solidFill>
                  <a:srgbClr val="1E6159"/>
                </a:solidFill>
                <a:latin typeface="Aptos" pitchFamily="34" charset="0"/>
                <a:ea typeface="Aptos" pitchFamily="34" charset="-122"/>
                <a:cs typeface="Aptos" pitchFamily="34" charset="-120"/>
              </a:rPr>
              <a:t>RETENÇÃO OPERACIONAL</a:t>
            </a:r>
            <a:endParaRPr lang="en-US" sz="1000" dirty="0"/>
          </a:p>
        </p:txBody>
      </p:sp>
      <p:sp>
        <p:nvSpPr>
          <p:cNvPr id="11" name="Text 9"/>
          <p:cNvSpPr/>
          <p:nvPr/>
        </p:nvSpPr>
        <p:spPr>
          <a:xfrm>
            <a:off x="850392" y="3264408"/>
            <a:ext cx="3054096" cy="621792"/>
          </a:xfrm>
          <a:prstGeom prst="rect">
            <a:avLst/>
          </a:prstGeom>
          <a:noFill/>
          <a:ln/>
        </p:spPr>
        <p:txBody>
          <a:bodyPr wrap="square" lIns="0" tIns="0" rIns="0" bIns="0" rtlCol="0" anchor="ctr"/>
          <a:lstStyle/>
          <a:p>
            <a:pPr indent="0" marL="0">
              <a:buNone/>
            </a:pPr>
            <a:r>
              <a:rPr lang="en-US" sz="1900" b="1" dirty="0">
                <a:solidFill>
                  <a:srgbClr val="162B30"/>
                </a:solidFill>
                <a:latin typeface="Aptos" pitchFamily="34" charset="0"/>
                <a:ea typeface="Aptos" pitchFamily="34" charset="-122"/>
                <a:cs typeface="Aptos" pitchFamily="34" charset="-120"/>
              </a:rPr>
              <a:t>Status RETIDO no funil</a:t>
            </a:r>
            <a:endParaRPr lang="en-US" sz="1900" dirty="0"/>
          </a:p>
        </p:txBody>
      </p:sp>
      <p:sp>
        <p:nvSpPr>
          <p:cNvPr id="12" name="Text 10"/>
          <p:cNvSpPr/>
          <p:nvPr/>
        </p:nvSpPr>
        <p:spPr>
          <a:xfrm>
            <a:off x="850392" y="4178808"/>
            <a:ext cx="3054096" cy="457200"/>
          </a:xfrm>
          <a:prstGeom prst="rect">
            <a:avLst/>
          </a:prstGeom>
          <a:noFill/>
          <a:ln/>
        </p:spPr>
        <p:txBody>
          <a:bodyPr wrap="square" lIns="0" tIns="0" rIns="0" bIns="0" rtlCol="0" anchor="ctr"/>
          <a:lstStyle/>
          <a:p>
            <a:pPr indent="0" marL="0">
              <a:buNone/>
            </a:pPr>
            <a:r>
              <a:rPr lang="en-US" sz="1350" dirty="0">
                <a:solidFill>
                  <a:srgbClr val="5F7379"/>
                </a:solidFill>
                <a:latin typeface="Aptos" pitchFamily="34" charset="0"/>
                <a:ea typeface="Aptos" pitchFamily="34" charset="-122"/>
                <a:cs typeface="Aptos" pitchFamily="34" charset="-120"/>
              </a:rPr>
              <a:t>Quem concluiu o atendimento como retido?</a:t>
            </a:r>
            <a:endParaRPr lang="en-US" sz="1350" dirty="0"/>
          </a:p>
        </p:txBody>
      </p:sp>
      <p:sp>
        <p:nvSpPr>
          <p:cNvPr id="13" name="Shape 11"/>
          <p:cNvSpPr/>
          <p:nvPr/>
        </p:nvSpPr>
        <p:spPr>
          <a:xfrm>
            <a:off x="4416552" y="2029968"/>
            <a:ext cx="3557016" cy="2926080"/>
          </a:xfrm>
          <a:prstGeom prst="roundRect">
            <a:avLst>
              <a:gd name="adj" fmla="val 3750"/>
            </a:avLst>
          </a:prstGeom>
          <a:solidFill>
            <a:srgbClr val="FFFFFF"/>
          </a:solidFill>
          <a:ln w="11430">
            <a:solidFill>
              <a:srgbClr val="D5DFDC"/>
            </a:solidFill>
            <a:prstDash val="solid"/>
          </a:ln>
        </p:spPr>
      </p:sp>
      <p:sp>
        <p:nvSpPr>
          <p:cNvPr id="14" name="Text 12"/>
          <p:cNvSpPr/>
          <p:nvPr/>
        </p:nvSpPr>
        <p:spPr>
          <a:xfrm>
            <a:off x="4608576" y="2212848"/>
            <a:ext cx="530352" cy="484632"/>
          </a:xfrm>
          <a:prstGeom prst="rect">
            <a:avLst/>
          </a:prstGeom>
          <a:noFill/>
          <a:ln/>
        </p:spPr>
        <p:txBody>
          <a:bodyPr wrap="square" lIns="0" tIns="0" rIns="0" bIns="0" rtlCol="0" anchor="ctr"/>
          <a:lstStyle/>
          <a:p>
            <a:pPr indent="0" marL="0">
              <a:buNone/>
            </a:pPr>
            <a:r>
              <a:rPr lang="en-US" sz="2700" b="1" dirty="0">
                <a:solidFill>
                  <a:srgbClr val="BD8F4C"/>
                </a:solidFill>
                <a:latin typeface="Aptos" pitchFamily="34" charset="0"/>
                <a:ea typeface="Aptos" pitchFamily="34" charset="-122"/>
                <a:cs typeface="Aptos" pitchFamily="34" charset="-120"/>
              </a:rPr>
              <a:t>02</a:t>
            </a:r>
            <a:endParaRPr lang="en-US" sz="2700" dirty="0"/>
          </a:p>
        </p:txBody>
      </p:sp>
      <p:sp>
        <p:nvSpPr>
          <p:cNvPr id="15" name="Text 13"/>
          <p:cNvSpPr/>
          <p:nvPr/>
        </p:nvSpPr>
        <p:spPr>
          <a:xfrm>
            <a:off x="4626864" y="2807208"/>
            <a:ext cx="3108960" cy="210312"/>
          </a:xfrm>
          <a:prstGeom prst="rect">
            <a:avLst/>
          </a:prstGeom>
          <a:noFill/>
          <a:ln/>
        </p:spPr>
        <p:txBody>
          <a:bodyPr wrap="square" lIns="0" tIns="0" rIns="0" bIns="0" rtlCol="0" anchor="ctr"/>
          <a:lstStyle/>
          <a:p>
            <a:pPr indent="0" marL="0">
              <a:buNone/>
            </a:pPr>
            <a:r>
              <a:rPr lang="en-US" sz="1000" b="1" spc="110" kern="0" dirty="0">
                <a:solidFill>
                  <a:srgbClr val="1E6159"/>
                </a:solidFill>
                <a:latin typeface="Aptos" pitchFamily="34" charset="0"/>
                <a:ea typeface="Aptos" pitchFamily="34" charset="-122"/>
                <a:cs typeface="Aptos" pitchFamily="34" charset="-120"/>
              </a:rPr>
              <a:t>MOVIMENTAÇÃO E CANCELAMENTO</a:t>
            </a:r>
            <a:endParaRPr lang="en-US" sz="1000" dirty="0"/>
          </a:p>
        </p:txBody>
      </p:sp>
      <p:sp>
        <p:nvSpPr>
          <p:cNvPr id="16" name="Text 14"/>
          <p:cNvSpPr/>
          <p:nvPr/>
        </p:nvSpPr>
        <p:spPr>
          <a:xfrm>
            <a:off x="4626864" y="3264408"/>
            <a:ext cx="3054096" cy="621792"/>
          </a:xfrm>
          <a:prstGeom prst="rect">
            <a:avLst/>
          </a:prstGeom>
          <a:noFill/>
          <a:ln/>
        </p:spPr>
        <p:txBody>
          <a:bodyPr wrap="square" lIns="0" tIns="0" rIns="0" bIns="0" rtlCol="0" anchor="ctr"/>
          <a:lstStyle/>
          <a:p>
            <a:pPr indent="0" marL="0">
              <a:buNone/>
            </a:pPr>
            <a:r>
              <a:rPr lang="en-US" sz="1900" b="1" dirty="0">
                <a:solidFill>
                  <a:srgbClr val="162B30"/>
                </a:solidFill>
                <a:latin typeface="Aptos" pitchFamily="34" charset="0"/>
                <a:ea typeface="Aptos" pitchFamily="34" charset="-122"/>
                <a:cs typeface="Aptos" pitchFamily="34" charset="-120"/>
              </a:rPr>
              <a:t>Transições de BL, TV, Fone e Móvel</a:t>
            </a:r>
            <a:endParaRPr lang="en-US" sz="1900" dirty="0"/>
          </a:p>
        </p:txBody>
      </p:sp>
      <p:sp>
        <p:nvSpPr>
          <p:cNvPr id="17" name="Text 15"/>
          <p:cNvSpPr/>
          <p:nvPr/>
        </p:nvSpPr>
        <p:spPr>
          <a:xfrm>
            <a:off x="4626864" y="4178808"/>
            <a:ext cx="3054096" cy="457200"/>
          </a:xfrm>
          <a:prstGeom prst="rect">
            <a:avLst/>
          </a:prstGeom>
          <a:noFill/>
          <a:ln/>
        </p:spPr>
        <p:txBody>
          <a:bodyPr wrap="square" lIns="0" tIns="0" rIns="0" bIns="0" rtlCol="0" anchor="ctr"/>
          <a:lstStyle/>
          <a:p>
            <a:pPr indent="0" marL="0">
              <a:buNone/>
            </a:pPr>
            <a:r>
              <a:rPr lang="en-US" sz="1350" dirty="0">
                <a:solidFill>
                  <a:srgbClr val="5F7379"/>
                </a:solidFill>
                <a:latin typeface="Aptos" pitchFamily="34" charset="0"/>
                <a:ea typeface="Aptos" pitchFamily="34" charset="-122"/>
                <a:cs typeface="Aptos" pitchFamily="34" charset="-120"/>
              </a:rPr>
              <a:t>O que mudou na carteira de produtos?</a:t>
            </a:r>
            <a:endParaRPr lang="en-US" sz="1350" dirty="0"/>
          </a:p>
        </p:txBody>
      </p:sp>
      <p:sp>
        <p:nvSpPr>
          <p:cNvPr id="18" name="Shape 16"/>
          <p:cNvSpPr/>
          <p:nvPr/>
        </p:nvSpPr>
        <p:spPr>
          <a:xfrm>
            <a:off x="8193024" y="2029968"/>
            <a:ext cx="3557016" cy="2926080"/>
          </a:xfrm>
          <a:prstGeom prst="roundRect">
            <a:avLst>
              <a:gd name="adj" fmla="val 3750"/>
            </a:avLst>
          </a:prstGeom>
          <a:solidFill>
            <a:srgbClr val="FFFFFF"/>
          </a:solidFill>
          <a:ln w="11430">
            <a:solidFill>
              <a:srgbClr val="D5DFDC"/>
            </a:solidFill>
            <a:prstDash val="solid"/>
          </a:ln>
        </p:spPr>
      </p:sp>
      <p:sp>
        <p:nvSpPr>
          <p:cNvPr id="19" name="Text 17"/>
          <p:cNvSpPr/>
          <p:nvPr/>
        </p:nvSpPr>
        <p:spPr>
          <a:xfrm>
            <a:off x="8385048" y="2212848"/>
            <a:ext cx="530352" cy="484632"/>
          </a:xfrm>
          <a:prstGeom prst="rect">
            <a:avLst/>
          </a:prstGeom>
          <a:noFill/>
          <a:ln/>
        </p:spPr>
        <p:txBody>
          <a:bodyPr wrap="square" lIns="0" tIns="0" rIns="0" bIns="0" rtlCol="0" anchor="ctr"/>
          <a:lstStyle/>
          <a:p>
            <a:pPr indent="0" marL="0">
              <a:buNone/>
            </a:pPr>
            <a:r>
              <a:rPr lang="en-US" sz="2700" b="1" dirty="0">
                <a:solidFill>
                  <a:srgbClr val="BD8F4C"/>
                </a:solidFill>
                <a:latin typeface="Aptos" pitchFamily="34" charset="0"/>
                <a:ea typeface="Aptos" pitchFamily="34" charset="-122"/>
                <a:cs typeface="Aptos" pitchFamily="34" charset="-120"/>
              </a:rPr>
              <a:t>03</a:t>
            </a:r>
            <a:endParaRPr lang="en-US" sz="2700" dirty="0"/>
          </a:p>
        </p:txBody>
      </p:sp>
      <p:sp>
        <p:nvSpPr>
          <p:cNvPr id="20" name="Text 18"/>
          <p:cNvSpPr/>
          <p:nvPr/>
        </p:nvSpPr>
        <p:spPr>
          <a:xfrm>
            <a:off x="8403336" y="2807208"/>
            <a:ext cx="3108960" cy="210312"/>
          </a:xfrm>
          <a:prstGeom prst="rect">
            <a:avLst/>
          </a:prstGeom>
          <a:noFill/>
          <a:ln/>
        </p:spPr>
        <p:txBody>
          <a:bodyPr wrap="square" lIns="0" tIns="0" rIns="0" bIns="0" rtlCol="0" anchor="ctr"/>
          <a:lstStyle/>
          <a:p>
            <a:pPr indent="0" marL="0">
              <a:buNone/>
            </a:pPr>
            <a:r>
              <a:rPr lang="en-US" sz="1000" b="1" spc="110" kern="0" dirty="0">
                <a:solidFill>
                  <a:srgbClr val="1E6159"/>
                </a:solidFill>
                <a:latin typeface="Aptos" pitchFamily="34" charset="0"/>
                <a:ea typeface="Aptos" pitchFamily="34" charset="-122"/>
                <a:cs typeface="Aptos" pitchFamily="34" charset="-120"/>
              </a:rPr>
              <a:t>VALOR OBSERVADO</a:t>
            </a:r>
            <a:endParaRPr lang="en-US" sz="1000" dirty="0"/>
          </a:p>
        </p:txBody>
      </p:sp>
      <p:sp>
        <p:nvSpPr>
          <p:cNvPr id="21" name="Text 19"/>
          <p:cNvSpPr/>
          <p:nvPr/>
        </p:nvSpPr>
        <p:spPr>
          <a:xfrm>
            <a:off x="8403336" y="3264408"/>
            <a:ext cx="3054096" cy="621792"/>
          </a:xfrm>
          <a:prstGeom prst="rect">
            <a:avLst/>
          </a:prstGeom>
          <a:noFill/>
          <a:ln/>
        </p:spPr>
        <p:txBody>
          <a:bodyPr wrap="square" lIns="0" tIns="0" rIns="0" bIns="0" rtlCol="0" anchor="ctr"/>
          <a:lstStyle/>
          <a:p>
            <a:pPr indent="0" marL="0">
              <a:buNone/>
            </a:pPr>
            <a:r>
              <a:rPr lang="en-US" sz="1900" b="1" dirty="0">
                <a:solidFill>
                  <a:srgbClr val="162B30"/>
                </a:solidFill>
                <a:latin typeface="Aptos" pitchFamily="34" charset="0"/>
                <a:ea typeface="Aptos" pitchFamily="34" charset="-122"/>
                <a:cs typeface="Aptos" pitchFamily="34" charset="-120"/>
              </a:rPr>
              <a:t>Diferença entre estados M30 e M0</a:t>
            </a:r>
            <a:endParaRPr lang="en-US" sz="1900" dirty="0"/>
          </a:p>
        </p:txBody>
      </p:sp>
      <p:sp>
        <p:nvSpPr>
          <p:cNvPr id="22" name="Text 20"/>
          <p:cNvSpPr/>
          <p:nvPr/>
        </p:nvSpPr>
        <p:spPr>
          <a:xfrm>
            <a:off x="8403336" y="4178808"/>
            <a:ext cx="3054096" cy="457200"/>
          </a:xfrm>
          <a:prstGeom prst="rect">
            <a:avLst/>
          </a:prstGeom>
          <a:noFill/>
          <a:ln/>
        </p:spPr>
        <p:txBody>
          <a:bodyPr wrap="square" lIns="0" tIns="0" rIns="0" bIns="0" rtlCol="0" anchor="ctr"/>
          <a:lstStyle/>
          <a:p>
            <a:pPr indent="0" marL="0">
              <a:buNone/>
            </a:pPr>
            <a:r>
              <a:rPr lang="en-US" sz="1350" dirty="0">
                <a:solidFill>
                  <a:srgbClr val="5F7379"/>
                </a:solidFill>
                <a:latin typeface="Aptos" pitchFamily="34" charset="0"/>
                <a:ea typeface="Aptos" pitchFamily="34" charset="-122"/>
                <a:cs typeface="Aptos" pitchFamily="34" charset="-120"/>
              </a:rPr>
              <a:t>Quanto variou o valor registrado?</a:t>
            </a:r>
            <a:endParaRPr lang="en-US" sz="1350" dirty="0"/>
          </a:p>
        </p:txBody>
      </p:sp>
      <p:sp>
        <p:nvSpPr>
          <p:cNvPr id="23" name="Shape 21"/>
          <p:cNvSpPr/>
          <p:nvPr/>
        </p:nvSpPr>
        <p:spPr>
          <a:xfrm>
            <a:off x="630936" y="5321808"/>
            <a:ext cx="10972800" cy="438912"/>
          </a:xfrm>
          <a:prstGeom prst="roundRect">
            <a:avLst>
              <a:gd name="adj" fmla="val 25000"/>
            </a:avLst>
          </a:prstGeom>
          <a:solidFill>
            <a:srgbClr val="E5F0EB"/>
          </a:solidFill>
          <a:ln w="12700">
            <a:solidFill>
              <a:srgbClr val="E5F0EB">
                <a:alpha val="0"/>
              </a:srgbClr>
            </a:solidFill>
            <a:prstDash val="solid"/>
          </a:ln>
        </p:spPr>
      </p:sp>
      <p:sp>
        <p:nvSpPr>
          <p:cNvPr id="24" name="Text 22"/>
          <p:cNvSpPr/>
          <p:nvPr/>
        </p:nvSpPr>
        <p:spPr>
          <a:xfrm>
            <a:off x="786384" y="5385816"/>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Pergunta de perfil: características iniciais associadas à movimentação entre os registros RETIDO.</a:t>
            </a:r>
            <a:endParaRPr lang="en-US" sz="1170" dirty="0"/>
          </a:p>
        </p:txBody>
      </p:sp>
      <p:sp>
        <p:nvSpPr>
          <p:cNvPr id="25" name="Text 23"/>
          <p:cNvSpPr/>
          <p:nvPr/>
        </p:nvSpPr>
        <p:spPr>
          <a:xfrm>
            <a:off x="786384" y="5536692"/>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M0 = entrada; M30 = condição final do processo — não necessariamente 30 dias corridos.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UNIVERSO ELEGÍVEL</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Os perfis são estudados entre 249.309 registros retidos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04</a:t>
            </a:r>
            <a:endParaRPr lang="en-US" sz="1050" dirty="0"/>
          </a:p>
        </p:txBody>
      </p:sp>
      <p:sp>
        <p:nvSpPr>
          <p:cNvPr id="8" name="Text 6"/>
          <p:cNvSpPr/>
          <p:nvPr/>
        </p:nvSpPr>
        <p:spPr>
          <a:xfrm>
            <a:off x="713232" y="1920240"/>
            <a:ext cx="4297680" cy="603504"/>
          </a:xfrm>
          <a:prstGeom prst="rect">
            <a:avLst/>
          </a:prstGeom>
          <a:noFill/>
          <a:ln/>
        </p:spPr>
        <p:txBody>
          <a:bodyPr wrap="square" lIns="0" tIns="0" rIns="0" bIns="0" rtlCol="0" anchor="ctr"/>
          <a:lstStyle/>
          <a:p>
            <a:pPr indent="0" marL="0">
              <a:buNone/>
            </a:pPr>
            <a:r>
              <a:rPr lang="en-US" sz="3550" b="1" dirty="0">
                <a:solidFill>
                  <a:srgbClr val="162B30"/>
                </a:solidFill>
                <a:latin typeface="Aptos" pitchFamily="34" charset="0"/>
                <a:ea typeface="Aptos" pitchFamily="34" charset="-122"/>
                <a:cs typeface="Aptos" pitchFamily="34" charset="-120"/>
              </a:rPr>
              <a:t>303.652</a:t>
            </a:r>
            <a:endParaRPr lang="en-US" sz="3550" dirty="0"/>
          </a:p>
        </p:txBody>
      </p:sp>
      <p:sp>
        <p:nvSpPr>
          <p:cNvPr id="9" name="Text 7"/>
          <p:cNvSpPr/>
          <p:nvPr/>
        </p:nvSpPr>
        <p:spPr>
          <a:xfrm>
            <a:off x="713232" y="2560320"/>
            <a:ext cx="4297680"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Registros na janela de junho a dezembro de 2025</a:t>
            </a:r>
            <a:endParaRPr lang="en-US" sz="1450" dirty="0"/>
          </a:p>
        </p:txBody>
      </p:sp>
      <p:sp>
        <p:nvSpPr>
          <p:cNvPr id="10" name="Text 8"/>
          <p:cNvSpPr/>
          <p:nvPr/>
        </p:nvSpPr>
        <p:spPr>
          <a:xfrm>
            <a:off x="5577840" y="1938528"/>
            <a:ext cx="2057400" cy="301752"/>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RETIDO</a:t>
            </a:r>
            <a:endParaRPr lang="en-US" sz="1500" dirty="0"/>
          </a:p>
        </p:txBody>
      </p:sp>
      <p:sp>
        <p:nvSpPr>
          <p:cNvPr id="11" name="Shape 9"/>
          <p:cNvSpPr/>
          <p:nvPr/>
        </p:nvSpPr>
        <p:spPr>
          <a:xfrm>
            <a:off x="7744968" y="1975104"/>
            <a:ext cx="2286000" cy="237744"/>
          </a:xfrm>
          <a:prstGeom prst="rect">
            <a:avLst/>
          </a:prstGeom>
          <a:solidFill>
            <a:srgbClr val="EDF1F0"/>
          </a:solidFill>
          <a:ln w="12700">
            <a:solidFill>
              <a:srgbClr val="EDF1F0">
                <a:alpha val="0"/>
              </a:srgbClr>
            </a:solidFill>
            <a:prstDash val="solid"/>
          </a:ln>
        </p:spPr>
      </p:sp>
      <p:sp>
        <p:nvSpPr>
          <p:cNvPr id="12" name="Shape 10"/>
          <p:cNvSpPr/>
          <p:nvPr/>
        </p:nvSpPr>
        <p:spPr>
          <a:xfrm>
            <a:off x="7744968" y="1975104"/>
            <a:ext cx="1876887" cy="237744"/>
          </a:xfrm>
          <a:prstGeom prst="rect">
            <a:avLst/>
          </a:prstGeom>
          <a:solidFill>
            <a:srgbClr val="1E6159"/>
          </a:solidFill>
          <a:ln w="12700">
            <a:solidFill>
              <a:srgbClr val="1E6159">
                <a:alpha val="0"/>
              </a:srgbClr>
            </a:solidFill>
            <a:prstDash val="solid"/>
          </a:ln>
        </p:spPr>
      </p:sp>
      <p:sp>
        <p:nvSpPr>
          <p:cNvPr id="13" name="Text 11"/>
          <p:cNvSpPr/>
          <p:nvPr/>
        </p:nvSpPr>
        <p:spPr>
          <a:xfrm>
            <a:off x="10232136" y="1938528"/>
            <a:ext cx="1188720" cy="310896"/>
          </a:xfrm>
          <a:prstGeom prst="rect">
            <a:avLst/>
          </a:prstGeom>
          <a:noFill/>
          <a:ln/>
        </p:spPr>
        <p:txBody>
          <a:bodyPr wrap="square" lIns="0" tIns="0" rIns="0" bIns="0" rtlCol="0" anchor="ctr"/>
          <a:lstStyle/>
          <a:p>
            <a:pPr algn="r" indent="0" marL="0">
              <a:buNone/>
            </a:pPr>
            <a:r>
              <a:rPr lang="en-US" sz="1760" b="1" dirty="0">
                <a:solidFill>
                  <a:srgbClr val="1E6159"/>
                </a:solidFill>
                <a:latin typeface="Aptos" pitchFamily="34" charset="0"/>
                <a:ea typeface="Aptos" pitchFamily="34" charset="-122"/>
                <a:cs typeface="Aptos" pitchFamily="34" charset="-120"/>
              </a:rPr>
              <a:t>249.309</a:t>
            </a:r>
            <a:endParaRPr lang="en-US" sz="1760" dirty="0"/>
          </a:p>
        </p:txBody>
      </p:sp>
      <p:sp>
        <p:nvSpPr>
          <p:cNvPr id="14" name="Text 12"/>
          <p:cNvSpPr/>
          <p:nvPr/>
        </p:nvSpPr>
        <p:spPr>
          <a:xfrm>
            <a:off x="5577840" y="2971800"/>
            <a:ext cx="2057400" cy="301752"/>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NÃO RETIDO</a:t>
            </a:r>
            <a:endParaRPr lang="en-US" sz="1500" dirty="0"/>
          </a:p>
        </p:txBody>
      </p:sp>
      <p:sp>
        <p:nvSpPr>
          <p:cNvPr id="15" name="Shape 13"/>
          <p:cNvSpPr/>
          <p:nvPr/>
        </p:nvSpPr>
        <p:spPr>
          <a:xfrm>
            <a:off x="7744968" y="3008376"/>
            <a:ext cx="2286000" cy="237744"/>
          </a:xfrm>
          <a:prstGeom prst="rect">
            <a:avLst/>
          </a:prstGeom>
          <a:solidFill>
            <a:srgbClr val="EDF1F0"/>
          </a:solidFill>
          <a:ln w="12700">
            <a:solidFill>
              <a:srgbClr val="EDF1F0">
                <a:alpha val="0"/>
              </a:srgbClr>
            </a:solidFill>
            <a:prstDash val="solid"/>
          </a:ln>
        </p:spPr>
      </p:sp>
      <p:sp>
        <p:nvSpPr>
          <p:cNvPr id="16" name="Shape 14"/>
          <p:cNvSpPr/>
          <p:nvPr/>
        </p:nvSpPr>
        <p:spPr>
          <a:xfrm>
            <a:off x="7744968" y="3008376"/>
            <a:ext cx="362046" cy="237744"/>
          </a:xfrm>
          <a:prstGeom prst="rect">
            <a:avLst/>
          </a:prstGeom>
          <a:solidFill>
            <a:srgbClr val="AE6A5B"/>
          </a:solidFill>
          <a:ln w="12700">
            <a:solidFill>
              <a:srgbClr val="AE6A5B">
                <a:alpha val="0"/>
              </a:srgbClr>
            </a:solidFill>
            <a:prstDash val="solid"/>
          </a:ln>
        </p:spPr>
      </p:sp>
      <p:sp>
        <p:nvSpPr>
          <p:cNvPr id="17" name="Text 15"/>
          <p:cNvSpPr/>
          <p:nvPr/>
        </p:nvSpPr>
        <p:spPr>
          <a:xfrm>
            <a:off x="10232136" y="2971800"/>
            <a:ext cx="1188720" cy="310896"/>
          </a:xfrm>
          <a:prstGeom prst="rect">
            <a:avLst/>
          </a:prstGeom>
          <a:noFill/>
          <a:ln/>
        </p:spPr>
        <p:txBody>
          <a:bodyPr wrap="square" lIns="0" tIns="0" rIns="0" bIns="0" rtlCol="0" anchor="ctr"/>
          <a:lstStyle/>
          <a:p>
            <a:pPr algn="r" indent="0" marL="0">
              <a:buNone/>
            </a:pPr>
            <a:r>
              <a:rPr lang="en-US" sz="1760" b="1" dirty="0">
                <a:solidFill>
                  <a:srgbClr val="AE6A5B"/>
                </a:solidFill>
                <a:latin typeface="Aptos" pitchFamily="34" charset="0"/>
                <a:ea typeface="Aptos" pitchFamily="34" charset="-122"/>
                <a:cs typeface="Aptos" pitchFamily="34" charset="-120"/>
              </a:rPr>
              <a:t>48.091</a:t>
            </a:r>
            <a:endParaRPr lang="en-US" sz="1760" dirty="0"/>
          </a:p>
        </p:txBody>
      </p:sp>
      <p:sp>
        <p:nvSpPr>
          <p:cNvPr id="18" name="Text 16"/>
          <p:cNvSpPr/>
          <p:nvPr/>
        </p:nvSpPr>
        <p:spPr>
          <a:xfrm>
            <a:off x="5577840" y="4005072"/>
            <a:ext cx="2057400" cy="301752"/>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EM ABERTO</a:t>
            </a:r>
            <a:endParaRPr lang="en-US" sz="1500" dirty="0"/>
          </a:p>
        </p:txBody>
      </p:sp>
      <p:sp>
        <p:nvSpPr>
          <p:cNvPr id="19" name="Shape 17"/>
          <p:cNvSpPr/>
          <p:nvPr/>
        </p:nvSpPr>
        <p:spPr>
          <a:xfrm>
            <a:off x="7744968" y="4041648"/>
            <a:ext cx="2286000" cy="237744"/>
          </a:xfrm>
          <a:prstGeom prst="rect">
            <a:avLst/>
          </a:prstGeom>
          <a:solidFill>
            <a:srgbClr val="EDF1F0"/>
          </a:solidFill>
          <a:ln w="12700">
            <a:solidFill>
              <a:srgbClr val="EDF1F0">
                <a:alpha val="0"/>
              </a:srgbClr>
            </a:solidFill>
            <a:prstDash val="solid"/>
          </a:ln>
        </p:spPr>
      </p:sp>
      <p:sp>
        <p:nvSpPr>
          <p:cNvPr id="20" name="Shape 18"/>
          <p:cNvSpPr/>
          <p:nvPr/>
        </p:nvSpPr>
        <p:spPr>
          <a:xfrm>
            <a:off x="7744968" y="4041648"/>
            <a:ext cx="47067" cy="237744"/>
          </a:xfrm>
          <a:prstGeom prst="rect">
            <a:avLst/>
          </a:prstGeom>
          <a:solidFill>
            <a:srgbClr val="BD8F4C"/>
          </a:solidFill>
          <a:ln w="12700">
            <a:solidFill>
              <a:srgbClr val="BD8F4C">
                <a:alpha val="0"/>
              </a:srgbClr>
            </a:solidFill>
            <a:prstDash val="solid"/>
          </a:ln>
        </p:spPr>
      </p:sp>
      <p:sp>
        <p:nvSpPr>
          <p:cNvPr id="21" name="Text 19"/>
          <p:cNvSpPr/>
          <p:nvPr/>
        </p:nvSpPr>
        <p:spPr>
          <a:xfrm>
            <a:off x="10232136" y="4005072"/>
            <a:ext cx="1188720" cy="310896"/>
          </a:xfrm>
          <a:prstGeom prst="rect">
            <a:avLst/>
          </a:prstGeom>
          <a:noFill/>
          <a:ln/>
        </p:spPr>
        <p:txBody>
          <a:bodyPr wrap="square" lIns="0" tIns="0" rIns="0" bIns="0" rtlCol="0" anchor="ctr"/>
          <a:lstStyle/>
          <a:p>
            <a:pPr algn="r" indent="0" marL="0">
              <a:buNone/>
            </a:pPr>
            <a:r>
              <a:rPr lang="en-US" sz="1760" b="1" dirty="0">
                <a:solidFill>
                  <a:srgbClr val="BD8F4C"/>
                </a:solidFill>
                <a:latin typeface="Aptos" pitchFamily="34" charset="0"/>
                <a:ea typeface="Aptos" pitchFamily="34" charset="-122"/>
                <a:cs typeface="Aptos" pitchFamily="34" charset="-120"/>
              </a:rPr>
              <a:t>6.252</a:t>
            </a:r>
            <a:endParaRPr lang="en-US" sz="1760" dirty="0"/>
          </a:p>
        </p:txBody>
      </p:sp>
      <p:sp>
        <p:nvSpPr>
          <p:cNvPr id="22" name="Shape 20"/>
          <p:cNvSpPr/>
          <p:nvPr/>
        </p:nvSpPr>
        <p:spPr>
          <a:xfrm>
            <a:off x="722376" y="5138928"/>
            <a:ext cx="10789920" cy="658368"/>
          </a:xfrm>
          <a:prstGeom prst="roundRect">
            <a:avLst>
              <a:gd name="adj" fmla="val 16667"/>
            </a:avLst>
          </a:prstGeom>
          <a:solidFill>
            <a:srgbClr val="E9F0F5"/>
          </a:solidFill>
          <a:ln w="12700">
            <a:solidFill>
              <a:srgbClr val="E9F0F5">
                <a:alpha val="0"/>
              </a:srgbClr>
            </a:solidFill>
            <a:prstDash val="solid"/>
          </a:ln>
        </p:spPr>
      </p:sp>
      <p:sp>
        <p:nvSpPr>
          <p:cNvPr id="23" name="Text 21"/>
          <p:cNvSpPr/>
          <p:nvPr/>
        </p:nvSpPr>
        <p:spPr>
          <a:xfrm>
            <a:off x="905256" y="5312664"/>
            <a:ext cx="10378440" cy="283464"/>
          </a:xfrm>
          <a:prstGeom prst="rect">
            <a:avLst/>
          </a:prstGeom>
          <a:noFill/>
          <a:ln/>
        </p:spPr>
        <p:txBody>
          <a:bodyPr wrap="square" lIns="0" tIns="0" rIns="0" bIns="0" rtlCol="0" anchor="ctr"/>
          <a:lstStyle/>
          <a:p>
            <a:pPr indent="0" marL="0">
              <a:buNone/>
            </a:pPr>
            <a:r>
              <a:rPr lang="en-US" sz="1510" b="1" dirty="0">
                <a:solidFill>
                  <a:srgbClr val="162B30"/>
                </a:solidFill>
                <a:latin typeface="Aptos" pitchFamily="34" charset="0"/>
                <a:ea typeface="Aptos" pitchFamily="34" charset="-122"/>
                <a:cs typeface="Aptos" pitchFamily="34" charset="-120"/>
              </a:rPr>
              <a:t>14.069 IDs repetidos na amostra; o registro do funil é a unidade observada.</a:t>
            </a:r>
            <a:endParaRPr lang="en-US" sz="15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EVENTOS CONTRATUAIS</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45.479 retidos tiveram cancelamento de pelo menos um produto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05</a:t>
            </a:r>
            <a:endParaRPr lang="en-US" sz="1050" dirty="0"/>
          </a:p>
        </p:txBody>
      </p:sp>
      <p:sp>
        <p:nvSpPr>
          <p:cNvPr id="8" name="Shape 6"/>
          <p:cNvSpPr/>
          <p:nvPr/>
        </p:nvSpPr>
        <p:spPr>
          <a:xfrm>
            <a:off x="649224" y="1947672"/>
            <a:ext cx="2743200" cy="2688336"/>
          </a:xfrm>
          <a:prstGeom prst="roundRect">
            <a:avLst>
              <a:gd name="adj" fmla="val 4082"/>
            </a:avLst>
          </a:prstGeom>
          <a:solidFill>
            <a:srgbClr val="FFFFFF"/>
          </a:solidFill>
          <a:ln w="11430">
            <a:solidFill>
              <a:srgbClr val="D5DFDC"/>
            </a:solidFill>
            <a:prstDash val="solid"/>
          </a:ln>
        </p:spPr>
      </p:sp>
      <p:sp>
        <p:nvSpPr>
          <p:cNvPr id="9" name="Shape 7"/>
          <p:cNvSpPr/>
          <p:nvPr/>
        </p:nvSpPr>
        <p:spPr>
          <a:xfrm>
            <a:off x="649224" y="1947672"/>
            <a:ext cx="2743200" cy="73152"/>
          </a:xfrm>
          <a:prstGeom prst="rect">
            <a:avLst/>
          </a:prstGeom>
          <a:solidFill>
            <a:srgbClr val="1E6159"/>
          </a:solidFill>
          <a:ln w="12700">
            <a:solidFill>
              <a:srgbClr val="1E6159">
                <a:alpha val="0"/>
              </a:srgbClr>
            </a:solidFill>
            <a:prstDash val="solid"/>
          </a:ln>
        </p:spPr>
      </p:sp>
      <p:sp>
        <p:nvSpPr>
          <p:cNvPr id="10" name="Text 8"/>
          <p:cNvSpPr/>
          <p:nvPr/>
        </p:nvSpPr>
        <p:spPr>
          <a:xfrm>
            <a:off x="822960" y="2295144"/>
            <a:ext cx="2414016" cy="603504"/>
          </a:xfrm>
          <a:prstGeom prst="rect">
            <a:avLst/>
          </a:prstGeom>
          <a:noFill/>
          <a:ln/>
        </p:spPr>
        <p:txBody>
          <a:bodyPr wrap="square" lIns="0" tIns="0" rIns="0" bIns="0" rtlCol="0" anchor="ctr"/>
          <a:lstStyle/>
          <a:p>
            <a:pPr indent="0" marL="0">
              <a:buNone/>
            </a:pPr>
            <a:r>
              <a:rPr lang="en-US" sz="1670" b="1" dirty="0">
                <a:solidFill>
                  <a:srgbClr val="162B30"/>
                </a:solidFill>
                <a:latin typeface="Aptos" pitchFamily="34" charset="0"/>
                <a:ea typeface="Aptos" pitchFamily="34" charset="-122"/>
                <a:cs typeface="Aptos" pitchFamily="34" charset="-120"/>
              </a:rPr>
              <a:t>Sem movimento</a:t>
            </a:r>
            <a:endParaRPr lang="en-US" sz="1670" dirty="0"/>
          </a:p>
          <a:p>
            <a:pPr indent="0" marL="0">
              <a:buNone/>
            </a:pPr>
            <a:r>
              <a:rPr lang="en-US" sz="1670" b="1" dirty="0">
                <a:solidFill>
                  <a:srgbClr val="162B30"/>
                </a:solidFill>
                <a:latin typeface="Aptos" pitchFamily="34" charset="0"/>
                <a:ea typeface="Aptos" pitchFamily="34" charset="-122"/>
                <a:cs typeface="Aptos" pitchFamily="34" charset="-120"/>
              </a:rPr>
              <a:t>sem cancelamento</a:t>
            </a:r>
            <a:endParaRPr lang="en-US" sz="1670" dirty="0"/>
          </a:p>
        </p:txBody>
      </p:sp>
      <p:sp>
        <p:nvSpPr>
          <p:cNvPr id="11" name="Text 9"/>
          <p:cNvSpPr/>
          <p:nvPr/>
        </p:nvSpPr>
        <p:spPr>
          <a:xfrm>
            <a:off x="822960" y="3246120"/>
            <a:ext cx="2414016" cy="466344"/>
          </a:xfrm>
          <a:prstGeom prst="rect">
            <a:avLst/>
          </a:prstGeom>
          <a:noFill/>
          <a:ln/>
        </p:spPr>
        <p:txBody>
          <a:bodyPr wrap="square" lIns="0" tIns="0" rIns="0" bIns="0" rtlCol="0" anchor="ctr"/>
          <a:lstStyle/>
          <a:p>
            <a:pPr indent="0" marL="0">
              <a:buNone/>
            </a:pPr>
            <a:r>
              <a:rPr lang="en-US" sz="3050" b="1" dirty="0">
                <a:solidFill>
                  <a:srgbClr val="1E6159"/>
                </a:solidFill>
                <a:latin typeface="Aptos" pitchFamily="34" charset="0"/>
                <a:ea typeface="Aptos" pitchFamily="34" charset="-122"/>
                <a:cs typeface="Aptos" pitchFamily="34" charset="-120"/>
              </a:rPr>
              <a:t>130.451</a:t>
            </a:r>
            <a:endParaRPr lang="en-US" sz="3050" dirty="0"/>
          </a:p>
        </p:txBody>
      </p:sp>
      <p:sp>
        <p:nvSpPr>
          <p:cNvPr id="12" name="Text 10"/>
          <p:cNvSpPr/>
          <p:nvPr/>
        </p:nvSpPr>
        <p:spPr>
          <a:xfrm>
            <a:off x="822960" y="3867912"/>
            <a:ext cx="2414016" cy="320040"/>
          </a:xfrm>
          <a:prstGeom prst="rect">
            <a:avLst/>
          </a:prstGeom>
          <a:noFill/>
          <a:ln/>
        </p:spPr>
        <p:txBody>
          <a:bodyPr wrap="square" lIns="0" tIns="0" rIns="0" bIns="0" rtlCol="0" anchor="ctr"/>
          <a:lstStyle/>
          <a:p>
            <a:pPr indent="0" marL="0">
              <a:buNone/>
            </a:pPr>
            <a:r>
              <a:rPr lang="en-US" sz="1570" dirty="0">
                <a:solidFill>
                  <a:srgbClr val="5F7379"/>
                </a:solidFill>
                <a:latin typeface="Aptos" pitchFamily="34" charset="0"/>
                <a:ea typeface="Aptos" pitchFamily="34" charset="-122"/>
                <a:cs typeface="Aptos" pitchFamily="34" charset="-120"/>
              </a:rPr>
              <a:t>52,3%</a:t>
            </a:r>
            <a:endParaRPr lang="en-US" sz="1570" dirty="0"/>
          </a:p>
        </p:txBody>
      </p:sp>
      <p:sp>
        <p:nvSpPr>
          <p:cNvPr id="13" name="Shape 11"/>
          <p:cNvSpPr/>
          <p:nvPr/>
        </p:nvSpPr>
        <p:spPr>
          <a:xfrm>
            <a:off x="3511296" y="1947672"/>
            <a:ext cx="2743200" cy="2688336"/>
          </a:xfrm>
          <a:prstGeom prst="roundRect">
            <a:avLst>
              <a:gd name="adj" fmla="val 4082"/>
            </a:avLst>
          </a:prstGeom>
          <a:solidFill>
            <a:srgbClr val="FFFFFF"/>
          </a:solidFill>
          <a:ln w="11430">
            <a:solidFill>
              <a:srgbClr val="D5DFDC"/>
            </a:solidFill>
            <a:prstDash val="solid"/>
          </a:ln>
        </p:spPr>
      </p:sp>
      <p:sp>
        <p:nvSpPr>
          <p:cNvPr id="14" name="Shape 12"/>
          <p:cNvSpPr/>
          <p:nvPr/>
        </p:nvSpPr>
        <p:spPr>
          <a:xfrm>
            <a:off x="3511296" y="1947672"/>
            <a:ext cx="2743200" cy="73152"/>
          </a:xfrm>
          <a:prstGeom prst="rect">
            <a:avLst/>
          </a:prstGeom>
          <a:solidFill>
            <a:srgbClr val="BD8F4C"/>
          </a:solidFill>
          <a:ln w="12700">
            <a:solidFill>
              <a:srgbClr val="BD8F4C">
                <a:alpha val="0"/>
              </a:srgbClr>
            </a:solidFill>
            <a:prstDash val="solid"/>
          </a:ln>
        </p:spPr>
      </p:sp>
      <p:sp>
        <p:nvSpPr>
          <p:cNvPr id="15" name="Text 13"/>
          <p:cNvSpPr/>
          <p:nvPr/>
        </p:nvSpPr>
        <p:spPr>
          <a:xfrm>
            <a:off x="3685032" y="2295144"/>
            <a:ext cx="2414016" cy="603504"/>
          </a:xfrm>
          <a:prstGeom prst="rect">
            <a:avLst/>
          </a:prstGeom>
          <a:noFill/>
          <a:ln/>
        </p:spPr>
        <p:txBody>
          <a:bodyPr wrap="square" lIns="0" tIns="0" rIns="0" bIns="0" rtlCol="0" anchor="ctr"/>
          <a:lstStyle/>
          <a:p>
            <a:pPr indent="0" marL="0">
              <a:buNone/>
            </a:pPr>
            <a:r>
              <a:rPr lang="en-US" sz="1670" b="1" dirty="0">
                <a:solidFill>
                  <a:srgbClr val="162B30"/>
                </a:solidFill>
                <a:latin typeface="Aptos" pitchFamily="34" charset="0"/>
                <a:ea typeface="Aptos" pitchFamily="34" charset="-122"/>
                <a:cs typeface="Aptos" pitchFamily="34" charset="-120"/>
              </a:rPr>
              <a:t>Sem movimento</a:t>
            </a:r>
            <a:endParaRPr lang="en-US" sz="1670" dirty="0"/>
          </a:p>
          <a:p>
            <a:pPr indent="0" marL="0">
              <a:buNone/>
            </a:pPr>
            <a:r>
              <a:rPr lang="en-US" sz="1670" b="1" dirty="0">
                <a:solidFill>
                  <a:srgbClr val="162B30"/>
                </a:solidFill>
                <a:latin typeface="Aptos" pitchFamily="34" charset="0"/>
                <a:ea typeface="Aptos" pitchFamily="34" charset="-122"/>
                <a:cs typeface="Aptos" pitchFamily="34" charset="-120"/>
              </a:rPr>
              <a:t>com cancelamento</a:t>
            </a:r>
            <a:endParaRPr lang="en-US" sz="1670" dirty="0"/>
          </a:p>
        </p:txBody>
      </p:sp>
      <p:sp>
        <p:nvSpPr>
          <p:cNvPr id="16" name="Text 14"/>
          <p:cNvSpPr/>
          <p:nvPr/>
        </p:nvSpPr>
        <p:spPr>
          <a:xfrm>
            <a:off x="3685032" y="3246120"/>
            <a:ext cx="2414016" cy="466344"/>
          </a:xfrm>
          <a:prstGeom prst="rect">
            <a:avLst/>
          </a:prstGeom>
          <a:noFill/>
          <a:ln/>
        </p:spPr>
        <p:txBody>
          <a:bodyPr wrap="square" lIns="0" tIns="0" rIns="0" bIns="0" rtlCol="0" anchor="ctr"/>
          <a:lstStyle/>
          <a:p>
            <a:pPr indent="0" marL="0">
              <a:buNone/>
            </a:pPr>
            <a:r>
              <a:rPr lang="en-US" sz="3050" b="1" dirty="0">
                <a:solidFill>
                  <a:srgbClr val="BD8F4C"/>
                </a:solidFill>
                <a:latin typeface="Aptos" pitchFamily="34" charset="0"/>
                <a:ea typeface="Aptos" pitchFamily="34" charset="-122"/>
                <a:cs typeface="Aptos" pitchFamily="34" charset="-120"/>
              </a:rPr>
              <a:t>32.318</a:t>
            </a:r>
            <a:endParaRPr lang="en-US" sz="3050" dirty="0"/>
          </a:p>
        </p:txBody>
      </p:sp>
      <p:sp>
        <p:nvSpPr>
          <p:cNvPr id="17" name="Text 15"/>
          <p:cNvSpPr/>
          <p:nvPr/>
        </p:nvSpPr>
        <p:spPr>
          <a:xfrm>
            <a:off x="3685032" y="3867912"/>
            <a:ext cx="2414016" cy="320040"/>
          </a:xfrm>
          <a:prstGeom prst="rect">
            <a:avLst/>
          </a:prstGeom>
          <a:noFill/>
          <a:ln/>
        </p:spPr>
        <p:txBody>
          <a:bodyPr wrap="square" lIns="0" tIns="0" rIns="0" bIns="0" rtlCol="0" anchor="ctr"/>
          <a:lstStyle/>
          <a:p>
            <a:pPr indent="0" marL="0">
              <a:buNone/>
            </a:pPr>
            <a:r>
              <a:rPr lang="en-US" sz="1570" dirty="0">
                <a:solidFill>
                  <a:srgbClr val="5F7379"/>
                </a:solidFill>
                <a:latin typeface="Aptos" pitchFamily="34" charset="0"/>
                <a:ea typeface="Aptos" pitchFamily="34" charset="-122"/>
                <a:cs typeface="Aptos" pitchFamily="34" charset="-120"/>
              </a:rPr>
              <a:t>13,0%</a:t>
            </a:r>
            <a:endParaRPr lang="en-US" sz="1570" dirty="0"/>
          </a:p>
        </p:txBody>
      </p:sp>
      <p:sp>
        <p:nvSpPr>
          <p:cNvPr id="18" name="Shape 16"/>
          <p:cNvSpPr/>
          <p:nvPr/>
        </p:nvSpPr>
        <p:spPr>
          <a:xfrm>
            <a:off x="6373368" y="1947672"/>
            <a:ext cx="2743200" cy="2688336"/>
          </a:xfrm>
          <a:prstGeom prst="roundRect">
            <a:avLst>
              <a:gd name="adj" fmla="val 4082"/>
            </a:avLst>
          </a:prstGeom>
          <a:solidFill>
            <a:srgbClr val="FFFFFF"/>
          </a:solidFill>
          <a:ln w="11430">
            <a:solidFill>
              <a:srgbClr val="D5DFDC"/>
            </a:solidFill>
            <a:prstDash val="solid"/>
          </a:ln>
        </p:spPr>
      </p:sp>
      <p:sp>
        <p:nvSpPr>
          <p:cNvPr id="19" name="Shape 17"/>
          <p:cNvSpPr/>
          <p:nvPr/>
        </p:nvSpPr>
        <p:spPr>
          <a:xfrm>
            <a:off x="6373368" y="1947672"/>
            <a:ext cx="2743200" cy="73152"/>
          </a:xfrm>
          <a:prstGeom prst="rect">
            <a:avLst/>
          </a:prstGeom>
          <a:solidFill>
            <a:srgbClr val="577F99"/>
          </a:solidFill>
          <a:ln w="12700">
            <a:solidFill>
              <a:srgbClr val="577F99">
                <a:alpha val="0"/>
              </a:srgbClr>
            </a:solidFill>
            <a:prstDash val="solid"/>
          </a:ln>
        </p:spPr>
      </p:sp>
      <p:sp>
        <p:nvSpPr>
          <p:cNvPr id="20" name="Text 18"/>
          <p:cNvSpPr/>
          <p:nvPr/>
        </p:nvSpPr>
        <p:spPr>
          <a:xfrm>
            <a:off x="6547104" y="2295144"/>
            <a:ext cx="2414016" cy="603504"/>
          </a:xfrm>
          <a:prstGeom prst="rect">
            <a:avLst/>
          </a:prstGeom>
          <a:noFill/>
          <a:ln/>
        </p:spPr>
        <p:txBody>
          <a:bodyPr wrap="square" lIns="0" tIns="0" rIns="0" bIns="0" rtlCol="0" anchor="ctr"/>
          <a:lstStyle/>
          <a:p>
            <a:pPr indent="0" marL="0">
              <a:buNone/>
            </a:pPr>
            <a:r>
              <a:rPr lang="en-US" sz="1670" b="1" dirty="0">
                <a:solidFill>
                  <a:srgbClr val="162B30"/>
                </a:solidFill>
                <a:latin typeface="Aptos" pitchFamily="34" charset="0"/>
                <a:ea typeface="Aptos" pitchFamily="34" charset="-122"/>
                <a:cs typeface="Aptos" pitchFamily="34" charset="-120"/>
              </a:rPr>
              <a:t>Com movimento</a:t>
            </a:r>
            <a:endParaRPr lang="en-US" sz="1670" dirty="0"/>
          </a:p>
          <a:p>
            <a:pPr indent="0" marL="0">
              <a:buNone/>
            </a:pPr>
            <a:r>
              <a:rPr lang="en-US" sz="1670" b="1" dirty="0">
                <a:solidFill>
                  <a:srgbClr val="162B30"/>
                </a:solidFill>
                <a:latin typeface="Aptos" pitchFamily="34" charset="0"/>
                <a:ea typeface="Aptos" pitchFamily="34" charset="-122"/>
                <a:cs typeface="Aptos" pitchFamily="34" charset="-120"/>
              </a:rPr>
              <a:t>sem cancelamento</a:t>
            </a:r>
            <a:endParaRPr lang="en-US" sz="1670" dirty="0"/>
          </a:p>
        </p:txBody>
      </p:sp>
      <p:sp>
        <p:nvSpPr>
          <p:cNvPr id="21" name="Text 19"/>
          <p:cNvSpPr/>
          <p:nvPr/>
        </p:nvSpPr>
        <p:spPr>
          <a:xfrm>
            <a:off x="6547104" y="3246120"/>
            <a:ext cx="2414016" cy="466344"/>
          </a:xfrm>
          <a:prstGeom prst="rect">
            <a:avLst/>
          </a:prstGeom>
          <a:noFill/>
          <a:ln/>
        </p:spPr>
        <p:txBody>
          <a:bodyPr wrap="square" lIns="0" tIns="0" rIns="0" bIns="0" rtlCol="0" anchor="ctr"/>
          <a:lstStyle/>
          <a:p>
            <a:pPr indent="0" marL="0">
              <a:buNone/>
            </a:pPr>
            <a:r>
              <a:rPr lang="en-US" sz="3050" b="1" dirty="0">
                <a:solidFill>
                  <a:srgbClr val="577F99"/>
                </a:solidFill>
                <a:latin typeface="Aptos" pitchFamily="34" charset="0"/>
                <a:ea typeface="Aptos" pitchFamily="34" charset="-122"/>
                <a:cs typeface="Aptos" pitchFamily="34" charset="-120"/>
              </a:rPr>
              <a:t>73.379</a:t>
            </a:r>
            <a:endParaRPr lang="en-US" sz="3050" dirty="0"/>
          </a:p>
        </p:txBody>
      </p:sp>
      <p:sp>
        <p:nvSpPr>
          <p:cNvPr id="22" name="Text 20"/>
          <p:cNvSpPr/>
          <p:nvPr/>
        </p:nvSpPr>
        <p:spPr>
          <a:xfrm>
            <a:off x="6547104" y="3867912"/>
            <a:ext cx="2414016" cy="320040"/>
          </a:xfrm>
          <a:prstGeom prst="rect">
            <a:avLst/>
          </a:prstGeom>
          <a:noFill/>
          <a:ln/>
        </p:spPr>
        <p:txBody>
          <a:bodyPr wrap="square" lIns="0" tIns="0" rIns="0" bIns="0" rtlCol="0" anchor="ctr"/>
          <a:lstStyle/>
          <a:p>
            <a:pPr indent="0" marL="0">
              <a:buNone/>
            </a:pPr>
            <a:r>
              <a:rPr lang="en-US" sz="1570" dirty="0">
                <a:solidFill>
                  <a:srgbClr val="5F7379"/>
                </a:solidFill>
                <a:latin typeface="Aptos" pitchFamily="34" charset="0"/>
                <a:ea typeface="Aptos" pitchFamily="34" charset="-122"/>
                <a:cs typeface="Aptos" pitchFamily="34" charset="-120"/>
              </a:rPr>
              <a:t>29,4%</a:t>
            </a:r>
            <a:endParaRPr lang="en-US" sz="1570" dirty="0"/>
          </a:p>
        </p:txBody>
      </p:sp>
      <p:sp>
        <p:nvSpPr>
          <p:cNvPr id="23" name="Shape 21"/>
          <p:cNvSpPr/>
          <p:nvPr/>
        </p:nvSpPr>
        <p:spPr>
          <a:xfrm>
            <a:off x="9235440" y="1947672"/>
            <a:ext cx="2743200" cy="2688336"/>
          </a:xfrm>
          <a:prstGeom prst="roundRect">
            <a:avLst>
              <a:gd name="adj" fmla="val 4082"/>
            </a:avLst>
          </a:prstGeom>
          <a:solidFill>
            <a:srgbClr val="FFFFFF"/>
          </a:solidFill>
          <a:ln w="11430">
            <a:solidFill>
              <a:srgbClr val="D5DFDC"/>
            </a:solidFill>
            <a:prstDash val="solid"/>
          </a:ln>
        </p:spPr>
      </p:sp>
      <p:sp>
        <p:nvSpPr>
          <p:cNvPr id="24" name="Shape 22"/>
          <p:cNvSpPr/>
          <p:nvPr/>
        </p:nvSpPr>
        <p:spPr>
          <a:xfrm>
            <a:off x="9235440" y="1947672"/>
            <a:ext cx="2743200" cy="73152"/>
          </a:xfrm>
          <a:prstGeom prst="rect">
            <a:avLst/>
          </a:prstGeom>
          <a:solidFill>
            <a:srgbClr val="AE6A5B"/>
          </a:solidFill>
          <a:ln w="12700">
            <a:solidFill>
              <a:srgbClr val="AE6A5B">
                <a:alpha val="0"/>
              </a:srgbClr>
            </a:solidFill>
            <a:prstDash val="solid"/>
          </a:ln>
        </p:spPr>
      </p:sp>
      <p:sp>
        <p:nvSpPr>
          <p:cNvPr id="25" name="Text 23"/>
          <p:cNvSpPr/>
          <p:nvPr/>
        </p:nvSpPr>
        <p:spPr>
          <a:xfrm>
            <a:off x="9409176" y="2295144"/>
            <a:ext cx="2414016" cy="603504"/>
          </a:xfrm>
          <a:prstGeom prst="rect">
            <a:avLst/>
          </a:prstGeom>
          <a:noFill/>
          <a:ln/>
        </p:spPr>
        <p:txBody>
          <a:bodyPr wrap="square" lIns="0" tIns="0" rIns="0" bIns="0" rtlCol="0" anchor="ctr"/>
          <a:lstStyle/>
          <a:p>
            <a:pPr indent="0" marL="0">
              <a:buNone/>
            </a:pPr>
            <a:r>
              <a:rPr lang="en-US" sz="1670" b="1" dirty="0">
                <a:solidFill>
                  <a:srgbClr val="162B30"/>
                </a:solidFill>
                <a:latin typeface="Aptos" pitchFamily="34" charset="0"/>
                <a:ea typeface="Aptos" pitchFamily="34" charset="-122"/>
                <a:cs typeface="Aptos" pitchFamily="34" charset="-120"/>
              </a:rPr>
              <a:t>Com movimento</a:t>
            </a:r>
            <a:endParaRPr lang="en-US" sz="1670" dirty="0"/>
          </a:p>
          <a:p>
            <a:pPr indent="0" marL="0">
              <a:buNone/>
            </a:pPr>
            <a:r>
              <a:rPr lang="en-US" sz="1670" b="1" dirty="0">
                <a:solidFill>
                  <a:srgbClr val="162B30"/>
                </a:solidFill>
                <a:latin typeface="Aptos" pitchFamily="34" charset="0"/>
                <a:ea typeface="Aptos" pitchFamily="34" charset="-122"/>
                <a:cs typeface="Aptos" pitchFamily="34" charset="-120"/>
              </a:rPr>
              <a:t>com cancelamento</a:t>
            </a:r>
            <a:endParaRPr lang="en-US" sz="1670" dirty="0"/>
          </a:p>
        </p:txBody>
      </p:sp>
      <p:sp>
        <p:nvSpPr>
          <p:cNvPr id="26" name="Text 24"/>
          <p:cNvSpPr/>
          <p:nvPr/>
        </p:nvSpPr>
        <p:spPr>
          <a:xfrm>
            <a:off x="9409176" y="3246120"/>
            <a:ext cx="2414016" cy="466344"/>
          </a:xfrm>
          <a:prstGeom prst="rect">
            <a:avLst/>
          </a:prstGeom>
          <a:noFill/>
          <a:ln/>
        </p:spPr>
        <p:txBody>
          <a:bodyPr wrap="square" lIns="0" tIns="0" rIns="0" bIns="0" rtlCol="0" anchor="ctr"/>
          <a:lstStyle/>
          <a:p>
            <a:pPr indent="0" marL="0">
              <a:buNone/>
            </a:pPr>
            <a:r>
              <a:rPr lang="en-US" sz="3050" b="1" dirty="0">
                <a:solidFill>
                  <a:srgbClr val="AE6A5B"/>
                </a:solidFill>
                <a:latin typeface="Aptos" pitchFamily="34" charset="0"/>
                <a:ea typeface="Aptos" pitchFamily="34" charset="-122"/>
                <a:cs typeface="Aptos" pitchFamily="34" charset="-120"/>
              </a:rPr>
              <a:t>13.161</a:t>
            </a:r>
            <a:endParaRPr lang="en-US" sz="3050" dirty="0"/>
          </a:p>
        </p:txBody>
      </p:sp>
      <p:sp>
        <p:nvSpPr>
          <p:cNvPr id="27" name="Text 25"/>
          <p:cNvSpPr/>
          <p:nvPr/>
        </p:nvSpPr>
        <p:spPr>
          <a:xfrm>
            <a:off x="9409176" y="3867912"/>
            <a:ext cx="2414016" cy="320040"/>
          </a:xfrm>
          <a:prstGeom prst="rect">
            <a:avLst/>
          </a:prstGeom>
          <a:noFill/>
          <a:ln/>
        </p:spPr>
        <p:txBody>
          <a:bodyPr wrap="square" lIns="0" tIns="0" rIns="0" bIns="0" rtlCol="0" anchor="ctr"/>
          <a:lstStyle/>
          <a:p>
            <a:pPr indent="0" marL="0">
              <a:buNone/>
            </a:pPr>
            <a:r>
              <a:rPr lang="en-US" sz="1570" dirty="0">
                <a:solidFill>
                  <a:srgbClr val="5F7379"/>
                </a:solidFill>
                <a:latin typeface="Aptos" pitchFamily="34" charset="0"/>
                <a:ea typeface="Aptos" pitchFamily="34" charset="-122"/>
                <a:cs typeface="Aptos" pitchFamily="34" charset="-120"/>
              </a:rPr>
              <a:t>5,3%</a:t>
            </a:r>
            <a:endParaRPr lang="en-US" sz="1570" dirty="0"/>
          </a:p>
        </p:txBody>
      </p:sp>
      <p:sp>
        <p:nvSpPr>
          <p:cNvPr id="28" name="Shape 26"/>
          <p:cNvSpPr/>
          <p:nvPr/>
        </p:nvSpPr>
        <p:spPr>
          <a:xfrm>
            <a:off x="658368" y="5230368"/>
            <a:ext cx="10972800" cy="438912"/>
          </a:xfrm>
          <a:prstGeom prst="roundRect">
            <a:avLst>
              <a:gd name="adj" fmla="val 25000"/>
            </a:avLst>
          </a:prstGeom>
          <a:solidFill>
            <a:srgbClr val="E5F0EB"/>
          </a:solidFill>
          <a:ln w="12700">
            <a:solidFill>
              <a:srgbClr val="E5F0EB">
                <a:alpha val="0"/>
              </a:srgbClr>
            </a:solidFill>
            <a:prstDash val="solid"/>
          </a:ln>
        </p:spPr>
      </p:sp>
      <p:sp>
        <p:nvSpPr>
          <p:cNvPr id="29" name="Text 27"/>
          <p:cNvSpPr/>
          <p:nvPr/>
        </p:nvSpPr>
        <p:spPr>
          <a:xfrm>
            <a:off x="813816" y="5294376"/>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32.318 casos retidos tiveram cancelamento sem qualquer FLAG_MOV.</a:t>
            </a:r>
            <a:endParaRPr lang="en-US" sz="1170" dirty="0"/>
          </a:p>
        </p:txBody>
      </p:sp>
      <p:sp>
        <p:nvSpPr>
          <p:cNvPr id="30" name="Text 28"/>
          <p:cNvSpPr/>
          <p:nvPr/>
        </p:nvSpPr>
        <p:spPr>
          <a:xfrm>
            <a:off x="813816" y="5445252"/>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Categorias mutuamente exclusivas por ocorrência de qualquer FLAG_MOV e de qualquer FLAG_CANC.</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VALORES M0 → M30</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Cancelamentos de produto acompanham as maiores quedas de valor</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06</a:t>
            </a:r>
            <a:endParaRPr lang="en-US" sz="1050" dirty="0"/>
          </a:p>
        </p:txBody>
      </p:sp>
      <p:sp>
        <p:nvSpPr>
          <p:cNvPr id="8" name="Text 6"/>
          <p:cNvSpPr/>
          <p:nvPr/>
        </p:nvSpPr>
        <p:spPr>
          <a:xfrm>
            <a:off x="722376" y="2039112"/>
            <a:ext cx="4663440" cy="292608"/>
          </a:xfrm>
          <a:prstGeom prst="rect">
            <a:avLst/>
          </a:prstGeom>
          <a:noFill/>
          <a:ln/>
        </p:spPr>
        <p:txBody>
          <a:bodyPr wrap="square" lIns="0" tIns="0" rIns="0" bIns="0" rtlCol="0" anchor="ctr"/>
          <a:lstStyle/>
          <a:p>
            <a:pPr indent="0" marL="0">
              <a:buNone/>
            </a:pPr>
            <a:r>
              <a:rPr lang="en-US" sz="1700" b="1" dirty="0">
                <a:solidFill>
                  <a:srgbClr val="162B30"/>
                </a:solidFill>
                <a:latin typeface="Aptos" pitchFamily="34" charset="0"/>
                <a:ea typeface="Aptos" pitchFamily="34" charset="-122"/>
                <a:cs typeface="Aptos" pitchFamily="34" charset="-120"/>
              </a:rPr>
              <a:t>Sem movimento e sem cancelamento</a:t>
            </a:r>
            <a:endParaRPr lang="en-US" sz="1700" dirty="0"/>
          </a:p>
        </p:txBody>
      </p:sp>
      <p:sp>
        <p:nvSpPr>
          <p:cNvPr id="9" name="Shape 7"/>
          <p:cNvSpPr/>
          <p:nvPr/>
        </p:nvSpPr>
        <p:spPr>
          <a:xfrm>
            <a:off x="5577840" y="2061972"/>
            <a:ext cx="3913632" cy="201168"/>
          </a:xfrm>
          <a:prstGeom prst="rect">
            <a:avLst/>
          </a:prstGeom>
          <a:solidFill>
            <a:srgbClr val="EDF1F0"/>
          </a:solidFill>
          <a:ln w="12700">
            <a:solidFill>
              <a:srgbClr val="EDF1F0">
                <a:alpha val="0"/>
              </a:srgbClr>
            </a:solidFill>
            <a:prstDash val="solid"/>
          </a:ln>
        </p:spPr>
      </p:sp>
      <p:sp>
        <p:nvSpPr>
          <p:cNvPr id="10" name="Text 8"/>
          <p:cNvSpPr/>
          <p:nvPr/>
        </p:nvSpPr>
        <p:spPr>
          <a:xfrm>
            <a:off x="9701784" y="2039112"/>
            <a:ext cx="1133856" cy="265176"/>
          </a:xfrm>
          <a:prstGeom prst="rect">
            <a:avLst/>
          </a:prstGeom>
          <a:noFill/>
          <a:ln/>
        </p:spPr>
        <p:txBody>
          <a:bodyPr wrap="square" lIns="0" tIns="0" rIns="0" bIns="0" rtlCol="0" anchor="ctr"/>
          <a:lstStyle/>
          <a:p>
            <a:pPr algn="r" indent="0" marL="0">
              <a:buNone/>
            </a:pPr>
            <a:r>
              <a:rPr lang="en-US" sz="1800" b="1" dirty="0">
                <a:solidFill>
                  <a:srgbClr val="1E6159"/>
                </a:solidFill>
                <a:latin typeface="Aptos" pitchFamily="34" charset="0"/>
                <a:ea typeface="Aptos" pitchFamily="34" charset="-122"/>
                <a:cs typeface="Aptos" pitchFamily="34" charset="-120"/>
              </a:rPr>
              <a:t>0,00</a:t>
            </a:r>
            <a:endParaRPr lang="en-US" sz="1800" dirty="0"/>
          </a:p>
        </p:txBody>
      </p:sp>
      <p:sp>
        <p:nvSpPr>
          <p:cNvPr id="11" name="Text 9"/>
          <p:cNvSpPr/>
          <p:nvPr/>
        </p:nvSpPr>
        <p:spPr>
          <a:xfrm>
            <a:off x="722376" y="2359152"/>
            <a:ext cx="3840480" cy="182880"/>
          </a:xfrm>
          <a:prstGeom prst="rect">
            <a:avLst/>
          </a:prstGeom>
          <a:noFill/>
          <a:ln/>
        </p:spPr>
        <p:txBody>
          <a:bodyPr wrap="square" lIns="0" tIns="0" rIns="0" bIns="0" rtlCol="0" anchor="ctr"/>
          <a:lstStyle/>
          <a:p>
            <a:pPr indent="0" marL="0">
              <a:buNone/>
            </a:pPr>
            <a:r>
              <a:rPr lang="en-US" sz="1100" dirty="0">
                <a:solidFill>
                  <a:srgbClr val="5F7379"/>
                </a:solidFill>
                <a:latin typeface="Aptos" pitchFamily="34" charset="0"/>
                <a:ea typeface="Aptos" pitchFamily="34" charset="-122"/>
                <a:cs typeface="Aptos" pitchFamily="34" charset="-120"/>
              </a:rPr>
              <a:t>n = 130.451</a:t>
            </a:r>
            <a:endParaRPr lang="en-US" sz="1100" dirty="0"/>
          </a:p>
        </p:txBody>
      </p:sp>
      <p:sp>
        <p:nvSpPr>
          <p:cNvPr id="12" name="Text 10"/>
          <p:cNvSpPr/>
          <p:nvPr/>
        </p:nvSpPr>
        <p:spPr>
          <a:xfrm>
            <a:off x="722376" y="2788920"/>
            <a:ext cx="4663440" cy="292608"/>
          </a:xfrm>
          <a:prstGeom prst="rect">
            <a:avLst/>
          </a:prstGeom>
          <a:noFill/>
          <a:ln/>
        </p:spPr>
        <p:txBody>
          <a:bodyPr wrap="square" lIns="0" tIns="0" rIns="0" bIns="0" rtlCol="0" anchor="ctr"/>
          <a:lstStyle/>
          <a:p>
            <a:pPr indent="0" marL="0">
              <a:buNone/>
            </a:pPr>
            <a:r>
              <a:rPr lang="en-US" sz="1700" b="1" dirty="0">
                <a:solidFill>
                  <a:srgbClr val="162B30"/>
                </a:solidFill>
                <a:latin typeface="Aptos" pitchFamily="34" charset="0"/>
                <a:ea typeface="Aptos" pitchFamily="34" charset="-122"/>
                <a:cs typeface="Aptos" pitchFamily="34" charset="-120"/>
              </a:rPr>
              <a:t>Somente cancelamento</a:t>
            </a:r>
            <a:endParaRPr lang="en-US" sz="1700" dirty="0"/>
          </a:p>
        </p:txBody>
      </p:sp>
      <p:sp>
        <p:nvSpPr>
          <p:cNvPr id="13" name="Shape 11"/>
          <p:cNvSpPr/>
          <p:nvPr/>
        </p:nvSpPr>
        <p:spPr>
          <a:xfrm>
            <a:off x="5577840" y="2811780"/>
            <a:ext cx="3913632" cy="201168"/>
          </a:xfrm>
          <a:prstGeom prst="rect">
            <a:avLst/>
          </a:prstGeom>
          <a:solidFill>
            <a:srgbClr val="EDF1F0"/>
          </a:solidFill>
          <a:ln w="12700">
            <a:solidFill>
              <a:srgbClr val="EDF1F0">
                <a:alpha val="0"/>
              </a:srgbClr>
            </a:solidFill>
            <a:prstDash val="solid"/>
          </a:ln>
        </p:spPr>
      </p:sp>
      <p:sp>
        <p:nvSpPr>
          <p:cNvPr id="14" name="Shape 12"/>
          <p:cNvSpPr/>
          <p:nvPr/>
        </p:nvSpPr>
        <p:spPr>
          <a:xfrm>
            <a:off x="5577840" y="2811780"/>
            <a:ext cx="3665536" cy="201168"/>
          </a:xfrm>
          <a:prstGeom prst="rect">
            <a:avLst/>
          </a:prstGeom>
          <a:solidFill>
            <a:srgbClr val="BD8F4C"/>
          </a:solidFill>
          <a:ln w="12700">
            <a:solidFill>
              <a:srgbClr val="BD8F4C">
                <a:alpha val="0"/>
              </a:srgbClr>
            </a:solidFill>
            <a:prstDash val="solid"/>
          </a:ln>
        </p:spPr>
      </p:sp>
      <p:sp>
        <p:nvSpPr>
          <p:cNvPr id="15" name="Text 13"/>
          <p:cNvSpPr/>
          <p:nvPr/>
        </p:nvSpPr>
        <p:spPr>
          <a:xfrm>
            <a:off x="9701784" y="2788920"/>
            <a:ext cx="1133856" cy="265176"/>
          </a:xfrm>
          <a:prstGeom prst="rect">
            <a:avLst/>
          </a:prstGeom>
          <a:noFill/>
          <a:ln/>
        </p:spPr>
        <p:txBody>
          <a:bodyPr wrap="square" lIns="0" tIns="0" rIns="0" bIns="0" rtlCol="0" anchor="ctr"/>
          <a:lstStyle/>
          <a:p>
            <a:pPr algn="r" indent="0" marL="0">
              <a:buNone/>
            </a:pPr>
            <a:r>
              <a:rPr lang="en-US" sz="1800" b="1" dirty="0">
                <a:solidFill>
                  <a:srgbClr val="BD8F4C"/>
                </a:solidFill>
                <a:latin typeface="Aptos" pitchFamily="34" charset="0"/>
                <a:ea typeface="Aptos" pitchFamily="34" charset="-122"/>
                <a:cs typeface="Aptos" pitchFamily="34" charset="-120"/>
              </a:rPr>
              <a:t>-104,90</a:t>
            </a:r>
            <a:endParaRPr lang="en-US" sz="1800" dirty="0"/>
          </a:p>
        </p:txBody>
      </p:sp>
      <p:sp>
        <p:nvSpPr>
          <p:cNvPr id="16" name="Text 14"/>
          <p:cNvSpPr/>
          <p:nvPr/>
        </p:nvSpPr>
        <p:spPr>
          <a:xfrm>
            <a:off x="722376" y="3108960"/>
            <a:ext cx="3840480" cy="182880"/>
          </a:xfrm>
          <a:prstGeom prst="rect">
            <a:avLst/>
          </a:prstGeom>
          <a:noFill/>
          <a:ln/>
        </p:spPr>
        <p:txBody>
          <a:bodyPr wrap="square" lIns="0" tIns="0" rIns="0" bIns="0" rtlCol="0" anchor="ctr"/>
          <a:lstStyle/>
          <a:p>
            <a:pPr indent="0" marL="0">
              <a:buNone/>
            </a:pPr>
            <a:r>
              <a:rPr lang="en-US" sz="1100" dirty="0">
                <a:solidFill>
                  <a:srgbClr val="5F7379"/>
                </a:solidFill>
                <a:latin typeface="Aptos" pitchFamily="34" charset="0"/>
                <a:ea typeface="Aptos" pitchFamily="34" charset="-122"/>
                <a:cs typeface="Aptos" pitchFamily="34" charset="-120"/>
              </a:rPr>
              <a:t>n = 32.318</a:t>
            </a:r>
            <a:endParaRPr lang="en-US" sz="1100" dirty="0"/>
          </a:p>
        </p:txBody>
      </p:sp>
      <p:sp>
        <p:nvSpPr>
          <p:cNvPr id="17" name="Text 15"/>
          <p:cNvSpPr/>
          <p:nvPr/>
        </p:nvSpPr>
        <p:spPr>
          <a:xfrm>
            <a:off x="722376" y="3538728"/>
            <a:ext cx="4663440" cy="292608"/>
          </a:xfrm>
          <a:prstGeom prst="rect">
            <a:avLst/>
          </a:prstGeom>
          <a:noFill/>
          <a:ln/>
        </p:spPr>
        <p:txBody>
          <a:bodyPr wrap="square" lIns="0" tIns="0" rIns="0" bIns="0" rtlCol="0" anchor="ctr"/>
          <a:lstStyle/>
          <a:p>
            <a:pPr indent="0" marL="0">
              <a:buNone/>
            </a:pPr>
            <a:r>
              <a:rPr lang="en-US" sz="1700" b="1" dirty="0">
                <a:solidFill>
                  <a:srgbClr val="162B30"/>
                </a:solidFill>
                <a:latin typeface="Aptos" pitchFamily="34" charset="0"/>
                <a:ea typeface="Aptos" pitchFamily="34" charset="-122"/>
                <a:cs typeface="Aptos" pitchFamily="34" charset="-120"/>
              </a:rPr>
              <a:t>Somente movimentação</a:t>
            </a:r>
            <a:endParaRPr lang="en-US" sz="1700" dirty="0"/>
          </a:p>
        </p:txBody>
      </p:sp>
      <p:sp>
        <p:nvSpPr>
          <p:cNvPr id="18" name="Shape 16"/>
          <p:cNvSpPr/>
          <p:nvPr/>
        </p:nvSpPr>
        <p:spPr>
          <a:xfrm>
            <a:off x="5577840" y="3561588"/>
            <a:ext cx="3913632" cy="201168"/>
          </a:xfrm>
          <a:prstGeom prst="rect">
            <a:avLst/>
          </a:prstGeom>
          <a:solidFill>
            <a:srgbClr val="EDF1F0"/>
          </a:solidFill>
          <a:ln w="12700">
            <a:solidFill>
              <a:srgbClr val="EDF1F0">
                <a:alpha val="0"/>
              </a:srgbClr>
            </a:solidFill>
            <a:prstDash val="solid"/>
          </a:ln>
        </p:spPr>
      </p:sp>
      <p:sp>
        <p:nvSpPr>
          <p:cNvPr id="19" name="Shape 17"/>
          <p:cNvSpPr/>
          <p:nvPr/>
        </p:nvSpPr>
        <p:spPr>
          <a:xfrm>
            <a:off x="5577840" y="3561588"/>
            <a:ext cx="785522" cy="201168"/>
          </a:xfrm>
          <a:prstGeom prst="rect">
            <a:avLst/>
          </a:prstGeom>
          <a:solidFill>
            <a:srgbClr val="577F99"/>
          </a:solidFill>
          <a:ln w="12700">
            <a:solidFill>
              <a:srgbClr val="577F99">
                <a:alpha val="0"/>
              </a:srgbClr>
            </a:solidFill>
            <a:prstDash val="solid"/>
          </a:ln>
        </p:spPr>
      </p:sp>
      <p:sp>
        <p:nvSpPr>
          <p:cNvPr id="20" name="Text 18"/>
          <p:cNvSpPr/>
          <p:nvPr/>
        </p:nvSpPr>
        <p:spPr>
          <a:xfrm>
            <a:off x="9701784" y="3538728"/>
            <a:ext cx="1133856" cy="265176"/>
          </a:xfrm>
          <a:prstGeom prst="rect">
            <a:avLst/>
          </a:prstGeom>
          <a:noFill/>
          <a:ln/>
        </p:spPr>
        <p:txBody>
          <a:bodyPr wrap="square" lIns="0" tIns="0" rIns="0" bIns="0" rtlCol="0" anchor="ctr"/>
          <a:lstStyle/>
          <a:p>
            <a:pPr algn="r" indent="0" marL="0">
              <a:buNone/>
            </a:pPr>
            <a:r>
              <a:rPr lang="en-US" sz="1800" b="1" dirty="0">
                <a:solidFill>
                  <a:srgbClr val="577F99"/>
                </a:solidFill>
                <a:latin typeface="Aptos" pitchFamily="34" charset="0"/>
                <a:ea typeface="Aptos" pitchFamily="34" charset="-122"/>
                <a:cs typeface="Aptos" pitchFamily="34" charset="-120"/>
              </a:rPr>
              <a:t>-22,48</a:t>
            </a:r>
            <a:endParaRPr lang="en-US" sz="1800" dirty="0"/>
          </a:p>
        </p:txBody>
      </p:sp>
      <p:sp>
        <p:nvSpPr>
          <p:cNvPr id="21" name="Text 19"/>
          <p:cNvSpPr/>
          <p:nvPr/>
        </p:nvSpPr>
        <p:spPr>
          <a:xfrm>
            <a:off x="722376" y="3858768"/>
            <a:ext cx="3840480" cy="182880"/>
          </a:xfrm>
          <a:prstGeom prst="rect">
            <a:avLst/>
          </a:prstGeom>
          <a:noFill/>
          <a:ln/>
        </p:spPr>
        <p:txBody>
          <a:bodyPr wrap="square" lIns="0" tIns="0" rIns="0" bIns="0" rtlCol="0" anchor="ctr"/>
          <a:lstStyle/>
          <a:p>
            <a:pPr indent="0" marL="0">
              <a:buNone/>
            </a:pPr>
            <a:r>
              <a:rPr lang="en-US" sz="1100" dirty="0">
                <a:solidFill>
                  <a:srgbClr val="5F7379"/>
                </a:solidFill>
                <a:latin typeface="Aptos" pitchFamily="34" charset="0"/>
                <a:ea typeface="Aptos" pitchFamily="34" charset="-122"/>
                <a:cs typeface="Aptos" pitchFamily="34" charset="-120"/>
              </a:rPr>
              <a:t>n = 73.379</a:t>
            </a:r>
            <a:endParaRPr lang="en-US" sz="1100" dirty="0"/>
          </a:p>
        </p:txBody>
      </p:sp>
      <p:sp>
        <p:nvSpPr>
          <p:cNvPr id="22" name="Text 20"/>
          <p:cNvSpPr/>
          <p:nvPr/>
        </p:nvSpPr>
        <p:spPr>
          <a:xfrm>
            <a:off x="722376" y="4288536"/>
            <a:ext cx="4663440" cy="292608"/>
          </a:xfrm>
          <a:prstGeom prst="rect">
            <a:avLst/>
          </a:prstGeom>
          <a:noFill/>
          <a:ln/>
        </p:spPr>
        <p:txBody>
          <a:bodyPr wrap="square" lIns="0" tIns="0" rIns="0" bIns="0" rtlCol="0" anchor="ctr"/>
          <a:lstStyle/>
          <a:p>
            <a:pPr indent="0" marL="0">
              <a:buNone/>
            </a:pPr>
            <a:r>
              <a:rPr lang="en-US" sz="1700" b="1" dirty="0">
                <a:solidFill>
                  <a:srgbClr val="162B30"/>
                </a:solidFill>
                <a:latin typeface="Aptos" pitchFamily="34" charset="0"/>
                <a:ea typeface="Aptos" pitchFamily="34" charset="-122"/>
                <a:cs typeface="Aptos" pitchFamily="34" charset="-120"/>
              </a:rPr>
              <a:t>Movimentação e cancelamento</a:t>
            </a:r>
            <a:endParaRPr lang="en-US" sz="1700" dirty="0"/>
          </a:p>
        </p:txBody>
      </p:sp>
      <p:sp>
        <p:nvSpPr>
          <p:cNvPr id="23" name="Shape 21"/>
          <p:cNvSpPr/>
          <p:nvPr/>
        </p:nvSpPr>
        <p:spPr>
          <a:xfrm>
            <a:off x="5577840" y="4311396"/>
            <a:ext cx="3913632" cy="201168"/>
          </a:xfrm>
          <a:prstGeom prst="rect">
            <a:avLst/>
          </a:prstGeom>
          <a:solidFill>
            <a:srgbClr val="EDF1F0"/>
          </a:solidFill>
          <a:ln w="12700">
            <a:solidFill>
              <a:srgbClr val="EDF1F0">
                <a:alpha val="0"/>
              </a:srgbClr>
            </a:solidFill>
            <a:prstDash val="solid"/>
          </a:ln>
        </p:spPr>
      </p:sp>
      <p:sp>
        <p:nvSpPr>
          <p:cNvPr id="24" name="Shape 22"/>
          <p:cNvSpPr/>
          <p:nvPr/>
        </p:nvSpPr>
        <p:spPr>
          <a:xfrm>
            <a:off x="5577840" y="4311396"/>
            <a:ext cx="3108542" cy="201168"/>
          </a:xfrm>
          <a:prstGeom prst="rect">
            <a:avLst/>
          </a:prstGeom>
          <a:solidFill>
            <a:srgbClr val="AE6A5B"/>
          </a:solidFill>
          <a:ln w="12700">
            <a:solidFill>
              <a:srgbClr val="AE6A5B">
                <a:alpha val="0"/>
              </a:srgbClr>
            </a:solidFill>
            <a:prstDash val="solid"/>
          </a:ln>
        </p:spPr>
      </p:sp>
      <p:sp>
        <p:nvSpPr>
          <p:cNvPr id="25" name="Text 23"/>
          <p:cNvSpPr/>
          <p:nvPr/>
        </p:nvSpPr>
        <p:spPr>
          <a:xfrm>
            <a:off x="9701784" y="4288536"/>
            <a:ext cx="1133856" cy="265176"/>
          </a:xfrm>
          <a:prstGeom prst="rect">
            <a:avLst/>
          </a:prstGeom>
          <a:noFill/>
          <a:ln/>
        </p:spPr>
        <p:txBody>
          <a:bodyPr wrap="square" lIns="0" tIns="0" rIns="0" bIns="0" rtlCol="0" anchor="ctr"/>
          <a:lstStyle/>
          <a:p>
            <a:pPr algn="r" indent="0" marL="0">
              <a:buNone/>
            </a:pPr>
            <a:r>
              <a:rPr lang="en-US" sz="1800" b="1" dirty="0">
                <a:solidFill>
                  <a:srgbClr val="AE6A5B"/>
                </a:solidFill>
                <a:latin typeface="Aptos" pitchFamily="34" charset="0"/>
                <a:ea typeface="Aptos" pitchFamily="34" charset="-122"/>
                <a:cs typeface="Aptos" pitchFamily="34" charset="-120"/>
              </a:rPr>
              <a:t>-88,96</a:t>
            </a:r>
            <a:endParaRPr lang="en-US" sz="1800" dirty="0"/>
          </a:p>
        </p:txBody>
      </p:sp>
      <p:sp>
        <p:nvSpPr>
          <p:cNvPr id="26" name="Text 24"/>
          <p:cNvSpPr/>
          <p:nvPr/>
        </p:nvSpPr>
        <p:spPr>
          <a:xfrm>
            <a:off x="722376" y="4608576"/>
            <a:ext cx="3840480" cy="182880"/>
          </a:xfrm>
          <a:prstGeom prst="rect">
            <a:avLst/>
          </a:prstGeom>
          <a:noFill/>
          <a:ln/>
        </p:spPr>
        <p:txBody>
          <a:bodyPr wrap="square" lIns="0" tIns="0" rIns="0" bIns="0" rtlCol="0" anchor="ctr"/>
          <a:lstStyle/>
          <a:p>
            <a:pPr indent="0" marL="0">
              <a:buNone/>
            </a:pPr>
            <a:r>
              <a:rPr lang="en-US" sz="1100" dirty="0">
                <a:solidFill>
                  <a:srgbClr val="5F7379"/>
                </a:solidFill>
                <a:latin typeface="Aptos" pitchFamily="34" charset="0"/>
                <a:ea typeface="Aptos" pitchFamily="34" charset="-122"/>
                <a:cs typeface="Aptos" pitchFamily="34" charset="-120"/>
              </a:rPr>
              <a:t>n = 13.161</a:t>
            </a:r>
            <a:endParaRPr lang="en-US" sz="1100" dirty="0"/>
          </a:p>
        </p:txBody>
      </p:sp>
      <p:sp>
        <p:nvSpPr>
          <p:cNvPr id="27" name="Shape 25"/>
          <p:cNvSpPr/>
          <p:nvPr/>
        </p:nvSpPr>
        <p:spPr>
          <a:xfrm>
            <a:off x="658368" y="5404104"/>
            <a:ext cx="10972800" cy="438912"/>
          </a:xfrm>
          <a:prstGeom prst="roundRect">
            <a:avLst>
              <a:gd name="adj" fmla="val 25000"/>
            </a:avLst>
          </a:prstGeom>
          <a:solidFill>
            <a:srgbClr val="E5F0EB"/>
          </a:solidFill>
          <a:ln w="12700">
            <a:solidFill>
              <a:srgbClr val="E5F0EB">
                <a:alpha val="0"/>
              </a:srgbClr>
            </a:solidFill>
            <a:prstDash val="solid"/>
          </a:ln>
        </p:spPr>
      </p:sp>
      <p:sp>
        <p:nvSpPr>
          <p:cNvPr id="28" name="Text 26"/>
          <p:cNvSpPr/>
          <p:nvPr/>
        </p:nvSpPr>
        <p:spPr>
          <a:xfrm>
            <a:off x="813816" y="5468112"/>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Mediana da diferença entre valores finais e iniciais em cada grupo.</a:t>
            </a:r>
            <a:endParaRPr lang="en-US" sz="1170" dirty="0"/>
          </a:p>
        </p:txBody>
      </p:sp>
      <p:sp>
        <p:nvSpPr>
          <p:cNvPr id="29" name="Text 27"/>
          <p:cNvSpPr/>
          <p:nvPr/>
        </p:nvSpPr>
        <p:spPr>
          <a:xfrm>
            <a:off x="813816" y="5618988"/>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As diferenças são de campos VALOR; não estimam impacto causal da oferta ou receita efetivamente faturada.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TRANSIÇÕES DE PRODUTO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Banda Larga concentra trocas; em Fone, remoções superam substituições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07</a:t>
            </a:r>
            <a:endParaRPr lang="en-US" sz="1050" dirty="0"/>
          </a:p>
        </p:txBody>
      </p:sp>
      <p:sp>
        <p:nvSpPr>
          <p:cNvPr id="8" name="Text 6"/>
          <p:cNvSpPr/>
          <p:nvPr/>
        </p:nvSpPr>
        <p:spPr>
          <a:xfrm>
            <a:off x="713232" y="1965960"/>
            <a:ext cx="260604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Internet fixa (BL)</a:t>
            </a:r>
            <a:endParaRPr lang="en-US" sz="1600" dirty="0"/>
          </a:p>
        </p:txBody>
      </p:sp>
      <p:sp>
        <p:nvSpPr>
          <p:cNvPr id="9" name="Shape 7"/>
          <p:cNvSpPr/>
          <p:nvPr/>
        </p:nvSpPr>
        <p:spPr>
          <a:xfrm>
            <a:off x="3566160" y="1965960"/>
            <a:ext cx="5760720" cy="210312"/>
          </a:xfrm>
          <a:prstGeom prst="rect">
            <a:avLst/>
          </a:prstGeom>
          <a:solidFill>
            <a:srgbClr val="EDF1F0"/>
          </a:solidFill>
          <a:ln w="12700">
            <a:solidFill>
              <a:srgbClr val="EDF1F0">
                <a:alpha val="0"/>
              </a:srgbClr>
            </a:solidFill>
            <a:prstDash val="solid"/>
          </a:ln>
        </p:spPr>
      </p:sp>
      <p:sp>
        <p:nvSpPr>
          <p:cNvPr id="10" name="Shape 8"/>
          <p:cNvSpPr/>
          <p:nvPr/>
        </p:nvSpPr>
        <p:spPr>
          <a:xfrm>
            <a:off x="3566160" y="1965960"/>
            <a:ext cx="5262155" cy="210312"/>
          </a:xfrm>
          <a:prstGeom prst="rect">
            <a:avLst/>
          </a:prstGeom>
          <a:solidFill>
            <a:srgbClr val="577F99"/>
          </a:solidFill>
          <a:ln w="12700">
            <a:solidFill>
              <a:srgbClr val="577F99">
                <a:alpha val="0"/>
              </a:srgbClr>
            </a:solidFill>
            <a:prstDash val="solid"/>
          </a:ln>
        </p:spPr>
      </p:sp>
      <p:sp>
        <p:nvSpPr>
          <p:cNvPr id="11" name="Text 9"/>
          <p:cNvSpPr/>
          <p:nvPr/>
        </p:nvSpPr>
        <p:spPr>
          <a:xfrm>
            <a:off x="9537192" y="1961388"/>
            <a:ext cx="1481328" cy="274320"/>
          </a:xfrm>
          <a:prstGeom prst="rect">
            <a:avLst/>
          </a:prstGeom>
          <a:noFill/>
          <a:ln/>
        </p:spPr>
        <p:txBody>
          <a:bodyPr wrap="square" lIns="0" tIns="0" rIns="0" bIns="0" rtlCol="0" anchor="ctr"/>
          <a:lstStyle/>
          <a:p>
            <a:pPr algn="r" indent="0" marL="0">
              <a:buNone/>
            </a:pPr>
            <a:r>
              <a:rPr lang="en-US" sz="1600" b="1" dirty="0">
                <a:solidFill>
                  <a:srgbClr val="577F99"/>
                </a:solidFill>
                <a:latin typeface="Aptos" pitchFamily="34" charset="0"/>
                <a:ea typeface="Aptos" pitchFamily="34" charset="-122"/>
                <a:cs typeface="Aptos" pitchFamily="34" charset="-120"/>
              </a:rPr>
              <a:t>74.255</a:t>
            </a:r>
            <a:endParaRPr lang="en-US" sz="1600" dirty="0"/>
          </a:p>
        </p:txBody>
      </p:sp>
      <p:sp>
        <p:nvSpPr>
          <p:cNvPr id="12" name="Shape 10"/>
          <p:cNvSpPr/>
          <p:nvPr/>
        </p:nvSpPr>
        <p:spPr>
          <a:xfrm>
            <a:off x="3566160" y="2276856"/>
            <a:ext cx="5760720" cy="182880"/>
          </a:xfrm>
          <a:prstGeom prst="rect">
            <a:avLst/>
          </a:prstGeom>
          <a:solidFill>
            <a:srgbClr val="EDF1F0"/>
          </a:solidFill>
          <a:ln w="12700">
            <a:solidFill>
              <a:srgbClr val="EDF1F0">
                <a:alpha val="0"/>
              </a:srgbClr>
            </a:solidFill>
            <a:prstDash val="solid"/>
          </a:ln>
        </p:spPr>
      </p:sp>
      <p:sp>
        <p:nvSpPr>
          <p:cNvPr id="13" name="Shape 11"/>
          <p:cNvSpPr/>
          <p:nvPr/>
        </p:nvSpPr>
        <p:spPr>
          <a:xfrm>
            <a:off x="3566160" y="2276856"/>
            <a:ext cx="1592926" cy="182880"/>
          </a:xfrm>
          <a:prstGeom prst="rect">
            <a:avLst/>
          </a:prstGeom>
          <a:solidFill>
            <a:srgbClr val="AE6A5B"/>
          </a:solidFill>
          <a:ln w="12700">
            <a:solidFill>
              <a:srgbClr val="AE6A5B">
                <a:alpha val="0"/>
              </a:srgbClr>
            </a:solidFill>
            <a:prstDash val="solid"/>
          </a:ln>
        </p:spPr>
      </p:sp>
      <p:sp>
        <p:nvSpPr>
          <p:cNvPr id="14" name="Text 12"/>
          <p:cNvSpPr/>
          <p:nvPr/>
        </p:nvSpPr>
        <p:spPr>
          <a:xfrm>
            <a:off x="9537192" y="2240280"/>
            <a:ext cx="1481328" cy="265176"/>
          </a:xfrm>
          <a:prstGeom prst="rect">
            <a:avLst/>
          </a:prstGeom>
          <a:noFill/>
          <a:ln/>
        </p:spPr>
        <p:txBody>
          <a:bodyPr wrap="square" lIns="0" tIns="0" rIns="0" bIns="0" rtlCol="0" anchor="ctr"/>
          <a:lstStyle/>
          <a:p>
            <a:pPr algn="r" indent="0" marL="0">
              <a:buNone/>
            </a:pPr>
            <a:r>
              <a:rPr lang="en-US" sz="1500" b="1" dirty="0">
                <a:solidFill>
                  <a:srgbClr val="AE6A5B"/>
                </a:solidFill>
                <a:latin typeface="Aptos" pitchFamily="34" charset="0"/>
                <a:ea typeface="Aptos" pitchFamily="34" charset="-122"/>
                <a:cs typeface="Aptos" pitchFamily="34" charset="-120"/>
              </a:rPr>
              <a:t>22.478</a:t>
            </a:r>
            <a:endParaRPr lang="en-US" sz="1500" dirty="0"/>
          </a:p>
        </p:txBody>
      </p:sp>
      <p:sp>
        <p:nvSpPr>
          <p:cNvPr id="15" name="Text 13"/>
          <p:cNvSpPr/>
          <p:nvPr/>
        </p:nvSpPr>
        <p:spPr>
          <a:xfrm>
            <a:off x="713232" y="2779776"/>
            <a:ext cx="260604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Televisão (TV)</a:t>
            </a:r>
            <a:endParaRPr lang="en-US" sz="1600" dirty="0"/>
          </a:p>
        </p:txBody>
      </p:sp>
      <p:sp>
        <p:nvSpPr>
          <p:cNvPr id="16" name="Shape 14"/>
          <p:cNvSpPr/>
          <p:nvPr/>
        </p:nvSpPr>
        <p:spPr>
          <a:xfrm>
            <a:off x="3566160" y="2779776"/>
            <a:ext cx="5760720" cy="210312"/>
          </a:xfrm>
          <a:prstGeom prst="rect">
            <a:avLst/>
          </a:prstGeom>
          <a:solidFill>
            <a:srgbClr val="EDF1F0"/>
          </a:solidFill>
          <a:ln w="12700">
            <a:solidFill>
              <a:srgbClr val="EDF1F0">
                <a:alpha val="0"/>
              </a:srgbClr>
            </a:solidFill>
            <a:prstDash val="solid"/>
          </a:ln>
        </p:spPr>
      </p:sp>
      <p:sp>
        <p:nvSpPr>
          <p:cNvPr id="17" name="Shape 15"/>
          <p:cNvSpPr/>
          <p:nvPr/>
        </p:nvSpPr>
        <p:spPr>
          <a:xfrm>
            <a:off x="3566160" y="2779776"/>
            <a:ext cx="1742949" cy="210312"/>
          </a:xfrm>
          <a:prstGeom prst="rect">
            <a:avLst/>
          </a:prstGeom>
          <a:solidFill>
            <a:srgbClr val="577F99"/>
          </a:solidFill>
          <a:ln w="12700">
            <a:solidFill>
              <a:srgbClr val="577F99">
                <a:alpha val="0"/>
              </a:srgbClr>
            </a:solidFill>
            <a:prstDash val="solid"/>
          </a:ln>
        </p:spPr>
      </p:sp>
      <p:sp>
        <p:nvSpPr>
          <p:cNvPr id="18" name="Text 16"/>
          <p:cNvSpPr/>
          <p:nvPr/>
        </p:nvSpPr>
        <p:spPr>
          <a:xfrm>
            <a:off x="9537192" y="2775204"/>
            <a:ext cx="1481328" cy="274320"/>
          </a:xfrm>
          <a:prstGeom prst="rect">
            <a:avLst/>
          </a:prstGeom>
          <a:noFill/>
          <a:ln/>
        </p:spPr>
        <p:txBody>
          <a:bodyPr wrap="square" lIns="0" tIns="0" rIns="0" bIns="0" rtlCol="0" anchor="ctr"/>
          <a:lstStyle/>
          <a:p>
            <a:pPr algn="r" indent="0" marL="0">
              <a:buNone/>
            </a:pPr>
            <a:r>
              <a:rPr lang="en-US" sz="1600" b="1" dirty="0">
                <a:solidFill>
                  <a:srgbClr val="577F99"/>
                </a:solidFill>
                <a:latin typeface="Aptos" pitchFamily="34" charset="0"/>
                <a:ea typeface="Aptos" pitchFamily="34" charset="-122"/>
                <a:cs typeface="Aptos" pitchFamily="34" charset="-120"/>
              </a:rPr>
              <a:t>24.595</a:t>
            </a:r>
            <a:endParaRPr lang="en-US" sz="1600" dirty="0"/>
          </a:p>
        </p:txBody>
      </p:sp>
      <p:sp>
        <p:nvSpPr>
          <p:cNvPr id="19" name="Shape 17"/>
          <p:cNvSpPr/>
          <p:nvPr/>
        </p:nvSpPr>
        <p:spPr>
          <a:xfrm>
            <a:off x="3566160" y="3090672"/>
            <a:ext cx="5760720" cy="182880"/>
          </a:xfrm>
          <a:prstGeom prst="rect">
            <a:avLst/>
          </a:prstGeom>
          <a:solidFill>
            <a:srgbClr val="EDF1F0"/>
          </a:solidFill>
          <a:ln w="12700">
            <a:solidFill>
              <a:srgbClr val="EDF1F0">
                <a:alpha val="0"/>
              </a:srgbClr>
            </a:solidFill>
            <a:prstDash val="solid"/>
          </a:ln>
        </p:spPr>
      </p:sp>
      <p:sp>
        <p:nvSpPr>
          <p:cNvPr id="20" name="Shape 18"/>
          <p:cNvSpPr/>
          <p:nvPr/>
        </p:nvSpPr>
        <p:spPr>
          <a:xfrm>
            <a:off x="3566160" y="3090672"/>
            <a:ext cx="1373454" cy="182880"/>
          </a:xfrm>
          <a:prstGeom prst="rect">
            <a:avLst/>
          </a:prstGeom>
          <a:solidFill>
            <a:srgbClr val="AE6A5B"/>
          </a:solidFill>
          <a:ln w="12700">
            <a:solidFill>
              <a:srgbClr val="AE6A5B">
                <a:alpha val="0"/>
              </a:srgbClr>
            </a:solidFill>
            <a:prstDash val="solid"/>
          </a:ln>
        </p:spPr>
      </p:sp>
      <p:sp>
        <p:nvSpPr>
          <p:cNvPr id="21" name="Text 19"/>
          <p:cNvSpPr/>
          <p:nvPr/>
        </p:nvSpPr>
        <p:spPr>
          <a:xfrm>
            <a:off x="9537192" y="3054096"/>
            <a:ext cx="1481328" cy="265176"/>
          </a:xfrm>
          <a:prstGeom prst="rect">
            <a:avLst/>
          </a:prstGeom>
          <a:noFill/>
          <a:ln/>
        </p:spPr>
        <p:txBody>
          <a:bodyPr wrap="square" lIns="0" tIns="0" rIns="0" bIns="0" rtlCol="0" anchor="ctr"/>
          <a:lstStyle/>
          <a:p>
            <a:pPr algn="r" indent="0" marL="0">
              <a:buNone/>
            </a:pPr>
            <a:r>
              <a:rPr lang="en-US" sz="1500" b="1" dirty="0">
                <a:solidFill>
                  <a:srgbClr val="AE6A5B"/>
                </a:solidFill>
                <a:latin typeface="Aptos" pitchFamily="34" charset="0"/>
                <a:ea typeface="Aptos" pitchFamily="34" charset="-122"/>
                <a:cs typeface="Aptos" pitchFamily="34" charset="-120"/>
              </a:rPr>
              <a:t>19.381</a:t>
            </a:r>
            <a:endParaRPr lang="en-US" sz="1500" dirty="0"/>
          </a:p>
        </p:txBody>
      </p:sp>
      <p:sp>
        <p:nvSpPr>
          <p:cNvPr id="22" name="Text 20"/>
          <p:cNvSpPr/>
          <p:nvPr/>
        </p:nvSpPr>
        <p:spPr>
          <a:xfrm>
            <a:off x="713232" y="3593592"/>
            <a:ext cx="260604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Telefonia fixa</a:t>
            </a:r>
            <a:endParaRPr lang="en-US" sz="1600" dirty="0"/>
          </a:p>
        </p:txBody>
      </p:sp>
      <p:sp>
        <p:nvSpPr>
          <p:cNvPr id="23" name="Shape 21"/>
          <p:cNvSpPr/>
          <p:nvPr/>
        </p:nvSpPr>
        <p:spPr>
          <a:xfrm>
            <a:off x="3566160" y="3593592"/>
            <a:ext cx="5760720" cy="210312"/>
          </a:xfrm>
          <a:prstGeom prst="rect">
            <a:avLst/>
          </a:prstGeom>
          <a:solidFill>
            <a:srgbClr val="EDF1F0"/>
          </a:solidFill>
          <a:ln w="12700">
            <a:solidFill>
              <a:srgbClr val="EDF1F0">
                <a:alpha val="0"/>
              </a:srgbClr>
            </a:solidFill>
            <a:prstDash val="solid"/>
          </a:ln>
        </p:spPr>
      </p:sp>
      <p:sp>
        <p:nvSpPr>
          <p:cNvPr id="24" name="Shape 22"/>
          <p:cNvSpPr/>
          <p:nvPr/>
        </p:nvSpPr>
        <p:spPr>
          <a:xfrm>
            <a:off x="3566160" y="3593592"/>
            <a:ext cx="709156" cy="210312"/>
          </a:xfrm>
          <a:prstGeom prst="rect">
            <a:avLst/>
          </a:prstGeom>
          <a:solidFill>
            <a:srgbClr val="577F99"/>
          </a:solidFill>
          <a:ln w="12700">
            <a:solidFill>
              <a:srgbClr val="577F99">
                <a:alpha val="0"/>
              </a:srgbClr>
            </a:solidFill>
            <a:prstDash val="solid"/>
          </a:ln>
        </p:spPr>
      </p:sp>
      <p:sp>
        <p:nvSpPr>
          <p:cNvPr id="25" name="Text 23"/>
          <p:cNvSpPr/>
          <p:nvPr/>
        </p:nvSpPr>
        <p:spPr>
          <a:xfrm>
            <a:off x="9537192" y="3589020"/>
            <a:ext cx="1481328" cy="274320"/>
          </a:xfrm>
          <a:prstGeom prst="rect">
            <a:avLst/>
          </a:prstGeom>
          <a:noFill/>
          <a:ln/>
        </p:spPr>
        <p:txBody>
          <a:bodyPr wrap="square" lIns="0" tIns="0" rIns="0" bIns="0" rtlCol="0" anchor="ctr"/>
          <a:lstStyle/>
          <a:p>
            <a:pPr algn="r" indent="0" marL="0">
              <a:buNone/>
            </a:pPr>
            <a:r>
              <a:rPr lang="en-US" sz="1600" b="1" dirty="0">
                <a:solidFill>
                  <a:srgbClr val="577F99"/>
                </a:solidFill>
                <a:latin typeface="Aptos" pitchFamily="34" charset="0"/>
                <a:ea typeface="Aptos" pitchFamily="34" charset="-122"/>
                <a:cs typeface="Aptos" pitchFamily="34" charset="-120"/>
              </a:rPr>
              <a:t>10.007</a:t>
            </a:r>
            <a:endParaRPr lang="en-US" sz="1600" dirty="0"/>
          </a:p>
        </p:txBody>
      </p:sp>
      <p:sp>
        <p:nvSpPr>
          <p:cNvPr id="26" name="Shape 24"/>
          <p:cNvSpPr/>
          <p:nvPr/>
        </p:nvSpPr>
        <p:spPr>
          <a:xfrm>
            <a:off x="3566160" y="3904488"/>
            <a:ext cx="5760720" cy="182880"/>
          </a:xfrm>
          <a:prstGeom prst="rect">
            <a:avLst/>
          </a:prstGeom>
          <a:solidFill>
            <a:srgbClr val="EDF1F0"/>
          </a:solidFill>
          <a:ln w="12700">
            <a:solidFill>
              <a:srgbClr val="EDF1F0">
                <a:alpha val="0"/>
              </a:srgbClr>
            </a:solidFill>
            <a:prstDash val="solid"/>
          </a:ln>
        </p:spPr>
      </p:sp>
      <p:sp>
        <p:nvSpPr>
          <p:cNvPr id="27" name="Shape 25"/>
          <p:cNvSpPr/>
          <p:nvPr/>
        </p:nvSpPr>
        <p:spPr>
          <a:xfrm>
            <a:off x="3566160" y="3904488"/>
            <a:ext cx="1208903" cy="182880"/>
          </a:xfrm>
          <a:prstGeom prst="rect">
            <a:avLst/>
          </a:prstGeom>
          <a:solidFill>
            <a:srgbClr val="AE6A5B"/>
          </a:solidFill>
          <a:ln w="12700">
            <a:solidFill>
              <a:srgbClr val="AE6A5B">
                <a:alpha val="0"/>
              </a:srgbClr>
            </a:solidFill>
            <a:prstDash val="solid"/>
          </a:ln>
        </p:spPr>
      </p:sp>
      <p:sp>
        <p:nvSpPr>
          <p:cNvPr id="28" name="Text 26"/>
          <p:cNvSpPr/>
          <p:nvPr/>
        </p:nvSpPr>
        <p:spPr>
          <a:xfrm>
            <a:off x="9537192" y="3867912"/>
            <a:ext cx="1481328" cy="265176"/>
          </a:xfrm>
          <a:prstGeom prst="rect">
            <a:avLst/>
          </a:prstGeom>
          <a:noFill/>
          <a:ln/>
        </p:spPr>
        <p:txBody>
          <a:bodyPr wrap="square" lIns="0" tIns="0" rIns="0" bIns="0" rtlCol="0" anchor="ctr"/>
          <a:lstStyle/>
          <a:p>
            <a:pPr algn="r" indent="0" marL="0">
              <a:buNone/>
            </a:pPr>
            <a:r>
              <a:rPr lang="en-US" sz="1500" b="1" dirty="0">
                <a:solidFill>
                  <a:srgbClr val="AE6A5B"/>
                </a:solidFill>
                <a:latin typeface="Aptos" pitchFamily="34" charset="0"/>
                <a:ea typeface="Aptos" pitchFamily="34" charset="-122"/>
                <a:cs typeface="Aptos" pitchFamily="34" charset="-120"/>
              </a:rPr>
              <a:t>17.059</a:t>
            </a:r>
            <a:endParaRPr lang="en-US" sz="1500" dirty="0"/>
          </a:p>
        </p:txBody>
      </p:sp>
      <p:sp>
        <p:nvSpPr>
          <p:cNvPr id="29" name="Text 27"/>
          <p:cNvSpPr/>
          <p:nvPr/>
        </p:nvSpPr>
        <p:spPr>
          <a:xfrm>
            <a:off x="713232" y="4407408"/>
            <a:ext cx="260604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Móvel</a:t>
            </a:r>
            <a:endParaRPr lang="en-US" sz="1600" dirty="0"/>
          </a:p>
        </p:txBody>
      </p:sp>
      <p:sp>
        <p:nvSpPr>
          <p:cNvPr id="30" name="Shape 28"/>
          <p:cNvSpPr/>
          <p:nvPr/>
        </p:nvSpPr>
        <p:spPr>
          <a:xfrm>
            <a:off x="3566160" y="4407408"/>
            <a:ext cx="5760720" cy="210312"/>
          </a:xfrm>
          <a:prstGeom prst="rect">
            <a:avLst/>
          </a:prstGeom>
          <a:solidFill>
            <a:srgbClr val="EDF1F0"/>
          </a:solidFill>
          <a:ln w="12700">
            <a:solidFill>
              <a:srgbClr val="EDF1F0">
                <a:alpha val="0"/>
              </a:srgbClr>
            </a:solidFill>
            <a:prstDash val="solid"/>
          </a:ln>
        </p:spPr>
      </p:sp>
      <p:sp>
        <p:nvSpPr>
          <p:cNvPr id="31" name="Shape 29"/>
          <p:cNvSpPr/>
          <p:nvPr/>
        </p:nvSpPr>
        <p:spPr>
          <a:xfrm>
            <a:off x="3566160" y="4407408"/>
            <a:ext cx="310889" cy="210312"/>
          </a:xfrm>
          <a:prstGeom prst="rect">
            <a:avLst/>
          </a:prstGeom>
          <a:solidFill>
            <a:srgbClr val="577F99"/>
          </a:solidFill>
          <a:ln w="12700">
            <a:solidFill>
              <a:srgbClr val="577F99">
                <a:alpha val="0"/>
              </a:srgbClr>
            </a:solidFill>
            <a:prstDash val="solid"/>
          </a:ln>
        </p:spPr>
      </p:sp>
      <p:sp>
        <p:nvSpPr>
          <p:cNvPr id="32" name="Text 30"/>
          <p:cNvSpPr/>
          <p:nvPr/>
        </p:nvSpPr>
        <p:spPr>
          <a:xfrm>
            <a:off x="9537192" y="4402836"/>
            <a:ext cx="1481328" cy="274320"/>
          </a:xfrm>
          <a:prstGeom prst="rect">
            <a:avLst/>
          </a:prstGeom>
          <a:noFill/>
          <a:ln/>
        </p:spPr>
        <p:txBody>
          <a:bodyPr wrap="square" lIns="0" tIns="0" rIns="0" bIns="0" rtlCol="0" anchor="ctr"/>
          <a:lstStyle/>
          <a:p>
            <a:pPr algn="r" indent="0" marL="0">
              <a:buNone/>
            </a:pPr>
            <a:r>
              <a:rPr lang="en-US" sz="1600" b="1" dirty="0">
                <a:solidFill>
                  <a:srgbClr val="577F99"/>
                </a:solidFill>
                <a:latin typeface="Aptos" pitchFamily="34" charset="0"/>
                <a:ea typeface="Aptos" pitchFamily="34" charset="-122"/>
                <a:cs typeface="Aptos" pitchFamily="34" charset="-120"/>
              </a:rPr>
              <a:t>4.387</a:t>
            </a:r>
            <a:endParaRPr lang="en-US" sz="1600" dirty="0"/>
          </a:p>
        </p:txBody>
      </p:sp>
      <p:sp>
        <p:nvSpPr>
          <p:cNvPr id="33" name="Shape 31"/>
          <p:cNvSpPr/>
          <p:nvPr/>
        </p:nvSpPr>
        <p:spPr>
          <a:xfrm>
            <a:off x="3566160" y="4718304"/>
            <a:ext cx="5760720" cy="182880"/>
          </a:xfrm>
          <a:prstGeom prst="rect">
            <a:avLst/>
          </a:prstGeom>
          <a:solidFill>
            <a:srgbClr val="EDF1F0"/>
          </a:solidFill>
          <a:ln w="12700">
            <a:solidFill>
              <a:srgbClr val="EDF1F0">
                <a:alpha val="0"/>
              </a:srgbClr>
            </a:solidFill>
            <a:prstDash val="solid"/>
          </a:ln>
        </p:spPr>
      </p:sp>
      <p:sp>
        <p:nvSpPr>
          <p:cNvPr id="34" name="Text 32"/>
          <p:cNvSpPr/>
          <p:nvPr/>
        </p:nvSpPr>
        <p:spPr>
          <a:xfrm>
            <a:off x="9537192" y="4681728"/>
            <a:ext cx="1481328" cy="265176"/>
          </a:xfrm>
          <a:prstGeom prst="rect">
            <a:avLst/>
          </a:prstGeom>
          <a:noFill/>
          <a:ln/>
        </p:spPr>
        <p:txBody>
          <a:bodyPr wrap="square" lIns="0" tIns="0" rIns="0" bIns="0" rtlCol="0" anchor="ctr"/>
          <a:lstStyle/>
          <a:p>
            <a:pPr algn="r" indent="0" marL="0">
              <a:buNone/>
            </a:pPr>
            <a:r>
              <a:rPr lang="en-US" sz="1500" b="1" dirty="0">
                <a:solidFill>
                  <a:srgbClr val="AE6A5B"/>
                </a:solidFill>
                <a:latin typeface="Aptos" pitchFamily="34" charset="0"/>
                <a:ea typeface="Aptos" pitchFamily="34" charset="-122"/>
                <a:cs typeface="Aptos" pitchFamily="34" charset="-120"/>
              </a:rPr>
              <a:t>—</a:t>
            </a:r>
            <a:endParaRPr lang="en-US" sz="1500" dirty="0"/>
          </a:p>
        </p:txBody>
      </p:sp>
      <p:sp>
        <p:nvSpPr>
          <p:cNvPr id="35" name="Shape 33"/>
          <p:cNvSpPr/>
          <p:nvPr/>
        </p:nvSpPr>
        <p:spPr>
          <a:xfrm>
            <a:off x="758952" y="5568696"/>
            <a:ext cx="2560320" cy="329184"/>
          </a:xfrm>
          <a:prstGeom prst="roundRect">
            <a:avLst>
              <a:gd name="adj" fmla="val 33333"/>
            </a:avLst>
          </a:prstGeom>
          <a:solidFill>
            <a:srgbClr val="E9F0F5"/>
          </a:solidFill>
          <a:ln w="12700">
            <a:solidFill>
              <a:srgbClr val="E9F0F5">
                <a:alpha val="0"/>
              </a:srgbClr>
            </a:solidFill>
            <a:prstDash val="solid"/>
          </a:ln>
        </p:spPr>
      </p:sp>
      <p:sp>
        <p:nvSpPr>
          <p:cNvPr id="36" name="Text 34"/>
          <p:cNvSpPr/>
          <p:nvPr/>
        </p:nvSpPr>
        <p:spPr>
          <a:xfrm>
            <a:off x="850392" y="5609844"/>
            <a:ext cx="2377440" cy="237744"/>
          </a:xfrm>
          <a:prstGeom prst="rect">
            <a:avLst/>
          </a:prstGeom>
          <a:noFill/>
          <a:ln/>
        </p:spPr>
        <p:txBody>
          <a:bodyPr wrap="square" lIns="0" tIns="0" rIns="0" bIns="0" rtlCol="0" anchor="ctr"/>
          <a:lstStyle/>
          <a:p>
            <a:pPr algn="ctr" indent="0" marL="0">
              <a:buNone/>
            </a:pPr>
            <a:r>
              <a:rPr lang="en-US" sz="1050" b="1" dirty="0">
                <a:solidFill>
                  <a:srgbClr val="577F99"/>
                </a:solidFill>
                <a:latin typeface="Aptos" pitchFamily="34" charset="0"/>
                <a:ea typeface="Aptos" pitchFamily="34" charset="-122"/>
                <a:cs typeface="Aptos" pitchFamily="34" charset="-120"/>
              </a:rPr>
              <a:t>Substituição de código</a:t>
            </a:r>
            <a:endParaRPr lang="en-US" sz="1050" dirty="0"/>
          </a:p>
        </p:txBody>
      </p:sp>
      <p:sp>
        <p:nvSpPr>
          <p:cNvPr id="37" name="Shape 35"/>
          <p:cNvSpPr/>
          <p:nvPr/>
        </p:nvSpPr>
        <p:spPr>
          <a:xfrm>
            <a:off x="3502152" y="5568696"/>
            <a:ext cx="2331720" cy="329184"/>
          </a:xfrm>
          <a:prstGeom prst="roundRect">
            <a:avLst>
              <a:gd name="adj" fmla="val 33333"/>
            </a:avLst>
          </a:prstGeom>
          <a:solidFill>
            <a:srgbClr val="F3E9E5"/>
          </a:solidFill>
          <a:ln w="12700">
            <a:solidFill>
              <a:srgbClr val="F3E9E5">
                <a:alpha val="0"/>
              </a:srgbClr>
            </a:solidFill>
            <a:prstDash val="solid"/>
          </a:ln>
        </p:spPr>
      </p:sp>
      <p:sp>
        <p:nvSpPr>
          <p:cNvPr id="38" name="Text 36"/>
          <p:cNvSpPr/>
          <p:nvPr/>
        </p:nvSpPr>
        <p:spPr>
          <a:xfrm>
            <a:off x="3593592" y="5609844"/>
            <a:ext cx="2148840" cy="237744"/>
          </a:xfrm>
          <a:prstGeom prst="rect">
            <a:avLst/>
          </a:prstGeom>
          <a:noFill/>
          <a:ln/>
        </p:spPr>
        <p:txBody>
          <a:bodyPr wrap="square" lIns="0" tIns="0" rIns="0" bIns="0" rtlCol="0" anchor="ctr"/>
          <a:lstStyle/>
          <a:p>
            <a:pPr algn="ctr" indent="0" marL="0">
              <a:buNone/>
            </a:pPr>
            <a:r>
              <a:rPr lang="en-US" sz="1050" b="1" dirty="0">
                <a:solidFill>
                  <a:srgbClr val="AE6A5B"/>
                </a:solidFill>
                <a:latin typeface="Aptos" pitchFamily="34" charset="0"/>
                <a:ea typeface="Aptos" pitchFamily="34" charset="-122"/>
                <a:cs typeface="Aptos" pitchFamily="34" charset="-120"/>
              </a:rPr>
              <a:t>Remoção de produto</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COMBINAÇÕES DE MOVIMENTAÇÃO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Em 60% dos retidos movimentados, só a internet fixa mudou</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08</a:t>
            </a:r>
            <a:endParaRPr lang="en-US" sz="1050" dirty="0"/>
          </a:p>
        </p:txBody>
      </p:sp>
      <p:sp>
        <p:nvSpPr>
          <p:cNvPr id="8" name="Text 6"/>
          <p:cNvSpPr/>
          <p:nvPr/>
        </p:nvSpPr>
        <p:spPr>
          <a:xfrm>
            <a:off x="749808" y="190195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Somente BL</a:t>
            </a:r>
            <a:endParaRPr lang="en-US" sz="1450" dirty="0"/>
          </a:p>
        </p:txBody>
      </p:sp>
      <p:sp>
        <p:nvSpPr>
          <p:cNvPr id="9" name="Shape 7"/>
          <p:cNvSpPr/>
          <p:nvPr/>
        </p:nvSpPr>
        <p:spPr>
          <a:xfrm>
            <a:off x="5127955" y="1938528"/>
            <a:ext cx="4273906" cy="201168"/>
          </a:xfrm>
          <a:prstGeom prst="rect">
            <a:avLst/>
          </a:prstGeom>
          <a:solidFill>
            <a:srgbClr val="EDF1F0"/>
          </a:solidFill>
          <a:ln w="12700">
            <a:solidFill>
              <a:srgbClr val="EDF1F0">
                <a:alpha val="0"/>
              </a:srgbClr>
            </a:solidFill>
            <a:prstDash val="solid"/>
          </a:ln>
        </p:spPr>
      </p:sp>
      <p:sp>
        <p:nvSpPr>
          <p:cNvPr id="10" name="Shape 8"/>
          <p:cNvSpPr/>
          <p:nvPr/>
        </p:nvSpPr>
        <p:spPr>
          <a:xfrm>
            <a:off x="5127955" y="1938528"/>
            <a:ext cx="4112605" cy="201168"/>
          </a:xfrm>
          <a:prstGeom prst="rect">
            <a:avLst/>
          </a:prstGeom>
          <a:solidFill>
            <a:srgbClr val="1E6159"/>
          </a:solidFill>
          <a:ln w="12700">
            <a:solidFill>
              <a:srgbClr val="1E6159">
                <a:alpha val="0"/>
              </a:srgbClr>
            </a:solidFill>
            <a:prstDash val="solid"/>
          </a:ln>
        </p:spPr>
      </p:sp>
      <p:sp>
        <p:nvSpPr>
          <p:cNvPr id="11" name="Text 9"/>
          <p:cNvSpPr/>
          <p:nvPr/>
        </p:nvSpPr>
        <p:spPr>
          <a:xfrm>
            <a:off x="9520733" y="1901952"/>
            <a:ext cx="1667866"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51.962</a:t>
            </a:r>
            <a:endParaRPr lang="en-US" sz="1510" dirty="0"/>
          </a:p>
        </p:txBody>
      </p:sp>
      <p:sp>
        <p:nvSpPr>
          <p:cNvPr id="12" name="Text 10"/>
          <p:cNvSpPr/>
          <p:nvPr/>
        </p:nvSpPr>
        <p:spPr>
          <a:xfrm>
            <a:off x="749808" y="219456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60,0% dos 86.540 retidos movimentados</a:t>
            </a:r>
            <a:endParaRPr lang="en-US" sz="1010" dirty="0"/>
          </a:p>
        </p:txBody>
      </p:sp>
      <p:sp>
        <p:nvSpPr>
          <p:cNvPr id="13" name="Text 11"/>
          <p:cNvSpPr/>
          <p:nvPr/>
        </p:nvSpPr>
        <p:spPr>
          <a:xfrm>
            <a:off x="749808" y="254203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TV</a:t>
            </a:r>
            <a:endParaRPr lang="en-US" sz="1450" dirty="0"/>
          </a:p>
        </p:txBody>
      </p:sp>
      <p:sp>
        <p:nvSpPr>
          <p:cNvPr id="14" name="Shape 12"/>
          <p:cNvSpPr/>
          <p:nvPr/>
        </p:nvSpPr>
        <p:spPr>
          <a:xfrm>
            <a:off x="5127955" y="2578608"/>
            <a:ext cx="4273906" cy="201168"/>
          </a:xfrm>
          <a:prstGeom prst="rect">
            <a:avLst/>
          </a:prstGeom>
          <a:solidFill>
            <a:srgbClr val="EDF1F0"/>
          </a:solidFill>
          <a:ln w="12700">
            <a:solidFill>
              <a:srgbClr val="EDF1F0">
                <a:alpha val="0"/>
              </a:srgbClr>
            </a:solidFill>
            <a:prstDash val="solid"/>
          </a:ln>
        </p:spPr>
      </p:sp>
      <p:sp>
        <p:nvSpPr>
          <p:cNvPr id="15" name="Shape 13"/>
          <p:cNvSpPr/>
          <p:nvPr/>
        </p:nvSpPr>
        <p:spPr>
          <a:xfrm>
            <a:off x="5127955" y="2578608"/>
            <a:ext cx="1060878" cy="201168"/>
          </a:xfrm>
          <a:prstGeom prst="rect">
            <a:avLst/>
          </a:prstGeom>
          <a:solidFill>
            <a:srgbClr val="577F99"/>
          </a:solidFill>
          <a:ln w="12700">
            <a:solidFill>
              <a:srgbClr val="577F99">
                <a:alpha val="0"/>
              </a:srgbClr>
            </a:solidFill>
            <a:prstDash val="solid"/>
          </a:ln>
        </p:spPr>
      </p:sp>
      <p:sp>
        <p:nvSpPr>
          <p:cNvPr id="16" name="Text 14"/>
          <p:cNvSpPr/>
          <p:nvPr/>
        </p:nvSpPr>
        <p:spPr>
          <a:xfrm>
            <a:off x="9520733" y="2542032"/>
            <a:ext cx="1667866"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13.404</a:t>
            </a:r>
            <a:endParaRPr lang="en-US" sz="1510" dirty="0"/>
          </a:p>
        </p:txBody>
      </p:sp>
      <p:sp>
        <p:nvSpPr>
          <p:cNvPr id="17" name="Text 15"/>
          <p:cNvSpPr/>
          <p:nvPr/>
        </p:nvSpPr>
        <p:spPr>
          <a:xfrm>
            <a:off x="749808" y="283464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15,5% dos 86.540 retidos movimentados</a:t>
            </a:r>
            <a:endParaRPr lang="en-US" sz="1010" dirty="0"/>
          </a:p>
        </p:txBody>
      </p:sp>
      <p:sp>
        <p:nvSpPr>
          <p:cNvPr id="18" name="Text 16"/>
          <p:cNvSpPr/>
          <p:nvPr/>
        </p:nvSpPr>
        <p:spPr>
          <a:xfrm>
            <a:off x="749808" y="318211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Somente TV</a:t>
            </a:r>
            <a:endParaRPr lang="en-US" sz="1450" dirty="0"/>
          </a:p>
        </p:txBody>
      </p:sp>
      <p:sp>
        <p:nvSpPr>
          <p:cNvPr id="19" name="Shape 17"/>
          <p:cNvSpPr/>
          <p:nvPr/>
        </p:nvSpPr>
        <p:spPr>
          <a:xfrm>
            <a:off x="5127955" y="3218688"/>
            <a:ext cx="4273906" cy="201168"/>
          </a:xfrm>
          <a:prstGeom prst="rect">
            <a:avLst/>
          </a:prstGeom>
          <a:solidFill>
            <a:srgbClr val="EDF1F0"/>
          </a:solidFill>
          <a:ln w="12700">
            <a:solidFill>
              <a:srgbClr val="EDF1F0">
                <a:alpha val="0"/>
              </a:srgbClr>
            </a:solidFill>
            <a:prstDash val="solid"/>
          </a:ln>
        </p:spPr>
      </p:sp>
      <p:sp>
        <p:nvSpPr>
          <p:cNvPr id="20" name="Shape 18"/>
          <p:cNvSpPr/>
          <p:nvPr/>
        </p:nvSpPr>
        <p:spPr>
          <a:xfrm>
            <a:off x="5127955" y="3218688"/>
            <a:ext cx="561227" cy="201168"/>
          </a:xfrm>
          <a:prstGeom prst="rect">
            <a:avLst/>
          </a:prstGeom>
          <a:solidFill>
            <a:srgbClr val="577F99"/>
          </a:solidFill>
          <a:ln w="12700">
            <a:solidFill>
              <a:srgbClr val="577F99">
                <a:alpha val="0"/>
              </a:srgbClr>
            </a:solidFill>
            <a:prstDash val="solid"/>
          </a:ln>
        </p:spPr>
      </p:sp>
      <p:sp>
        <p:nvSpPr>
          <p:cNvPr id="21" name="Text 19"/>
          <p:cNvSpPr/>
          <p:nvPr/>
        </p:nvSpPr>
        <p:spPr>
          <a:xfrm>
            <a:off x="9520733" y="3182112"/>
            <a:ext cx="1667866"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7.091</a:t>
            </a:r>
            <a:endParaRPr lang="en-US" sz="1510" dirty="0"/>
          </a:p>
        </p:txBody>
      </p:sp>
      <p:sp>
        <p:nvSpPr>
          <p:cNvPr id="22" name="Text 20"/>
          <p:cNvSpPr/>
          <p:nvPr/>
        </p:nvSpPr>
        <p:spPr>
          <a:xfrm>
            <a:off x="749808" y="347472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8,2% dos 86.540 retidos movimentados</a:t>
            </a:r>
            <a:endParaRPr lang="en-US" sz="1010" dirty="0"/>
          </a:p>
        </p:txBody>
      </p:sp>
      <p:sp>
        <p:nvSpPr>
          <p:cNvPr id="23" name="Text 21"/>
          <p:cNvSpPr/>
          <p:nvPr/>
        </p:nvSpPr>
        <p:spPr>
          <a:xfrm>
            <a:off x="749808" y="382219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Fone</a:t>
            </a:r>
            <a:endParaRPr lang="en-US" sz="1450" dirty="0"/>
          </a:p>
        </p:txBody>
      </p:sp>
      <p:sp>
        <p:nvSpPr>
          <p:cNvPr id="24" name="Shape 22"/>
          <p:cNvSpPr/>
          <p:nvPr/>
        </p:nvSpPr>
        <p:spPr>
          <a:xfrm>
            <a:off x="5127955" y="3858768"/>
            <a:ext cx="4273906" cy="201168"/>
          </a:xfrm>
          <a:prstGeom prst="rect">
            <a:avLst/>
          </a:prstGeom>
          <a:solidFill>
            <a:srgbClr val="EDF1F0"/>
          </a:solidFill>
          <a:ln w="12700">
            <a:solidFill>
              <a:srgbClr val="EDF1F0">
                <a:alpha val="0"/>
              </a:srgbClr>
            </a:solidFill>
            <a:prstDash val="solid"/>
          </a:ln>
        </p:spPr>
      </p:sp>
      <p:sp>
        <p:nvSpPr>
          <p:cNvPr id="25" name="Shape 23"/>
          <p:cNvSpPr/>
          <p:nvPr/>
        </p:nvSpPr>
        <p:spPr>
          <a:xfrm>
            <a:off x="5127955" y="3858768"/>
            <a:ext cx="326479" cy="201168"/>
          </a:xfrm>
          <a:prstGeom prst="rect">
            <a:avLst/>
          </a:prstGeom>
          <a:solidFill>
            <a:srgbClr val="577F99"/>
          </a:solidFill>
          <a:ln w="12700">
            <a:solidFill>
              <a:srgbClr val="577F99">
                <a:alpha val="0"/>
              </a:srgbClr>
            </a:solidFill>
            <a:prstDash val="solid"/>
          </a:ln>
        </p:spPr>
      </p:sp>
      <p:sp>
        <p:nvSpPr>
          <p:cNvPr id="26" name="Text 24"/>
          <p:cNvSpPr/>
          <p:nvPr/>
        </p:nvSpPr>
        <p:spPr>
          <a:xfrm>
            <a:off x="9520733" y="3822192"/>
            <a:ext cx="1667866"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4.125</a:t>
            </a:r>
            <a:endParaRPr lang="en-US" sz="1510" dirty="0"/>
          </a:p>
        </p:txBody>
      </p:sp>
      <p:sp>
        <p:nvSpPr>
          <p:cNvPr id="27" name="Text 25"/>
          <p:cNvSpPr/>
          <p:nvPr/>
        </p:nvSpPr>
        <p:spPr>
          <a:xfrm>
            <a:off x="749808" y="411480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4,8% dos 86.540 retidos movimentados</a:t>
            </a:r>
            <a:endParaRPr lang="en-US" sz="1010" dirty="0"/>
          </a:p>
        </p:txBody>
      </p:sp>
      <p:sp>
        <p:nvSpPr>
          <p:cNvPr id="28" name="Text 26"/>
          <p:cNvSpPr/>
          <p:nvPr/>
        </p:nvSpPr>
        <p:spPr>
          <a:xfrm>
            <a:off x="749808" y="4462272"/>
            <a:ext cx="4378147"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TV + Fone</a:t>
            </a:r>
            <a:endParaRPr lang="en-US" sz="1450" dirty="0"/>
          </a:p>
        </p:txBody>
      </p:sp>
      <p:sp>
        <p:nvSpPr>
          <p:cNvPr id="29" name="Shape 27"/>
          <p:cNvSpPr/>
          <p:nvPr/>
        </p:nvSpPr>
        <p:spPr>
          <a:xfrm>
            <a:off x="5127955" y="4498848"/>
            <a:ext cx="4273906" cy="201168"/>
          </a:xfrm>
          <a:prstGeom prst="rect">
            <a:avLst/>
          </a:prstGeom>
          <a:solidFill>
            <a:srgbClr val="EDF1F0"/>
          </a:solidFill>
          <a:ln w="12700">
            <a:solidFill>
              <a:srgbClr val="EDF1F0">
                <a:alpha val="0"/>
              </a:srgbClr>
            </a:solidFill>
            <a:prstDash val="solid"/>
          </a:ln>
        </p:spPr>
      </p:sp>
      <p:sp>
        <p:nvSpPr>
          <p:cNvPr id="30" name="Shape 28"/>
          <p:cNvSpPr/>
          <p:nvPr/>
        </p:nvSpPr>
        <p:spPr>
          <a:xfrm>
            <a:off x="5127955" y="4498848"/>
            <a:ext cx="229999" cy="201168"/>
          </a:xfrm>
          <a:prstGeom prst="rect">
            <a:avLst/>
          </a:prstGeom>
          <a:solidFill>
            <a:srgbClr val="577F99"/>
          </a:solidFill>
          <a:ln w="12700">
            <a:solidFill>
              <a:srgbClr val="577F99">
                <a:alpha val="0"/>
              </a:srgbClr>
            </a:solidFill>
            <a:prstDash val="solid"/>
          </a:ln>
        </p:spPr>
      </p:sp>
      <p:sp>
        <p:nvSpPr>
          <p:cNvPr id="31" name="Text 29"/>
          <p:cNvSpPr/>
          <p:nvPr/>
        </p:nvSpPr>
        <p:spPr>
          <a:xfrm>
            <a:off x="9520733" y="4462272"/>
            <a:ext cx="1667866"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2.906</a:t>
            </a:r>
            <a:endParaRPr lang="en-US" sz="1510" dirty="0"/>
          </a:p>
        </p:txBody>
      </p:sp>
      <p:sp>
        <p:nvSpPr>
          <p:cNvPr id="32" name="Text 30"/>
          <p:cNvSpPr/>
          <p:nvPr/>
        </p:nvSpPr>
        <p:spPr>
          <a:xfrm>
            <a:off x="749808" y="4754880"/>
            <a:ext cx="1042416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3,4% dos 86.540 retidos movimentados</a:t>
            </a:r>
            <a:endParaRPr lang="en-US" sz="1010" dirty="0"/>
          </a:p>
        </p:txBody>
      </p:sp>
      <p:sp>
        <p:nvSpPr>
          <p:cNvPr id="33" name="Shape 31"/>
          <p:cNvSpPr/>
          <p:nvPr/>
        </p:nvSpPr>
        <p:spPr>
          <a:xfrm>
            <a:off x="704088" y="5705856"/>
            <a:ext cx="10972800" cy="438912"/>
          </a:xfrm>
          <a:prstGeom prst="roundRect">
            <a:avLst>
              <a:gd name="adj" fmla="val 25000"/>
            </a:avLst>
          </a:prstGeom>
          <a:solidFill>
            <a:srgbClr val="E5F0EB"/>
          </a:solidFill>
          <a:ln w="12700">
            <a:solidFill>
              <a:srgbClr val="E5F0EB">
                <a:alpha val="0"/>
              </a:srgbClr>
            </a:solidFill>
            <a:prstDash val="solid"/>
          </a:ln>
        </p:spPr>
      </p:sp>
      <p:sp>
        <p:nvSpPr>
          <p:cNvPr id="34" name="Text 32"/>
          <p:cNvSpPr/>
          <p:nvPr/>
        </p:nvSpPr>
        <p:spPr>
          <a:xfrm>
            <a:off x="859536" y="5769864"/>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Os eventos de movimentação podem ocorrer simultaneamente em mais de uma família.</a:t>
            </a:r>
            <a:endParaRPr lang="en-US" sz="1170" dirty="0"/>
          </a:p>
        </p:txBody>
      </p:sp>
      <p:sp>
        <p:nvSpPr>
          <p:cNvPr id="35" name="Text 33"/>
          <p:cNvSpPr/>
          <p:nvPr/>
        </p:nvSpPr>
        <p:spPr>
          <a:xfrm>
            <a:off x="859536" y="5920740"/>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Combinações menores não estão mostradas neste gráfico.</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DENOMINADORES E OPORTUNIDADES</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Carteiras maiores registram mais casos com alguma alteração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09</a:t>
            </a:r>
            <a:endParaRPr lang="en-US" sz="1050" dirty="0"/>
          </a:p>
        </p:txBody>
      </p:sp>
      <p:sp>
        <p:nvSpPr>
          <p:cNvPr id="8" name="Text 6"/>
          <p:cNvSpPr/>
          <p:nvPr/>
        </p:nvSpPr>
        <p:spPr>
          <a:xfrm>
            <a:off x="768096" y="1883664"/>
            <a:ext cx="3931920" cy="228600"/>
          </a:xfrm>
          <a:prstGeom prst="rect">
            <a:avLst/>
          </a:prstGeom>
          <a:noFill/>
          <a:ln/>
        </p:spPr>
        <p:txBody>
          <a:bodyPr wrap="square" lIns="0" tIns="0" rIns="0" bIns="0" rtlCol="0" anchor="ctr"/>
          <a:lstStyle/>
          <a:p>
            <a:pPr indent="0" marL="0">
              <a:buNone/>
            </a:pPr>
            <a:r>
              <a:rPr lang="en-US" sz="1280" b="1" dirty="0">
                <a:solidFill>
                  <a:srgbClr val="577F99"/>
                </a:solidFill>
                <a:latin typeface="Aptos" pitchFamily="34" charset="0"/>
                <a:ea typeface="Aptos" pitchFamily="34" charset="-122"/>
                <a:cs typeface="Aptos" pitchFamily="34" charset="-120"/>
              </a:rPr>
              <a:t>Alguma movimentação por registro</a:t>
            </a:r>
            <a:endParaRPr lang="en-US" sz="1280" dirty="0"/>
          </a:p>
        </p:txBody>
      </p:sp>
      <p:sp>
        <p:nvSpPr>
          <p:cNvPr id="9" name="Text 7"/>
          <p:cNvSpPr/>
          <p:nvPr/>
        </p:nvSpPr>
        <p:spPr>
          <a:xfrm>
            <a:off x="6062472" y="1883664"/>
            <a:ext cx="4983480" cy="228600"/>
          </a:xfrm>
          <a:prstGeom prst="rect">
            <a:avLst/>
          </a:prstGeom>
          <a:noFill/>
          <a:ln/>
        </p:spPr>
        <p:txBody>
          <a:bodyPr wrap="square" lIns="0" tIns="0" rIns="0" bIns="0" rtlCol="0" anchor="ctr"/>
          <a:lstStyle/>
          <a:p>
            <a:pPr indent="0" marL="0">
              <a:buNone/>
            </a:pPr>
            <a:r>
              <a:rPr lang="en-US" sz="1280" b="1" dirty="0">
                <a:solidFill>
                  <a:srgbClr val="1E6159"/>
                </a:solidFill>
                <a:latin typeface="Aptos" pitchFamily="34" charset="0"/>
                <a:ea typeface="Aptos" pitchFamily="34" charset="-122"/>
                <a:cs typeface="Aptos" pitchFamily="34" charset="-120"/>
              </a:rPr>
              <a:t>Flags por família presente em M0</a:t>
            </a:r>
            <a:endParaRPr lang="en-US" sz="1280" dirty="0"/>
          </a:p>
        </p:txBody>
      </p:sp>
      <p:sp>
        <p:nvSpPr>
          <p:cNvPr id="10" name="Text 8"/>
          <p:cNvSpPr/>
          <p:nvPr/>
        </p:nvSpPr>
        <p:spPr>
          <a:xfrm>
            <a:off x="758952" y="2368296"/>
            <a:ext cx="1481328" cy="265176"/>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1 família</a:t>
            </a:r>
            <a:endParaRPr lang="en-US" sz="1500" dirty="0"/>
          </a:p>
        </p:txBody>
      </p:sp>
      <p:sp>
        <p:nvSpPr>
          <p:cNvPr id="11" name="Shape 9"/>
          <p:cNvSpPr/>
          <p:nvPr/>
        </p:nvSpPr>
        <p:spPr>
          <a:xfrm>
            <a:off x="2176272" y="2395728"/>
            <a:ext cx="3072384" cy="228600"/>
          </a:xfrm>
          <a:prstGeom prst="rect">
            <a:avLst/>
          </a:prstGeom>
          <a:solidFill>
            <a:srgbClr val="EDF1F0"/>
          </a:solidFill>
          <a:ln w="12700">
            <a:solidFill>
              <a:srgbClr val="EDF1F0">
                <a:alpha val="0"/>
              </a:srgbClr>
            </a:solidFill>
            <a:prstDash val="solid"/>
          </a:ln>
        </p:spPr>
      </p:sp>
      <p:sp>
        <p:nvSpPr>
          <p:cNvPr id="12" name="Shape 10"/>
          <p:cNvSpPr/>
          <p:nvPr/>
        </p:nvSpPr>
        <p:spPr>
          <a:xfrm>
            <a:off x="2176272" y="2395728"/>
            <a:ext cx="1130637" cy="228600"/>
          </a:xfrm>
          <a:prstGeom prst="rect">
            <a:avLst/>
          </a:prstGeom>
          <a:solidFill>
            <a:srgbClr val="577F99"/>
          </a:solidFill>
          <a:ln w="12700">
            <a:solidFill>
              <a:srgbClr val="577F99">
                <a:alpha val="0"/>
              </a:srgbClr>
            </a:solidFill>
            <a:prstDash val="solid"/>
          </a:ln>
        </p:spPr>
      </p:sp>
      <p:sp>
        <p:nvSpPr>
          <p:cNvPr id="13" name="Text 11"/>
          <p:cNvSpPr/>
          <p:nvPr/>
        </p:nvSpPr>
        <p:spPr>
          <a:xfrm>
            <a:off x="5257800" y="2368296"/>
            <a:ext cx="914400" cy="265176"/>
          </a:xfrm>
          <a:prstGeom prst="rect">
            <a:avLst/>
          </a:prstGeom>
          <a:noFill/>
          <a:ln/>
        </p:spPr>
        <p:txBody>
          <a:bodyPr wrap="square" lIns="0" tIns="0" rIns="0" bIns="0" rtlCol="0" anchor="ctr"/>
          <a:lstStyle/>
          <a:p>
            <a:pPr indent="0" marL="0">
              <a:buNone/>
            </a:pPr>
            <a:r>
              <a:rPr lang="en-US" sz="1550" b="1" dirty="0">
                <a:solidFill>
                  <a:srgbClr val="577F99"/>
                </a:solidFill>
                <a:latin typeface="Aptos" pitchFamily="34" charset="0"/>
                <a:ea typeface="Aptos" pitchFamily="34" charset="-122"/>
                <a:cs typeface="Aptos" pitchFamily="34" charset="-120"/>
              </a:rPr>
              <a:t>27,6%</a:t>
            </a:r>
            <a:endParaRPr lang="en-US" sz="1550" dirty="0"/>
          </a:p>
        </p:txBody>
      </p:sp>
      <p:sp>
        <p:nvSpPr>
          <p:cNvPr id="14" name="Shape 12"/>
          <p:cNvSpPr/>
          <p:nvPr/>
        </p:nvSpPr>
        <p:spPr>
          <a:xfrm>
            <a:off x="6922008" y="2395728"/>
            <a:ext cx="3017520" cy="228600"/>
          </a:xfrm>
          <a:prstGeom prst="rect">
            <a:avLst/>
          </a:prstGeom>
          <a:solidFill>
            <a:srgbClr val="EDF1F0"/>
          </a:solidFill>
          <a:ln w="12700">
            <a:solidFill>
              <a:srgbClr val="EDF1F0">
                <a:alpha val="0"/>
              </a:srgbClr>
            </a:solidFill>
            <a:prstDash val="solid"/>
          </a:ln>
        </p:spPr>
      </p:sp>
      <p:sp>
        <p:nvSpPr>
          <p:cNvPr id="15" name="Shape 13"/>
          <p:cNvSpPr/>
          <p:nvPr/>
        </p:nvSpPr>
        <p:spPr>
          <a:xfrm>
            <a:off x="6922008" y="2395728"/>
            <a:ext cx="1110447" cy="228600"/>
          </a:xfrm>
          <a:prstGeom prst="rect">
            <a:avLst/>
          </a:prstGeom>
          <a:solidFill>
            <a:srgbClr val="1E6159"/>
          </a:solidFill>
          <a:ln w="12700">
            <a:solidFill>
              <a:srgbClr val="1E6159">
                <a:alpha val="0"/>
              </a:srgbClr>
            </a:solidFill>
            <a:prstDash val="solid"/>
          </a:ln>
        </p:spPr>
      </p:sp>
      <p:sp>
        <p:nvSpPr>
          <p:cNvPr id="16" name="Text 14"/>
          <p:cNvSpPr/>
          <p:nvPr/>
        </p:nvSpPr>
        <p:spPr>
          <a:xfrm>
            <a:off x="10040112" y="2368296"/>
            <a:ext cx="914400" cy="265176"/>
          </a:xfrm>
          <a:prstGeom prst="rect">
            <a:avLst/>
          </a:prstGeom>
          <a:noFill/>
          <a:ln/>
        </p:spPr>
        <p:txBody>
          <a:bodyPr wrap="square" lIns="0" tIns="0" rIns="0" bIns="0" rtlCol="0" anchor="ctr"/>
          <a:lstStyle/>
          <a:p>
            <a:pPr indent="0" marL="0">
              <a:buNone/>
            </a:pPr>
            <a:r>
              <a:rPr lang="en-US" sz="1550" b="1" dirty="0">
                <a:solidFill>
                  <a:srgbClr val="1E6159"/>
                </a:solidFill>
                <a:latin typeface="Aptos" pitchFamily="34" charset="0"/>
                <a:ea typeface="Aptos" pitchFamily="34" charset="-122"/>
                <a:cs typeface="Aptos" pitchFamily="34" charset="-120"/>
              </a:rPr>
              <a:t>27,6%</a:t>
            </a:r>
            <a:endParaRPr lang="en-US" sz="1550" dirty="0"/>
          </a:p>
        </p:txBody>
      </p:sp>
      <p:sp>
        <p:nvSpPr>
          <p:cNvPr id="17" name="Text 15"/>
          <p:cNvSpPr/>
          <p:nvPr/>
        </p:nvSpPr>
        <p:spPr>
          <a:xfrm>
            <a:off x="758952" y="3081528"/>
            <a:ext cx="1481328" cy="265176"/>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2 famílias</a:t>
            </a:r>
            <a:endParaRPr lang="en-US" sz="1500" dirty="0"/>
          </a:p>
        </p:txBody>
      </p:sp>
      <p:sp>
        <p:nvSpPr>
          <p:cNvPr id="18" name="Shape 16"/>
          <p:cNvSpPr/>
          <p:nvPr/>
        </p:nvSpPr>
        <p:spPr>
          <a:xfrm>
            <a:off x="2176272" y="3108960"/>
            <a:ext cx="3072384" cy="228600"/>
          </a:xfrm>
          <a:prstGeom prst="rect">
            <a:avLst/>
          </a:prstGeom>
          <a:solidFill>
            <a:srgbClr val="EDF1F0"/>
          </a:solidFill>
          <a:ln w="12700">
            <a:solidFill>
              <a:srgbClr val="EDF1F0">
                <a:alpha val="0"/>
              </a:srgbClr>
            </a:solidFill>
            <a:prstDash val="solid"/>
          </a:ln>
        </p:spPr>
      </p:sp>
      <p:sp>
        <p:nvSpPr>
          <p:cNvPr id="19" name="Shape 17"/>
          <p:cNvSpPr/>
          <p:nvPr/>
        </p:nvSpPr>
        <p:spPr>
          <a:xfrm>
            <a:off x="2176272" y="3108960"/>
            <a:ext cx="1511613" cy="228600"/>
          </a:xfrm>
          <a:prstGeom prst="rect">
            <a:avLst/>
          </a:prstGeom>
          <a:solidFill>
            <a:srgbClr val="577F99"/>
          </a:solidFill>
          <a:ln w="12700">
            <a:solidFill>
              <a:srgbClr val="577F99">
                <a:alpha val="0"/>
              </a:srgbClr>
            </a:solidFill>
            <a:prstDash val="solid"/>
          </a:ln>
        </p:spPr>
      </p:sp>
      <p:sp>
        <p:nvSpPr>
          <p:cNvPr id="20" name="Text 18"/>
          <p:cNvSpPr/>
          <p:nvPr/>
        </p:nvSpPr>
        <p:spPr>
          <a:xfrm>
            <a:off x="5257800" y="3081528"/>
            <a:ext cx="914400" cy="265176"/>
          </a:xfrm>
          <a:prstGeom prst="rect">
            <a:avLst/>
          </a:prstGeom>
          <a:noFill/>
          <a:ln/>
        </p:spPr>
        <p:txBody>
          <a:bodyPr wrap="square" lIns="0" tIns="0" rIns="0" bIns="0" rtlCol="0" anchor="ctr"/>
          <a:lstStyle/>
          <a:p>
            <a:pPr indent="0" marL="0">
              <a:buNone/>
            </a:pPr>
            <a:r>
              <a:rPr lang="en-US" sz="1550" b="1" dirty="0">
                <a:solidFill>
                  <a:srgbClr val="577F99"/>
                </a:solidFill>
                <a:latin typeface="Aptos" pitchFamily="34" charset="0"/>
                <a:ea typeface="Aptos" pitchFamily="34" charset="-122"/>
                <a:cs typeface="Aptos" pitchFamily="34" charset="-120"/>
              </a:rPr>
              <a:t>36,9%</a:t>
            </a:r>
            <a:endParaRPr lang="en-US" sz="1550" dirty="0"/>
          </a:p>
        </p:txBody>
      </p:sp>
      <p:sp>
        <p:nvSpPr>
          <p:cNvPr id="21" name="Shape 19"/>
          <p:cNvSpPr/>
          <p:nvPr/>
        </p:nvSpPr>
        <p:spPr>
          <a:xfrm>
            <a:off x="6922008" y="3108960"/>
            <a:ext cx="3017520" cy="228600"/>
          </a:xfrm>
          <a:prstGeom prst="rect">
            <a:avLst/>
          </a:prstGeom>
          <a:solidFill>
            <a:srgbClr val="EDF1F0"/>
          </a:solidFill>
          <a:ln w="12700">
            <a:solidFill>
              <a:srgbClr val="EDF1F0">
                <a:alpha val="0"/>
              </a:srgbClr>
            </a:solidFill>
            <a:prstDash val="solid"/>
          </a:ln>
        </p:spPr>
      </p:sp>
      <p:sp>
        <p:nvSpPr>
          <p:cNvPr id="22" name="Shape 20"/>
          <p:cNvSpPr/>
          <p:nvPr/>
        </p:nvSpPr>
        <p:spPr>
          <a:xfrm>
            <a:off x="6922008" y="3108960"/>
            <a:ext cx="949513" cy="228600"/>
          </a:xfrm>
          <a:prstGeom prst="rect">
            <a:avLst/>
          </a:prstGeom>
          <a:solidFill>
            <a:srgbClr val="1E6159"/>
          </a:solidFill>
          <a:ln w="12700">
            <a:solidFill>
              <a:srgbClr val="1E6159">
                <a:alpha val="0"/>
              </a:srgbClr>
            </a:solidFill>
            <a:prstDash val="solid"/>
          </a:ln>
        </p:spPr>
      </p:sp>
      <p:sp>
        <p:nvSpPr>
          <p:cNvPr id="23" name="Text 21"/>
          <p:cNvSpPr/>
          <p:nvPr/>
        </p:nvSpPr>
        <p:spPr>
          <a:xfrm>
            <a:off x="10040112" y="3081528"/>
            <a:ext cx="914400" cy="265176"/>
          </a:xfrm>
          <a:prstGeom prst="rect">
            <a:avLst/>
          </a:prstGeom>
          <a:noFill/>
          <a:ln/>
        </p:spPr>
        <p:txBody>
          <a:bodyPr wrap="square" lIns="0" tIns="0" rIns="0" bIns="0" rtlCol="0" anchor="ctr"/>
          <a:lstStyle/>
          <a:p>
            <a:pPr indent="0" marL="0">
              <a:buNone/>
            </a:pPr>
            <a:r>
              <a:rPr lang="en-US" sz="1550" b="1" dirty="0">
                <a:solidFill>
                  <a:srgbClr val="1E6159"/>
                </a:solidFill>
                <a:latin typeface="Aptos" pitchFamily="34" charset="0"/>
                <a:ea typeface="Aptos" pitchFamily="34" charset="-122"/>
                <a:cs typeface="Aptos" pitchFamily="34" charset="-120"/>
              </a:rPr>
              <a:t>23,6%</a:t>
            </a:r>
            <a:endParaRPr lang="en-US" sz="1550" dirty="0"/>
          </a:p>
        </p:txBody>
      </p:sp>
      <p:sp>
        <p:nvSpPr>
          <p:cNvPr id="24" name="Text 22"/>
          <p:cNvSpPr/>
          <p:nvPr/>
        </p:nvSpPr>
        <p:spPr>
          <a:xfrm>
            <a:off x="758952" y="3794760"/>
            <a:ext cx="1481328" cy="265176"/>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3 famílias</a:t>
            </a:r>
            <a:endParaRPr lang="en-US" sz="1500" dirty="0"/>
          </a:p>
        </p:txBody>
      </p:sp>
      <p:sp>
        <p:nvSpPr>
          <p:cNvPr id="25" name="Shape 23"/>
          <p:cNvSpPr/>
          <p:nvPr/>
        </p:nvSpPr>
        <p:spPr>
          <a:xfrm>
            <a:off x="2176272" y="3822192"/>
            <a:ext cx="3072384" cy="228600"/>
          </a:xfrm>
          <a:prstGeom prst="rect">
            <a:avLst/>
          </a:prstGeom>
          <a:solidFill>
            <a:srgbClr val="EDF1F0"/>
          </a:solidFill>
          <a:ln w="12700">
            <a:solidFill>
              <a:srgbClr val="EDF1F0">
                <a:alpha val="0"/>
              </a:srgbClr>
            </a:solidFill>
            <a:prstDash val="solid"/>
          </a:ln>
        </p:spPr>
      </p:sp>
      <p:sp>
        <p:nvSpPr>
          <p:cNvPr id="26" name="Shape 24"/>
          <p:cNvSpPr/>
          <p:nvPr/>
        </p:nvSpPr>
        <p:spPr>
          <a:xfrm>
            <a:off x="2176272" y="3822192"/>
            <a:ext cx="1650894" cy="228600"/>
          </a:xfrm>
          <a:prstGeom prst="rect">
            <a:avLst/>
          </a:prstGeom>
          <a:solidFill>
            <a:srgbClr val="577F99"/>
          </a:solidFill>
          <a:ln w="12700">
            <a:solidFill>
              <a:srgbClr val="577F99">
                <a:alpha val="0"/>
              </a:srgbClr>
            </a:solidFill>
            <a:prstDash val="solid"/>
          </a:ln>
        </p:spPr>
      </p:sp>
      <p:sp>
        <p:nvSpPr>
          <p:cNvPr id="27" name="Text 25"/>
          <p:cNvSpPr/>
          <p:nvPr/>
        </p:nvSpPr>
        <p:spPr>
          <a:xfrm>
            <a:off x="5257800" y="3794760"/>
            <a:ext cx="914400" cy="265176"/>
          </a:xfrm>
          <a:prstGeom prst="rect">
            <a:avLst/>
          </a:prstGeom>
          <a:noFill/>
          <a:ln/>
        </p:spPr>
        <p:txBody>
          <a:bodyPr wrap="square" lIns="0" tIns="0" rIns="0" bIns="0" rtlCol="0" anchor="ctr"/>
          <a:lstStyle/>
          <a:p>
            <a:pPr indent="0" marL="0">
              <a:buNone/>
            </a:pPr>
            <a:r>
              <a:rPr lang="en-US" sz="1550" b="1" dirty="0">
                <a:solidFill>
                  <a:srgbClr val="577F99"/>
                </a:solidFill>
                <a:latin typeface="Aptos" pitchFamily="34" charset="0"/>
                <a:ea typeface="Aptos" pitchFamily="34" charset="-122"/>
                <a:cs typeface="Aptos" pitchFamily="34" charset="-120"/>
              </a:rPr>
              <a:t>40,3%</a:t>
            </a:r>
            <a:endParaRPr lang="en-US" sz="1550" dirty="0"/>
          </a:p>
        </p:txBody>
      </p:sp>
      <p:sp>
        <p:nvSpPr>
          <p:cNvPr id="28" name="Shape 26"/>
          <p:cNvSpPr/>
          <p:nvPr/>
        </p:nvSpPr>
        <p:spPr>
          <a:xfrm>
            <a:off x="6922008" y="3822192"/>
            <a:ext cx="3017520" cy="228600"/>
          </a:xfrm>
          <a:prstGeom prst="rect">
            <a:avLst/>
          </a:prstGeom>
          <a:solidFill>
            <a:srgbClr val="EDF1F0"/>
          </a:solidFill>
          <a:ln w="12700">
            <a:solidFill>
              <a:srgbClr val="EDF1F0">
                <a:alpha val="0"/>
              </a:srgbClr>
            </a:solidFill>
            <a:prstDash val="solid"/>
          </a:ln>
        </p:spPr>
      </p:sp>
      <p:sp>
        <p:nvSpPr>
          <p:cNvPr id="29" name="Shape 27"/>
          <p:cNvSpPr/>
          <p:nvPr/>
        </p:nvSpPr>
        <p:spPr>
          <a:xfrm>
            <a:off x="6922008" y="3822192"/>
            <a:ext cx="860999" cy="228600"/>
          </a:xfrm>
          <a:prstGeom prst="rect">
            <a:avLst/>
          </a:prstGeom>
          <a:solidFill>
            <a:srgbClr val="1E6159"/>
          </a:solidFill>
          <a:ln w="12700">
            <a:solidFill>
              <a:srgbClr val="1E6159">
                <a:alpha val="0"/>
              </a:srgbClr>
            </a:solidFill>
            <a:prstDash val="solid"/>
          </a:ln>
        </p:spPr>
      </p:sp>
      <p:sp>
        <p:nvSpPr>
          <p:cNvPr id="30" name="Text 28"/>
          <p:cNvSpPr/>
          <p:nvPr/>
        </p:nvSpPr>
        <p:spPr>
          <a:xfrm>
            <a:off x="10040112" y="3794760"/>
            <a:ext cx="914400" cy="265176"/>
          </a:xfrm>
          <a:prstGeom prst="rect">
            <a:avLst/>
          </a:prstGeom>
          <a:noFill/>
          <a:ln/>
        </p:spPr>
        <p:txBody>
          <a:bodyPr wrap="square" lIns="0" tIns="0" rIns="0" bIns="0" rtlCol="0" anchor="ctr"/>
          <a:lstStyle/>
          <a:p>
            <a:pPr indent="0" marL="0">
              <a:buNone/>
            </a:pPr>
            <a:r>
              <a:rPr lang="en-US" sz="1550" b="1" dirty="0">
                <a:solidFill>
                  <a:srgbClr val="1E6159"/>
                </a:solidFill>
                <a:latin typeface="Aptos" pitchFamily="34" charset="0"/>
                <a:ea typeface="Aptos" pitchFamily="34" charset="-122"/>
                <a:cs typeface="Aptos" pitchFamily="34" charset="-120"/>
              </a:rPr>
              <a:t>21,4%</a:t>
            </a:r>
            <a:endParaRPr lang="en-US" sz="1550" dirty="0"/>
          </a:p>
        </p:txBody>
      </p:sp>
      <p:sp>
        <p:nvSpPr>
          <p:cNvPr id="31" name="Text 29"/>
          <p:cNvSpPr/>
          <p:nvPr/>
        </p:nvSpPr>
        <p:spPr>
          <a:xfrm>
            <a:off x="758952" y="4507992"/>
            <a:ext cx="1481328" cy="265176"/>
          </a:xfrm>
          <a:prstGeom prst="rect">
            <a:avLst/>
          </a:prstGeom>
          <a:noFill/>
          <a:ln/>
        </p:spPr>
        <p:txBody>
          <a:bodyPr wrap="square" lIns="0" tIns="0" rIns="0" bIns="0" rtlCol="0" anchor="ctr"/>
          <a:lstStyle/>
          <a:p>
            <a:pPr indent="0" marL="0">
              <a:buNone/>
            </a:pPr>
            <a:r>
              <a:rPr lang="en-US" sz="1500" b="1" dirty="0">
                <a:solidFill>
                  <a:srgbClr val="162B30"/>
                </a:solidFill>
                <a:latin typeface="Aptos" pitchFamily="34" charset="0"/>
                <a:ea typeface="Aptos" pitchFamily="34" charset="-122"/>
                <a:cs typeface="Aptos" pitchFamily="34" charset="-120"/>
              </a:rPr>
              <a:t>4 famílias</a:t>
            </a:r>
            <a:endParaRPr lang="en-US" sz="1500" dirty="0"/>
          </a:p>
        </p:txBody>
      </p:sp>
      <p:sp>
        <p:nvSpPr>
          <p:cNvPr id="32" name="Shape 30"/>
          <p:cNvSpPr/>
          <p:nvPr/>
        </p:nvSpPr>
        <p:spPr>
          <a:xfrm>
            <a:off x="2176272" y="4535424"/>
            <a:ext cx="3072384" cy="228600"/>
          </a:xfrm>
          <a:prstGeom prst="rect">
            <a:avLst/>
          </a:prstGeom>
          <a:solidFill>
            <a:srgbClr val="EDF1F0"/>
          </a:solidFill>
          <a:ln w="12700">
            <a:solidFill>
              <a:srgbClr val="EDF1F0">
                <a:alpha val="0"/>
              </a:srgbClr>
            </a:solidFill>
            <a:prstDash val="solid"/>
          </a:ln>
        </p:spPr>
      </p:sp>
      <p:sp>
        <p:nvSpPr>
          <p:cNvPr id="33" name="Shape 31"/>
          <p:cNvSpPr/>
          <p:nvPr/>
        </p:nvSpPr>
        <p:spPr>
          <a:xfrm>
            <a:off x="2176272" y="4535424"/>
            <a:ext cx="2847076" cy="228600"/>
          </a:xfrm>
          <a:prstGeom prst="rect">
            <a:avLst/>
          </a:prstGeom>
          <a:solidFill>
            <a:srgbClr val="577F99"/>
          </a:solidFill>
          <a:ln w="12700">
            <a:solidFill>
              <a:srgbClr val="577F99">
                <a:alpha val="0"/>
              </a:srgbClr>
            </a:solidFill>
            <a:prstDash val="solid"/>
          </a:ln>
        </p:spPr>
      </p:sp>
      <p:sp>
        <p:nvSpPr>
          <p:cNvPr id="34" name="Text 32"/>
          <p:cNvSpPr/>
          <p:nvPr/>
        </p:nvSpPr>
        <p:spPr>
          <a:xfrm>
            <a:off x="5257800" y="4507992"/>
            <a:ext cx="914400" cy="265176"/>
          </a:xfrm>
          <a:prstGeom prst="rect">
            <a:avLst/>
          </a:prstGeom>
          <a:noFill/>
          <a:ln/>
        </p:spPr>
        <p:txBody>
          <a:bodyPr wrap="square" lIns="0" tIns="0" rIns="0" bIns="0" rtlCol="0" anchor="ctr"/>
          <a:lstStyle/>
          <a:p>
            <a:pPr indent="0" marL="0">
              <a:buNone/>
            </a:pPr>
            <a:r>
              <a:rPr lang="en-US" sz="1550" b="1" dirty="0">
                <a:solidFill>
                  <a:srgbClr val="577F99"/>
                </a:solidFill>
                <a:latin typeface="Aptos" pitchFamily="34" charset="0"/>
                <a:ea typeface="Aptos" pitchFamily="34" charset="-122"/>
                <a:cs typeface="Aptos" pitchFamily="34" charset="-120"/>
              </a:rPr>
              <a:t>69,5%</a:t>
            </a:r>
            <a:endParaRPr lang="en-US" sz="1550" dirty="0"/>
          </a:p>
        </p:txBody>
      </p:sp>
      <p:sp>
        <p:nvSpPr>
          <p:cNvPr id="35" name="Shape 33"/>
          <p:cNvSpPr/>
          <p:nvPr/>
        </p:nvSpPr>
        <p:spPr>
          <a:xfrm>
            <a:off x="6922008" y="4535424"/>
            <a:ext cx="3017520" cy="228600"/>
          </a:xfrm>
          <a:prstGeom prst="rect">
            <a:avLst/>
          </a:prstGeom>
          <a:solidFill>
            <a:srgbClr val="EDF1F0"/>
          </a:solidFill>
          <a:ln w="12700">
            <a:solidFill>
              <a:srgbClr val="EDF1F0">
                <a:alpha val="0"/>
              </a:srgbClr>
            </a:solidFill>
            <a:prstDash val="solid"/>
          </a:ln>
        </p:spPr>
      </p:sp>
      <p:sp>
        <p:nvSpPr>
          <p:cNvPr id="36" name="Shape 34"/>
          <p:cNvSpPr/>
          <p:nvPr/>
        </p:nvSpPr>
        <p:spPr>
          <a:xfrm>
            <a:off x="6922008" y="4535424"/>
            <a:ext cx="1464503" cy="228600"/>
          </a:xfrm>
          <a:prstGeom prst="rect">
            <a:avLst/>
          </a:prstGeom>
          <a:solidFill>
            <a:srgbClr val="1E6159"/>
          </a:solidFill>
          <a:ln w="12700">
            <a:solidFill>
              <a:srgbClr val="1E6159">
                <a:alpha val="0"/>
              </a:srgbClr>
            </a:solidFill>
            <a:prstDash val="solid"/>
          </a:ln>
        </p:spPr>
      </p:sp>
      <p:sp>
        <p:nvSpPr>
          <p:cNvPr id="37" name="Text 35"/>
          <p:cNvSpPr/>
          <p:nvPr/>
        </p:nvSpPr>
        <p:spPr>
          <a:xfrm>
            <a:off x="10040112" y="4507992"/>
            <a:ext cx="914400" cy="265176"/>
          </a:xfrm>
          <a:prstGeom prst="rect">
            <a:avLst/>
          </a:prstGeom>
          <a:noFill/>
          <a:ln/>
        </p:spPr>
        <p:txBody>
          <a:bodyPr wrap="square" lIns="0" tIns="0" rIns="0" bIns="0" rtlCol="0" anchor="ctr"/>
          <a:lstStyle/>
          <a:p>
            <a:pPr indent="0" marL="0">
              <a:buNone/>
            </a:pPr>
            <a:r>
              <a:rPr lang="en-US" sz="1550" b="1" dirty="0">
                <a:solidFill>
                  <a:srgbClr val="1E6159"/>
                </a:solidFill>
                <a:latin typeface="Aptos" pitchFamily="34" charset="0"/>
                <a:ea typeface="Aptos" pitchFamily="34" charset="-122"/>
                <a:cs typeface="Aptos" pitchFamily="34" charset="-120"/>
              </a:rPr>
              <a:t>36,4%</a:t>
            </a:r>
            <a:endParaRPr lang="en-US" sz="1550" dirty="0"/>
          </a:p>
        </p:txBody>
      </p:sp>
      <p:sp>
        <p:nvSpPr>
          <p:cNvPr id="38" name="Shape 36"/>
          <p:cNvSpPr/>
          <p:nvPr/>
        </p:nvSpPr>
        <p:spPr>
          <a:xfrm>
            <a:off x="694944" y="5632704"/>
            <a:ext cx="10972800" cy="438912"/>
          </a:xfrm>
          <a:prstGeom prst="roundRect">
            <a:avLst>
              <a:gd name="adj" fmla="val 25000"/>
            </a:avLst>
          </a:prstGeom>
          <a:solidFill>
            <a:srgbClr val="E5F0EB"/>
          </a:solidFill>
          <a:ln w="12700">
            <a:solidFill>
              <a:srgbClr val="E5F0EB">
                <a:alpha val="0"/>
              </a:srgbClr>
            </a:solidFill>
            <a:prstDash val="solid"/>
          </a:ln>
        </p:spPr>
      </p:sp>
      <p:sp>
        <p:nvSpPr>
          <p:cNvPr id="39" name="Text 37"/>
          <p:cNvSpPr/>
          <p:nvPr/>
        </p:nvSpPr>
        <p:spPr>
          <a:xfrm>
            <a:off x="850392" y="5696712"/>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O indicador “qualquer movimentação” cresce com o número de oportunidades possíveis.</a:t>
            </a:r>
            <a:endParaRPr lang="en-US" sz="1170" dirty="0"/>
          </a:p>
        </p:txBody>
      </p:sp>
      <p:sp>
        <p:nvSpPr>
          <p:cNvPr id="40" name="Text 38"/>
          <p:cNvSpPr/>
          <p:nvPr/>
        </p:nvSpPr>
        <p:spPr>
          <a:xfrm>
            <a:off x="850392" y="5847588"/>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 taxa por família presente em M0 não equivale a ajuste causal.</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MOVIMENTAÇÃO POR FAMÍLIA ELEGÍVEL</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Móvel tem maior incidência entre elegíveis, mas menor base inicial</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10</a:t>
            </a:r>
            <a:endParaRPr lang="en-US" sz="1050" dirty="0"/>
          </a:p>
        </p:txBody>
      </p:sp>
      <p:sp>
        <p:nvSpPr>
          <p:cNvPr id="8" name="Text 6"/>
          <p:cNvSpPr/>
          <p:nvPr/>
        </p:nvSpPr>
        <p:spPr>
          <a:xfrm>
            <a:off x="804672" y="2002536"/>
            <a:ext cx="4301338"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Internet fixa (BL)</a:t>
            </a:r>
            <a:endParaRPr lang="en-US" sz="1450" dirty="0"/>
          </a:p>
        </p:txBody>
      </p:sp>
      <p:sp>
        <p:nvSpPr>
          <p:cNvPr id="9" name="Shape 7"/>
          <p:cNvSpPr/>
          <p:nvPr/>
        </p:nvSpPr>
        <p:spPr>
          <a:xfrm>
            <a:off x="5106010" y="2039112"/>
            <a:ext cx="4198925" cy="201168"/>
          </a:xfrm>
          <a:prstGeom prst="rect">
            <a:avLst/>
          </a:prstGeom>
          <a:solidFill>
            <a:srgbClr val="EDF1F0"/>
          </a:solidFill>
          <a:ln w="12700">
            <a:solidFill>
              <a:srgbClr val="EDF1F0">
                <a:alpha val="0"/>
              </a:srgbClr>
            </a:solidFill>
            <a:prstDash val="solid"/>
          </a:ln>
        </p:spPr>
      </p:sp>
      <p:sp>
        <p:nvSpPr>
          <p:cNvPr id="10" name="Shape 8"/>
          <p:cNvSpPr/>
          <p:nvPr/>
        </p:nvSpPr>
        <p:spPr>
          <a:xfrm>
            <a:off x="5106010" y="2039112"/>
            <a:ext cx="2892593" cy="201168"/>
          </a:xfrm>
          <a:prstGeom prst="rect">
            <a:avLst/>
          </a:prstGeom>
          <a:solidFill>
            <a:srgbClr val="1E6159"/>
          </a:solidFill>
          <a:ln w="12700">
            <a:solidFill>
              <a:srgbClr val="1E6159">
                <a:alpha val="0"/>
              </a:srgbClr>
            </a:solidFill>
            <a:prstDash val="solid"/>
          </a:ln>
        </p:spPr>
      </p:sp>
      <p:sp>
        <p:nvSpPr>
          <p:cNvPr id="11" name="Text 9"/>
          <p:cNvSpPr/>
          <p:nvPr/>
        </p:nvSpPr>
        <p:spPr>
          <a:xfrm>
            <a:off x="9423806" y="2002536"/>
            <a:ext cx="1638605"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31,0%</a:t>
            </a:r>
            <a:endParaRPr lang="en-US" sz="1510" dirty="0"/>
          </a:p>
        </p:txBody>
      </p:sp>
      <p:sp>
        <p:nvSpPr>
          <p:cNvPr id="12" name="Text 10"/>
          <p:cNvSpPr/>
          <p:nvPr/>
        </p:nvSpPr>
        <p:spPr>
          <a:xfrm>
            <a:off x="804672" y="2295144"/>
            <a:ext cx="102412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239.562 retidos com a família presente em M0</a:t>
            </a:r>
            <a:endParaRPr lang="en-US" sz="1010" dirty="0"/>
          </a:p>
        </p:txBody>
      </p:sp>
      <p:sp>
        <p:nvSpPr>
          <p:cNvPr id="13" name="Text 11"/>
          <p:cNvSpPr/>
          <p:nvPr/>
        </p:nvSpPr>
        <p:spPr>
          <a:xfrm>
            <a:off x="804672" y="2752344"/>
            <a:ext cx="4301338"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TV</a:t>
            </a:r>
            <a:endParaRPr lang="en-US" sz="1450" dirty="0"/>
          </a:p>
        </p:txBody>
      </p:sp>
      <p:sp>
        <p:nvSpPr>
          <p:cNvPr id="14" name="Shape 12"/>
          <p:cNvSpPr/>
          <p:nvPr/>
        </p:nvSpPr>
        <p:spPr>
          <a:xfrm>
            <a:off x="5106010" y="2788920"/>
            <a:ext cx="4198925" cy="201168"/>
          </a:xfrm>
          <a:prstGeom prst="rect">
            <a:avLst/>
          </a:prstGeom>
          <a:solidFill>
            <a:srgbClr val="EDF1F0"/>
          </a:solidFill>
          <a:ln w="12700">
            <a:solidFill>
              <a:srgbClr val="EDF1F0">
                <a:alpha val="0"/>
              </a:srgbClr>
            </a:solidFill>
            <a:prstDash val="solid"/>
          </a:ln>
        </p:spPr>
      </p:sp>
      <p:sp>
        <p:nvSpPr>
          <p:cNvPr id="15" name="Shape 13"/>
          <p:cNvSpPr/>
          <p:nvPr/>
        </p:nvSpPr>
        <p:spPr>
          <a:xfrm>
            <a:off x="5106010" y="2788920"/>
            <a:ext cx="1651577" cy="201168"/>
          </a:xfrm>
          <a:prstGeom prst="rect">
            <a:avLst/>
          </a:prstGeom>
          <a:solidFill>
            <a:srgbClr val="577F99"/>
          </a:solidFill>
          <a:ln w="12700">
            <a:solidFill>
              <a:srgbClr val="577F99">
                <a:alpha val="0"/>
              </a:srgbClr>
            </a:solidFill>
            <a:prstDash val="solid"/>
          </a:ln>
        </p:spPr>
      </p:sp>
      <p:sp>
        <p:nvSpPr>
          <p:cNvPr id="16" name="Text 14"/>
          <p:cNvSpPr/>
          <p:nvPr/>
        </p:nvSpPr>
        <p:spPr>
          <a:xfrm>
            <a:off x="9423806" y="2752344"/>
            <a:ext cx="1638605" cy="274320"/>
          </a:xfrm>
          <a:prstGeom prst="rect">
            <a:avLst/>
          </a:prstGeom>
          <a:noFill/>
          <a:ln/>
        </p:spPr>
        <p:txBody>
          <a:bodyPr wrap="square" lIns="0" tIns="0" rIns="0" bIns="0" rtlCol="0" anchor="ctr"/>
          <a:lstStyle/>
          <a:p>
            <a:pPr indent="0" marL="0">
              <a:buNone/>
            </a:pPr>
            <a:r>
              <a:rPr lang="en-US" sz="1510" b="1" dirty="0">
                <a:solidFill>
                  <a:srgbClr val="577F99"/>
                </a:solidFill>
                <a:latin typeface="Aptos" pitchFamily="34" charset="0"/>
                <a:ea typeface="Aptos" pitchFamily="34" charset="-122"/>
                <a:cs typeface="Aptos" pitchFamily="34" charset="-120"/>
              </a:rPr>
              <a:t>17,7%</a:t>
            </a:r>
            <a:endParaRPr lang="en-US" sz="1510" dirty="0"/>
          </a:p>
        </p:txBody>
      </p:sp>
      <p:sp>
        <p:nvSpPr>
          <p:cNvPr id="17" name="Text 15"/>
          <p:cNvSpPr/>
          <p:nvPr/>
        </p:nvSpPr>
        <p:spPr>
          <a:xfrm>
            <a:off x="804672" y="3044952"/>
            <a:ext cx="102412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138.754 retidos com a família presente em M0</a:t>
            </a:r>
            <a:endParaRPr lang="en-US" sz="1010" dirty="0"/>
          </a:p>
        </p:txBody>
      </p:sp>
      <p:sp>
        <p:nvSpPr>
          <p:cNvPr id="18" name="Text 16"/>
          <p:cNvSpPr/>
          <p:nvPr/>
        </p:nvSpPr>
        <p:spPr>
          <a:xfrm>
            <a:off x="804672" y="3502152"/>
            <a:ext cx="4301338"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Fone</a:t>
            </a:r>
            <a:endParaRPr lang="en-US" sz="1450" dirty="0"/>
          </a:p>
        </p:txBody>
      </p:sp>
      <p:sp>
        <p:nvSpPr>
          <p:cNvPr id="19" name="Shape 17"/>
          <p:cNvSpPr/>
          <p:nvPr/>
        </p:nvSpPr>
        <p:spPr>
          <a:xfrm>
            <a:off x="5106010" y="3538728"/>
            <a:ext cx="4198925" cy="201168"/>
          </a:xfrm>
          <a:prstGeom prst="rect">
            <a:avLst/>
          </a:prstGeom>
          <a:solidFill>
            <a:srgbClr val="EDF1F0"/>
          </a:solidFill>
          <a:ln w="12700">
            <a:solidFill>
              <a:srgbClr val="EDF1F0">
                <a:alpha val="0"/>
              </a:srgbClr>
            </a:solidFill>
            <a:prstDash val="solid"/>
          </a:ln>
        </p:spPr>
      </p:sp>
      <p:sp>
        <p:nvSpPr>
          <p:cNvPr id="20" name="Shape 18"/>
          <p:cNvSpPr/>
          <p:nvPr/>
        </p:nvSpPr>
        <p:spPr>
          <a:xfrm>
            <a:off x="5106010" y="3538728"/>
            <a:ext cx="1054397" cy="201168"/>
          </a:xfrm>
          <a:prstGeom prst="rect">
            <a:avLst/>
          </a:prstGeom>
          <a:solidFill>
            <a:srgbClr val="BD8F4C"/>
          </a:solidFill>
          <a:ln w="12700">
            <a:solidFill>
              <a:srgbClr val="BD8F4C">
                <a:alpha val="0"/>
              </a:srgbClr>
            </a:solidFill>
            <a:prstDash val="solid"/>
          </a:ln>
        </p:spPr>
      </p:sp>
      <p:sp>
        <p:nvSpPr>
          <p:cNvPr id="21" name="Text 19"/>
          <p:cNvSpPr/>
          <p:nvPr/>
        </p:nvSpPr>
        <p:spPr>
          <a:xfrm>
            <a:off x="9423806" y="3502152"/>
            <a:ext cx="1638605" cy="274320"/>
          </a:xfrm>
          <a:prstGeom prst="rect">
            <a:avLst/>
          </a:prstGeom>
          <a:noFill/>
          <a:ln/>
        </p:spPr>
        <p:txBody>
          <a:bodyPr wrap="square" lIns="0" tIns="0" rIns="0" bIns="0" rtlCol="0" anchor="ctr"/>
          <a:lstStyle/>
          <a:p>
            <a:pPr indent="0" marL="0">
              <a:buNone/>
            </a:pPr>
            <a:r>
              <a:rPr lang="en-US" sz="1510" b="1" dirty="0">
                <a:solidFill>
                  <a:srgbClr val="BD8F4C"/>
                </a:solidFill>
                <a:latin typeface="Aptos" pitchFamily="34" charset="0"/>
                <a:ea typeface="Aptos" pitchFamily="34" charset="-122"/>
                <a:cs typeface="Aptos" pitchFamily="34" charset="-120"/>
              </a:rPr>
              <a:t>11,3%</a:t>
            </a:r>
            <a:endParaRPr lang="en-US" sz="1510" dirty="0"/>
          </a:p>
        </p:txBody>
      </p:sp>
      <p:sp>
        <p:nvSpPr>
          <p:cNvPr id="22" name="Text 20"/>
          <p:cNvSpPr/>
          <p:nvPr/>
        </p:nvSpPr>
        <p:spPr>
          <a:xfrm>
            <a:off x="804672" y="3794760"/>
            <a:ext cx="102412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88.578 retidos com a família presente em M0</a:t>
            </a:r>
            <a:endParaRPr lang="en-US" sz="1010" dirty="0"/>
          </a:p>
        </p:txBody>
      </p:sp>
      <p:sp>
        <p:nvSpPr>
          <p:cNvPr id="23" name="Text 21"/>
          <p:cNvSpPr/>
          <p:nvPr/>
        </p:nvSpPr>
        <p:spPr>
          <a:xfrm>
            <a:off x="804672" y="4251960"/>
            <a:ext cx="4301338"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Móvel</a:t>
            </a:r>
            <a:endParaRPr lang="en-US" sz="1450" dirty="0"/>
          </a:p>
        </p:txBody>
      </p:sp>
      <p:sp>
        <p:nvSpPr>
          <p:cNvPr id="24" name="Shape 22"/>
          <p:cNvSpPr/>
          <p:nvPr/>
        </p:nvSpPr>
        <p:spPr>
          <a:xfrm>
            <a:off x="5106010" y="4288536"/>
            <a:ext cx="4198925" cy="201168"/>
          </a:xfrm>
          <a:prstGeom prst="rect">
            <a:avLst/>
          </a:prstGeom>
          <a:solidFill>
            <a:srgbClr val="EDF1F0"/>
          </a:solidFill>
          <a:ln w="12700">
            <a:solidFill>
              <a:srgbClr val="EDF1F0">
                <a:alpha val="0"/>
              </a:srgbClr>
            </a:solidFill>
            <a:prstDash val="solid"/>
          </a:ln>
        </p:spPr>
      </p:sp>
      <p:sp>
        <p:nvSpPr>
          <p:cNvPr id="25" name="Shape 23"/>
          <p:cNvSpPr/>
          <p:nvPr/>
        </p:nvSpPr>
        <p:spPr>
          <a:xfrm>
            <a:off x="5106010" y="4288536"/>
            <a:ext cx="3732378" cy="201168"/>
          </a:xfrm>
          <a:prstGeom prst="rect">
            <a:avLst/>
          </a:prstGeom>
          <a:solidFill>
            <a:srgbClr val="816B91"/>
          </a:solidFill>
          <a:ln w="12700">
            <a:solidFill>
              <a:srgbClr val="816B91">
                <a:alpha val="0"/>
              </a:srgbClr>
            </a:solidFill>
            <a:prstDash val="solid"/>
          </a:ln>
        </p:spPr>
      </p:sp>
      <p:sp>
        <p:nvSpPr>
          <p:cNvPr id="26" name="Text 24"/>
          <p:cNvSpPr/>
          <p:nvPr/>
        </p:nvSpPr>
        <p:spPr>
          <a:xfrm>
            <a:off x="9423806" y="4251960"/>
            <a:ext cx="1638605" cy="274320"/>
          </a:xfrm>
          <a:prstGeom prst="rect">
            <a:avLst/>
          </a:prstGeom>
          <a:noFill/>
          <a:ln/>
        </p:spPr>
        <p:txBody>
          <a:bodyPr wrap="square" lIns="0" tIns="0" rIns="0" bIns="0" rtlCol="0" anchor="ctr"/>
          <a:lstStyle/>
          <a:p>
            <a:pPr indent="0" marL="0">
              <a:buNone/>
            </a:pPr>
            <a:r>
              <a:rPr lang="en-US" sz="1510" b="1" dirty="0">
                <a:solidFill>
                  <a:srgbClr val="816B91"/>
                </a:solidFill>
                <a:latin typeface="Aptos" pitchFamily="34" charset="0"/>
                <a:ea typeface="Aptos" pitchFamily="34" charset="-122"/>
                <a:cs typeface="Aptos" pitchFamily="34" charset="-120"/>
              </a:rPr>
              <a:t>40,0%</a:t>
            </a:r>
            <a:endParaRPr lang="en-US" sz="1510" dirty="0"/>
          </a:p>
        </p:txBody>
      </p:sp>
      <p:sp>
        <p:nvSpPr>
          <p:cNvPr id="27" name="Text 25"/>
          <p:cNvSpPr/>
          <p:nvPr/>
        </p:nvSpPr>
        <p:spPr>
          <a:xfrm>
            <a:off x="804672" y="4544568"/>
            <a:ext cx="102412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10.964 retidos com a família presente em M0</a:t>
            </a:r>
            <a:endParaRPr lang="en-US" sz="1010" dirty="0"/>
          </a:p>
        </p:txBody>
      </p:sp>
      <p:sp>
        <p:nvSpPr>
          <p:cNvPr id="28" name="Shape 26"/>
          <p:cNvSpPr/>
          <p:nvPr/>
        </p:nvSpPr>
        <p:spPr>
          <a:xfrm>
            <a:off x="694944" y="5577840"/>
            <a:ext cx="10972800" cy="438912"/>
          </a:xfrm>
          <a:prstGeom prst="roundRect">
            <a:avLst>
              <a:gd name="adj" fmla="val 25000"/>
            </a:avLst>
          </a:prstGeom>
          <a:solidFill>
            <a:srgbClr val="E5F0EB"/>
          </a:solidFill>
          <a:ln w="12700">
            <a:solidFill>
              <a:srgbClr val="E5F0EB">
                <a:alpha val="0"/>
              </a:srgbClr>
            </a:solidFill>
            <a:prstDash val="solid"/>
          </a:ln>
        </p:spPr>
      </p:sp>
      <p:sp>
        <p:nvSpPr>
          <p:cNvPr id="29" name="Text 27"/>
          <p:cNvSpPr/>
          <p:nvPr/>
        </p:nvSpPr>
        <p:spPr>
          <a:xfrm>
            <a:off x="850392" y="5641848"/>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O volume de movimentos é dominado pela internet fixa; a taxa por elegível é maior em Móvel.</a:t>
            </a:r>
            <a:endParaRPr lang="en-US" sz="1170" dirty="0"/>
          </a:p>
        </p:txBody>
      </p:sp>
      <p:sp>
        <p:nvSpPr>
          <p:cNvPr id="30" name="Text 28"/>
          <p:cNvSpPr/>
          <p:nvPr/>
        </p:nvSpPr>
        <p:spPr>
          <a:xfrm>
            <a:off x="850392" y="5792724"/>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As categorias são multirrótulo: um registro pode movimentar mais de uma família.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CARTEIRA NO INÍCIO DO ATENDIMENTO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mix inicial diferencia as taxas de movimentação entre retidos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11</a:t>
            </a:r>
            <a:endParaRPr lang="en-US" sz="1050" dirty="0"/>
          </a:p>
        </p:txBody>
      </p:sp>
      <p:sp>
        <p:nvSpPr>
          <p:cNvPr id="8" name="Text 6"/>
          <p:cNvSpPr/>
          <p:nvPr/>
        </p:nvSpPr>
        <p:spPr>
          <a:xfrm>
            <a:off x="768096" y="1865376"/>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Somente BL</a:t>
            </a:r>
            <a:endParaRPr lang="en-US" sz="1450" dirty="0"/>
          </a:p>
        </p:txBody>
      </p:sp>
      <p:sp>
        <p:nvSpPr>
          <p:cNvPr id="9" name="Shape 7"/>
          <p:cNvSpPr/>
          <p:nvPr/>
        </p:nvSpPr>
        <p:spPr>
          <a:xfrm>
            <a:off x="5165446" y="1901952"/>
            <a:ext cx="4292651" cy="201168"/>
          </a:xfrm>
          <a:prstGeom prst="rect">
            <a:avLst/>
          </a:prstGeom>
          <a:solidFill>
            <a:srgbClr val="EDF1F0"/>
          </a:solidFill>
          <a:ln w="12700">
            <a:solidFill>
              <a:srgbClr val="EDF1F0">
                <a:alpha val="0"/>
              </a:srgbClr>
            </a:solidFill>
            <a:prstDash val="solid"/>
          </a:ln>
        </p:spPr>
      </p:sp>
      <p:sp>
        <p:nvSpPr>
          <p:cNvPr id="10" name="Shape 8"/>
          <p:cNvSpPr/>
          <p:nvPr/>
        </p:nvSpPr>
        <p:spPr>
          <a:xfrm>
            <a:off x="5165446" y="1901952"/>
            <a:ext cx="1908579" cy="201168"/>
          </a:xfrm>
          <a:prstGeom prst="rect">
            <a:avLst/>
          </a:prstGeom>
          <a:solidFill>
            <a:srgbClr val="1E6159"/>
          </a:solidFill>
          <a:ln w="12700">
            <a:solidFill>
              <a:srgbClr val="1E6159">
                <a:alpha val="0"/>
              </a:srgbClr>
            </a:solidFill>
            <a:prstDash val="solid"/>
          </a:ln>
        </p:spPr>
      </p:sp>
      <p:sp>
        <p:nvSpPr>
          <p:cNvPr id="11" name="Text 9"/>
          <p:cNvSpPr/>
          <p:nvPr/>
        </p:nvSpPr>
        <p:spPr>
          <a:xfrm>
            <a:off x="9576968" y="1865376"/>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28,9%</a:t>
            </a:r>
            <a:endParaRPr lang="en-US" sz="1510" dirty="0"/>
          </a:p>
        </p:txBody>
      </p:sp>
      <p:sp>
        <p:nvSpPr>
          <p:cNvPr id="12" name="Text 10"/>
          <p:cNvSpPr/>
          <p:nvPr/>
        </p:nvSpPr>
        <p:spPr>
          <a:xfrm>
            <a:off x="768096" y="2157984"/>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82.490</a:t>
            </a:r>
            <a:endParaRPr lang="en-US" sz="1010" dirty="0"/>
          </a:p>
        </p:txBody>
      </p:sp>
      <p:sp>
        <p:nvSpPr>
          <p:cNvPr id="13" name="Text 11"/>
          <p:cNvSpPr/>
          <p:nvPr/>
        </p:nvSpPr>
        <p:spPr>
          <a:xfrm>
            <a:off x="768096" y="2441448"/>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TV</a:t>
            </a:r>
            <a:endParaRPr lang="en-US" sz="1450" dirty="0"/>
          </a:p>
        </p:txBody>
      </p:sp>
      <p:sp>
        <p:nvSpPr>
          <p:cNvPr id="14" name="Shape 12"/>
          <p:cNvSpPr/>
          <p:nvPr/>
        </p:nvSpPr>
        <p:spPr>
          <a:xfrm>
            <a:off x="5165446" y="2478024"/>
            <a:ext cx="4292651" cy="201168"/>
          </a:xfrm>
          <a:prstGeom prst="rect">
            <a:avLst/>
          </a:prstGeom>
          <a:solidFill>
            <a:srgbClr val="EDF1F0"/>
          </a:solidFill>
          <a:ln w="12700">
            <a:solidFill>
              <a:srgbClr val="EDF1F0">
                <a:alpha val="0"/>
              </a:srgbClr>
            </a:solidFill>
            <a:prstDash val="solid"/>
          </a:ln>
        </p:spPr>
      </p:sp>
      <p:sp>
        <p:nvSpPr>
          <p:cNvPr id="15" name="Shape 13"/>
          <p:cNvSpPr/>
          <p:nvPr/>
        </p:nvSpPr>
        <p:spPr>
          <a:xfrm>
            <a:off x="5165446" y="2478024"/>
            <a:ext cx="2397280" cy="201168"/>
          </a:xfrm>
          <a:prstGeom prst="rect">
            <a:avLst/>
          </a:prstGeom>
          <a:solidFill>
            <a:srgbClr val="1E6159"/>
          </a:solidFill>
          <a:ln w="12700">
            <a:solidFill>
              <a:srgbClr val="1E6159">
                <a:alpha val="0"/>
              </a:srgbClr>
            </a:solidFill>
            <a:prstDash val="solid"/>
          </a:ln>
        </p:spPr>
      </p:sp>
      <p:sp>
        <p:nvSpPr>
          <p:cNvPr id="16" name="Text 14"/>
          <p:cNvSpPr/>
          <p:nvPr/>
        </p:nvSpPr>
        <p:spPr>
          <a:xfrm>
            <a:off x="9576968" y="2441448"/>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36,3%</a:t>
            </a:r>
            <a:endParaRPr lang="en-US" sz="1510" dirty="0"/>
          </a:p>
        </p:txBody>
      </p:sp>
      <p:sp>
        <p:nvSpPr>
          <p:cNvPr id="17" name="Text 15"/>
          <p:cNvSpPr/>
          <p:nvPr/>
        </p:nvSpPr>
        <p:spPr>
          <a:xfrm>
            <a:off x="768096" y="2734056"/>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63.301</a:t>
            </a:r>
            <a:endParaRPr lang="en-US" sz="1010" dirty="0"/>
          </a:p>
        </p:txBody>
      </p:sp>
      <p:sp>
        <p:nvSpPr>
          <p:cNvPr id="18" name="Text 16"/>
          <p:cNvSpPr/>
          <p:nvPr/>
        </p:nvSpPr>
        <p:spPr>
          <a:xfrm>
            <a:off x="768096" y="3017520"/>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TV + Fone</a:t>
            </a:r>
            <a:endParaRPr lang="en-US" sz="1450" dirty="0"/>
          </a:p>
        </p:txBody>
      </p:sp>
      <p:sp>
        <p:nvSpPr>
          <p:cNvPr id="19" name="Shape 17"/>
          <p:cNvSpPr/>
          <p:nvPr/>
        </p:nvSpPr>
        <p:spPr>
          <a:xfrm>
            <a:off x="5165446" y="3054096"/>
            <a:ext cx="4292651" cy="201168"/>
          </a:xfrm>
          <a:prstGeom prst="rect">
            <a:avLst/>
          </a:prstGeom>
          <a:solidFill>
            <a:srgbClr val="EDF1F0"/>
          </a:solidFill>
          <a:ln w="12700">
            <a:solidFill>
              <a:srgbClr val="EDF1F0">
                <a:alpha val="0"/>
              </a:srgbClr>
            </a:solidFill>
            <a:prstDash val="solid"/>
          </a:ln>
        </p:spPr>
      </p:sp>
      <p:sp>
        <p:nvSpPr>
          <p:cNvPr id="20" name="Shape 18"/>
          <p:cNvSpPr/>
          <p:nvPr/>
        </p:nvSpPr>
        <p:spPr>
          <a:xfrm>
            <a:off x="5165446" y="3054096"/>
            <a:ext cx="2575590" cy="201168"/>
          </a:xfrm>
          <a:prstGeom prst="rect">
            <a:avLst/>
          </a:prstGeom>
          <a:solidFill>
            <a:srgbClr val="1E6159"/>
          </a:solidFill>
          <a:ln w="12700">
            <a:solidFill>
              <a:srgbClr val="1E6159">
                <a:alpha val="0"/>
              </a:srgbClr>
            </a:solidFill>
            <a:prstDash val="solid"/>
          </a:ln>
        </p:spPr>
      </p:sp>
      <p:sp>
        <p:nvSpPr>
          <p:cNvPr id="21" name="Text 19"/>
          <p:cNvSpPr/>
          <p:nvPr/>
        </p:nvSpPr>
        <p:spPr>
          <a:xfrm>
            <a:off x="9576968" y="3017520"/>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39,0%</a:t>
            </a:r>
            <a:endParaRPr lang="en-US" sz="1510" dirty="0"/>
          </a:p>
        </p:txBody>
      </p:sp>
      <p:sp>
        <p:nvSpPr>
          <p:cNvPr id="22" name="Text 20"/>
          <p:cNvSpPr/>
          <p:nvPr/>
        </p:nvSpPr>
        <p:spPr>
          <a:xfrm>
            <a:off x="768096" y="3310128"/>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61.897</a:t>
            </a:r>
            <a:endParaRPr lang="en-US" sz="1010" dirty="0"/>
          </a:p>
        </p:txBody>
      </p:sp>
      <p:sp>
        <p:nvSpPr>
          <p:cNvPr id="23" name="Text 21"/>
          <p:cNvSpPr/>
          <p:nvPr/>
        </p:nvSpPr>
        <p:spPr>
          <a:xfrm>
            <a:off x="768096" y="3593592"/>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Fone</a:t>
            </a:r>
            <a:endParaRPr lang="en-US" sz="1450" dirty="0"/>
          </a:p>
        </p:txBody>
      </p:sp>
      <p:sp>
        <p:nvSpPr>
          <p:cNvPr id="24" name="Shape 22"/>
          <p:cNvSpPr/>
          <p:nvPr/>
        </p:nvSpPr>
        <p:spPr>
          <a:xfrm>
            <a:off x="5165446" y="3630168"/>
            <a:ext cx="4292651" cy="201168"/>
          </a:xfrm>
          <a:prstGeom prst="rect">
            <a:avLst/>
          </a:prstGeom>
          <a:solidFill>
            <a:srgbClr val="EDF1F0"/>
          </a:solidFill>
          <a:ln w="12700">
            <a:solidFill>
              <a:srgbClr val="EDF1F0">
                <a:alpha val="0"/>
              </a:srgbClr>
            </a:solidFill>
            <a:prstDash val="solid"/>
          </a:ln>
        </p:spPr>
      </p:sp>
      <p:sp>
        <p:nvSpPr>
          <p:cNvPr id="25" name="Shape 23"/>
          <p:cNvSpPr/>
          <p:nvPr/>
        </p:nvSpPr>
        <p:spPr>
          <a:xfrm>
            <a:off x="5165446" y="3630168"/>
            <a:ext cx="2311427" cy="201168"/>
          </a:xfrm>
          <a:prstGeom prst="rect">
            <a:avLst/>
          </a:prstGeom>
          <a:solidFill>
            <a:srgbClr val="1E6159"/>
          </a:solidFill>
          <a:ln w="12700">
            <a:solidFill>
              <a:srgbClr val="1E6159">
                <a:alpha val="0"/>
              </a:srgbClr>
            </a:solidFill>
            <a:prstDash val="solid"/>
          </a:ln>
        </p:spPr>
      </p:sp>
      <p:sp>
        <p:nvSpPr>
          <p:cNvPr id="26" name="Text 24"/>
          <p:cNvSpPr/>
          <p:nvPr/>
        </p:nvSpPr>
        <p:spPr>
          <a:xfrm>
            <a:off x="9576968" y="3593592"/>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35,0%</a:t>
            </a:r>
            <a:endParaRPr lang="en-US" sz="1510" dirty="0"/>
          </a:p>
        </p:txBody>
      </p:sp>
      <p:sp>
        <p:nvSpPr>
          <p:cNvPr id="27" name="Text 25"/>
          <p:cNvSpPr/>
          <p:nvPr/>
        </p:nvSpPr>
        <p:spPr>
          <a:xfrm>
            <a:off x="768096" y="3886200"/>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21.380</a:t>
            </a:r>
            <a:endParaRPr lang="en-US" sz="1010" dirty="0"/>
          </a:p>
        </p:txBody>
      </p:sp>
      <p:sp>
        <p:nvSpPr>
          <p:cNvPr id="28" name="Text 26"/>
          <p:cNvSpPr/>
          <p:nvPr/>
        </p:nvSpPr>
        <p:spPr>
          <a:xfrm>
            <a:off x="768096" y="4169664"/>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Somente TV</a:t>
            </a:r>
            <a:endParaRPr lang="en-US" sz="1450" dirty="0"/>
          </a:p>
        </p:txBody>
      </p:sp>
      <p:sp>
        <p:nvSpPr>
          <p:cNvPr id="29" name="Shape 27"/>
          <p:cNvSpPr/>
          <p:nvPr/>
        </p:nvSpPr>
        <p:spPr>
          <a:xfrm>
            <a:off x="5165446" y="4206240"/>
            <a:ext cx="4292651" cy="201168"/>
          </a:xfrm>
          <a:prstGeom prst="rect">
            <a:avLst/>
          </a:prstGeom>
          <a:solidFill>
            <a:srgbClr val="EDF1F0"/>
          </a:solidFill>
          <a:ln w="12700">
            <a:solidFill>
              <a:srgbClr val="EDF1F0">
                <a:alpha val="0"/>
              </a:srgbClr>
            </a:solidFill>
            <a:prstDash val="solid"/>
          </a:ln>
        </p:spPr>
      </p:sp>
      <p:sp>
        <p:nvSpPr>
          <p:cNvPr id="30" name="Shape 28"/>
          <p:cNvSpPr/>
          <p:nvPr/>
        </p:nvSpPr>
        <p:spPr>
          <a:xfrm>
            <a:off x="5165446" y="4206240"/>
            <a:ext cx="1036840" cy="201168"/>
          </a:xfrm>
          <a:prstGeom prst="rect">
            <a:avLst/>
          </a:prstGeom>
          <a:solidFill>
            <a:srgbClr val="1E6159"/>
          </a:solidFill>
          <a:ln w="12700">
            <a:solidFill>
              <a:srgbClr val="1E6159">
                <a:alpha val="0"/>
              </a:srgbClr>
            </a:solidFill>
            <a:prstDash val="solid"/>
          </a:ln>
        </p:spPr>
      </p:sp>
      <p:sp>
        <p:nvSpPr>
          <p:cNvPr id="31" name="Text 29"/>
          <p:cNvSpPr/>
          <p:nvPr/>
        </p:nvSpPr>
        <p:spPr>
          <a:xfrm>
            <a:off x="9576968" y="4169664"/>
            <a:ext cx="1675181" cy="274320"/>
          </a:xfrm>
          <a:prstGeom prst="rect">
            <a:avLst/>
          </a:prstGeom>
          <a:noFill/>
          <a:ln/>
        </p:spPr>
        <p:txBody>
          <a:bodyPr wrap="square" lIns="0" tIns="0" rIns="0" bIns="0" rtlCol="0" anchor="ctr"/>
          <a:lstStyle/>
          <a:p>
            <a:pPr indent="0" marL="0">
              <a:buNone/>
            </a:pPr>
            <a:r>
              <a:rPr lang="en-US" sz="1510" b="1" dirty="0">
                <a:solidFill>
                  <a:srgbClr val="1E6159"/>
                </a:solidFill>
                <a:latin typeface="Aptos" pitchFamily="34" charset="0"/>
                <a:ea typeface="Aptos" pitchFamily="34" charset="-122"/>
                <a:cs typeface="Aptos" pitchFamily="34" charset="-120"/>
              </a:rPr>
              <a:t>15,7%</a:t>
            </a:r>
            <a:endParaRPr lang="en-US" sz="1510" dirty="0"/>
          </a:p>
        </p:txBody>
      </p:sp>
      <p:sp>
        <p:nvSpPr>
          <p:cNvPr id="32" name="Text 30"/>
          <p:cNvSpPr/>
          <p:nvPr/>
        </p:nvSpPr>
        <p:spPr>
          <a:xfrm>
            <a:off x="768096" y="4462272"/>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7.120</a:t>
            </a:r>
            <a:endParaRPr lang="en-US" sz="1010" dirty="0"/>
          </a:p>
        </p:txBody>
      </p:sp>
      <p:sp>
        <p:nvSpPr>
          <p:cNvPr id="33" name="Text 31"/>
          <p:cNvSpPr/>
          <p:nvPr/>
        </p:nvSpPr>
        <p:spPr>
          <a:xfrm>
            <a:off x="768096" y="4745736"/>
            <a:ext cx="4397350" cy="274320"/>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BL + Móvel</a:t>
            </a:r>
            <a:endParaRPr lang="en-US" sz="1450" dirty="0"/>
          </a:p>
        </p:txBody>
      </p:sp>
      <p:sp>
        <p:nvSpPr>
          <p:cNvPr id="34" name="Shape 32"/>
          <p:cNvSpPr/>
          <p:nvPr/>
        </p:nvSpPr>
        <p:spPr>
          <a:xfrm>
            <a:off x="5165446" y="4782312"/>
            <a:ext cx="4292651" cy="201168"/>
          </a:xfrm>
          <a:prstGeom prst="rect">
            <a:avLst/>
          </a:prstGeom>
          <a:solidFill>
            <a:srgbClr val="EDF1F0"/>
          </a:solidFill>
          <a:ln w="12700">
            <a:solidFill>
              <a:srgbClr val="EDF1F0">
                <a:alpha val="0"/>
              </a:srgbClr>
            </a:solidFill>
            <a:prstDash val="solid"/>
          </a:ln>
        </p:spPr>
      </p:sp>
      <p:sp>
        <p:nvSpPr>
          <p:cNvPr id="35" name="Shape 33"/>
          <p:cNvSpPr/>
          <p:nvPr/>
        </p:nvSpPr>
        <p:spPr>
          <a:xfrm>
            <a:off x="5165446" y="4782312"/>
            <a:ext cx="3665263" cy="201168"/>
          </a:xfrm>
          <a:prstGeom prst="rect">
            <a:avLst/>
          </a:prstGeom>
          <a:solidFill>
            <a:srgbClr val="816B91"/>
          </a:solidFill>
          <a:ln w="12700">
            <a:solidFill>
              <a:srgbClr val="816B91">
                <a:alpha val="0"/>
              </a:srgbClr>
            </a:solidFill>
            <a:prstDash val="solid"/>
          </a:ln>
        </p:spPr>
      </p:sp>
      <p:sp>
        <p:nvSpPr>
          <p:cNvPr id="36" name="Text 34"/>
          <p:cNvSpPr/>
          <p:nvPr/>
        </p:nvSpPr>
        <p:spPr>
          <a:xfrm>
            <a:off x="9576968" y="4745736"/>
            <a:ext cx="1675181" cy="274320"/>
          </a:xfrm>
          <a:prstGeom prst="rect">
            <a:avLst/>
          </a:prstGeom>
          <a:noFill/>
          <a:ln/>
        </p:spPr>
        <p:txBody>
          <a:bodyPr wrap="square" lIns="0" tIns="0" rIns="0" bIns="0" rtlCol="0" anchor="ctr"/>
          <a:lstStyle/>
          <a:p>
            <a:pPr indent="0" marL="0">
              <a:buNone/>
            </a:pPr>
            <a:r>
              <a:rPr lang="en-US" sz="1510" b="1" dirty="0">
                <a:solidFill>
                  <a:srgbClr val="816B91"/>
                </a:solidFill>
                <a:latin typeface="Aptos" pitchFamily="34" charset="0"/>
                <a:ea typeface="Aptos" pitchFamily="34" charset="-122"/>
                <a:cs typeface="Aptos" pitchFamily="34" charset="-120"/>
              </a:rPr>
              <a:t>55,5%</a:t>
            </a:r>
            <a:endParaRPr lang="en-US" sz="1510" dirty="0"/>
          </a:p>
        </p:txBody>
      </p:sp>
      <p:sp>
        <p:nvSpPr>
          <p:cNvPr id="37" name="Text 35"/>
          <p:cNvSpPr/>
          <p:nvPr/>
        </p:nvSpPr>
        <p:spPr>
          <a:xfrm>
            <a:off x="768096" y="5038344"/>
            <a:ext cx="10469880" cy="182880"/>
          </a:xfrm>
          <a:prstGeom prst="rect">
            <a:avLst/>
          </a:prstGeom>
          <a:noFill/>
          <a:ln/>
        </p:spPr>
        <p:txBody>
          <a:bodyPr wrap="square" lIns="0" tIns="0" rIns="0" bIns="0" rtlCol="0" anchor="ctr"/>
          <a:lstStyle/>
          <a:p>
            <a:pPr indent="0" marL="0">
              <a:buNone/>
            </a:pPr>
            <a:r>
              <a:rPr lang="en-US" sz="1010" dirty="0">
                <a:solidFill>
                  <a:srgbClr val="5F7379"/>
                </a:solidFill>
                <a:latin typeface="Aptos" pitchFamily="34" charset="0"/>
                <a:ea typeface="Aptos" pitchFamily="34" charset="-122"/>
                <a:cs typeface="Aptos" pitchFamily="34" charset="-120"/>
              </a:rPr>
              <a:t>n = 4.802</a:t>
            </a:r>
            <a:endParaRPr lang="en-US" sz="1010" dirty="0"/>
          </a:p>
        </p:txBody>
      </p:sp>
      <p:sp>
        <p:nvSpPr>
          <p:cNvPr id="38" name="Shape 36"/>
          <p:cNvSpPr/>
          <p:nvPr/>
        </p:nvSpPr>
        <p:spPr>
          <a:xfrm>
            <a:off x="694944" y="5733288"/>
            <a:ext cx="10972800" cy="438912"/>
          </a:xfrm>
          <a:prstGeom prst="roundRect">
            <a:avLst>
              <a:gd name="adj" fmla="val 25000"/>
            </a:avLst>
          </a:prstGeom>
          <a:solidFill>
            <a:srgbClr val="E5F0EB"/>
          </a:solidFill>
          <a:ln w="12700">
            <a:solidFill>
              <a:srgbClr val="E5F0EB">
                <a:alpha val="0"/>
              </a:srgbClr>
            </a:solidFill>
            <a:prstDash val="solid"/>
          </a:ln>
        </p:spPr>
      </p:sp>
      <p:sp>
        <p:nvSpPr>
          <p:cNvPr id="39" name="Text 37"/>
          <p:cNvSpPr/>
          <p:nvPr/>
        </p:nvSpPr>
        <p:spPr>
          <a:xfrm>
            <a:off x="850392" y="5797296"/>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A heterogeneidade por carteira orienta testes de oferta estratificados, não conclusões causais.</a:t>
            </a:r>
            <a:endParaRPr lang="en-US" sz="1170" dirty="0"/>
          </a:p>
        </p:txBody>
      </p:sp>
      <p:sp>
        <p:nvSpPr>
          <p:cNvPr id="40" name="Text 38"/>
          <p:cNvSpPr/>
          <p:nvPr/>
        </p:nvSpPr>
        <p:spPr>
          <a:xfrm>
            <a:off x="850392" y="5948172"/>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O tamanho da base e a elegibilidade comercial diferem entre os mixes.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ATRIBUTOS COMERCIAIS</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MPlay distingue perfis, mas 93% dos retidos não têm classificação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12</a:t>
            </a:r>
            <a:endParaRPr lang="en-US" sz="1050" dirty="0"/>
          </a:p>
        </p:txBody>
      </p:sp>
      <p:sp>
        <p:nvSpPr>
          <p:cNvPr id="8" name="Shape 6"/>
          <p:cNvSpPr/>
          <p:nvPr/>
        </p:nvSpPr>
        <p:spPr>
          <a:xfrm>
            <a:off x="685800" y="2011680"/>
            <a:ext cx="3474720" cy="2066544"/>
          </a:xfrm>
          <a:prstGeom prst="roundRect">
            <a:avLst>
              <a:gd name="adj" fmla="val 5310"/>
            </a:avLst>
          </a:prstGeom>
          <a:solidFill>
            <a:srgbClr val="FFFFFF"/>
          </a:solidFill>
          <a:ln w="11430">
            <a:solidFill>
              <a:srgbClr val="D5DFDC"/>
            </a:solidFill>
            <a:prstDash val="solid"/>
          </a:ln>
        </p:spPr>
      </p:sp>
      <p:sp>
        <p:nvSpPr>
          <p:cNvPr id="9" name="Shape 7"/>
          <p:cNvSpPr/>
          <p:nvPr/>
        </p:nvSpPr>
        <p:spPr>
          <a:xfrm>
            <a:off x="685800" y="2011680"/>
            <a:ext cx="45720" cy="2066544"/>
          </a:xfrm>
          <a:prstGeom prst="roundRect">
            <a:avLst>
              <a:gd name="adj" fmla="val 240000"/>
            </a:avLst>
          </a:prstGeom>
          <a:solidFill>
            <a:srgbClr val="1E6159"/>
          </a:solidFill>
          <a:ln w="12700">
            <a:solidFill>
              <a:srgbClr val="1E6159">
                <a:alpha val="0"/>
              </a:srgbClr>
            </a:solidFill>
            <a:prstDash val="solid"/>
          </a:ln>
        </p:spPr>
      </p:sp>
      <p:sp>
        <p:nvSpPr>
          <p:cNvPr id="10" name="Text 8"/>
          <p:cNvSpPr/>
          <p:nvPr/>
        </p:nvSpPr>
        <p:spPr>
          <a:xfrm>
            <a:off x="923544" y="2194560"/>
            <a:ext cx="3090672"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MPLAY MARCADO</a:t>
            </a:r>
            <a:endParaRPr lang="en-US" sz="950" dirty="0"/>
          </a:p>
        </p:txBody>
      </p:sp>
      <p:sp>
        <p:nvSpPr>
          <p:cNvPr id="11" name="Text 9"/>
          <p:cNvSpPr/>
          <p:nvPr/>
        </p:nvSpPr>
        <p:spPr>
          <a:xfrm>
            <a:off x="923544" y="2551176"/>
            <a:ext cx="3108960" cy="548640"/>
          </a:xfrm>
          <a:prstGeom prst="rect">
            <a:avLst/>
          </a:prstGeom>
          <a:noFill/>
          <a:ln/>
        </p:spPr>
        <p:txBody>
          <a:bodyPr wrap="square" lIns="0" tIns="0" rIns="0" bIns="0" rtlCol="0" anchor="ctr"/>
          <a:lstStyle/>
          <a:p>
            <a:pPr indent="0" marL="0">
              <a:buNone/>
            </a:pPr>
            <a:r>
              <a:rPr lang="en-US" sz="3000" b="1" dirty="0">
                <a:solidFill>
                  <a:srgbClr val="1E6159"/>
                </a:solidFill>
                <a:latin typeface="Aptos" pitchFamily="34" charset="0"/>
                <a:ea typeface="Aptos" pitchFamily="34" charset="-122"/>
                <a:cs typeface="Aptos" pitchFamily="34" charset="-120"/>
              </a:rPr>
              <a:t>54,0%</a:t>
            </a:r>
            <a:endParaRPr lang="en-US" sz="3000" dirty="0"/>
          </a:p>
        </p:txBody>
      </p:sp>
      <p:sp>
        <p:nvSpPr>
          <p:cNvPr id="12" name="Text 10"/>
          <p:cNvSpPr/>
          <p:nvPr/>
        </p:nvSpPr>
        <p:spPr>
          <a:xfrm>
            <a:off x="923544" y="3136392"/>
            <a:ext cx="3063240" cy="813816"/>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10.587 registros retidos</a:t>
            </a:r>
            <a:endParaRPr lang="en-US" sz="1250" dirty="0"/>
          </a:p>
        </p:txBody>
      </p:sp>
      <p:sp>
        <p:nvSpPr>
          <p:cNvPr id="13" name="Shape 11"/>
          <p:cNvSpPr/>
          <p:nvPr/>
        </p:nvSpPr>
        <p:spPr>
          <a:xfrm>
            <a:off x="4352544" y="2011680"/>
            <a:ext cx="3474720" cy="2066544"/>
          </a:xfrm>
          <a:prstGeom prst="roundRect">
            <a:avLst>
              <a:gd name="adj" fmla="val 5310"/>
            </a:avLst>
          </a:prstGeom>
          <a:solidFill>
            <a:srgbClr val="FFFFFF"/>
          </a:solidFill>
          <a:ln w="11430">
            <a:solidFill>
              <a:srgbClr val="D5DFDC"/>
            </a:solidFill>
            <a:prstDash val="solid"/>
          </a:ln>
        </p:spPr>
      </p:sp>
      <p:sp>
        <p:nvSpPr>
          <p:cNvPr id="14" name="Shape 12"/>
          <p:cNvSpPr/>
          <p:nvPr/>
        </p:nvSpPr>
        <p:spPr>
          <a:xfrm>
            <a:off x="4352544" y="2011680"/>
            <a:ext cx="45720" cy="2066544"/>
          </a:xfrm>
          <a:prstGeom prst="roundRect">
            <a:avLst>
              <a:gd name="adj" fmla="val 240000"/>
            </a:avLst>
          </a:prstGeom>
          <a:solidFill>
            <a:srgbClr val="577F99"/>
          </a:solidFill>
          <a:ln w="12700">
            <a:solidFill>
              <a:srgbClr val="577F99">
                <a:alpha val="0"/>
              </a:srgbClr>
            </a:solidFill>
            <a:prstDash val="solid"/>
          </a:ln>
        </p:spPr>
      </p:sp>
      <p:sp>
        <p:nvSpPr>
          <p:cNvPr id="15" name="Text 13"/>
          <p:cNvSpPr/>
          <p:nvPr/>
        </p:nvSpPr>
        <p:spPr>
          <a:xfrm>
            <a:off x="4590288" y="2194560"/>
            <a:ext cx="3090672"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NÃO MARCADO</a:t>
            </a:r>
            <a:endParaRPr lang="en-US" sz="950" dirty="0"/>
          </a:p>
        </p:txBody>
      </p:sp>
      <p:sp>
        <p:nvSpPr>
          <p:cNvPr id="16" name="Text 14"/>
          <p:cNvSpPr/>
          <p:nvPr/>
        </p:nvSpPr>
        <p:spPr>
          <a:xfrm>
            <a:off x="4590288" y="2551176"/>
            <a:ext cx="3108960" cy="548640"/>
          </a:xfrm>
          <a:prstGeom prst="rect">
            <a:avLst/>
          </a:prstGeom>
          <a:noFill/>
          <a:ln/>
        </p:spPr>
        <p:txBody>
          <a:bodyPr wrap="square" lIns="0" tIns="0" rIns="0" bIns="0" rtlCol="0" anchor="ctr"/>
          <a:lstStyle/>
          <a:p>
            <a:pPr indent="0" marL="0">
              <a:buNone/>
            </a:pPr>
            <a:r>
              <a:rPr lang="en-US" sz="3000" b="1" dirty="0">
                <a:solidFill>
                  <a:srgbClr val="577F99"/>
                </a:solidFill>
                <a:latin typeface="Aptos" pitchFamily="34" charset="0"/>
                <a:ea typeface="Aptos" pitchFamily="34" charset="-122"/>
                <a:cs typeface="Aptos" pitchFamily="34" charset="-120"/>
              </a:rPr>
              <a:t>15,2%</a:t>
            </a:r>
            <a:endParaRPr lang="en-US" sz="3000" dirty="0"/>
          </a:p>
        </p:txBody>
      </p:sp>
      <p:sp>
        <p:nvSpPr>
          <p:cNvPr id="17" name="Text 15"/>
          <p:cNvSpPr/>
          <p:nvPr/>
        </p:nvSpPr>
        <p:spPr>
          <a:xfrm>
            <a:off x="4590288" y="3136392"/>
            <a:ext cx="3063240" cy="813816"/>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6.705 registros retidos</a:t>
            </a:r>
            <a:endParaRPr lang="en-US" sz="1250" dirty="0"/>
          </a:p>
        </p:txBody>
      </p:sp>
      <p:sp>
        <p:nvSpPr>
          <p:cNvPr id="18" name="Shape 16"/>
          <p:cNvSpPr/>
          <p:nvPr/>
        </p:nvSpPr>
        <p:spPr>
          <a:xfrm>
            <a:off x="8028432" y="2011680"/>
            <a:ext cx="3474720" cy="2066544"/>
          </a:xfrm>
          <a:prstGeom prst="roundRect">
            <a:avLst>
              <a:gd name="adj" fmla="val 5310"/>
            </a:avLst>
          </a:prstGeom>
          <a:solidFill>
            <a:srgbClr val="FFFFFF"/>
          </a:solidFill>
          <a:ln w="11430">
            <a:solidFill>
              <a:srgbClr val="D5DFDC"/>
            </a:solidFill>
            <a:prstDash val="solid"/>
          </a:ln>
        </p:spPr>
      </p:sp>
      <p:sp>
        <p:nvSpPr>
          <p:cNvPr id="19" name="Shape 17"/>
          <p:cNvSpPr/>
          <p:nvPr/>
        </p:nvSpPr>
        <p:spPr>
          <a:xfrm>
            <a:off x="8028432" y="2011680"/>
            <a:ext cx="45720" cy="2066544"/>
          </a:xfrm>
          <a:prstGeom prst="roundRect">
            <a:avLst>
              <a:gd name="adj" fmla="val 240000"/>
            </a:avLst>
          </a:prstGeom>
          <a:solidFill>
            <a:srgbClr val="BD8F4C"/>
          </a:solidFill>
          <a:ln w="12700">
            <a:solidFill>
              <a:srgbClr val="BD8F4C">
                <a:alpha val="0"/>
              </a:srgbClr>
            </a:solidFill>
            <a:prstDash val="solid"/>
          </a:ln>
        </p:spPr>
      </p:sp>
      <p:sp>
        <p:nvSpPr>
          <p:cNvPr id="20" name="Text 18"/>
          <p:cNvSpPr/>
          <p:nvPr/>
        </p:nvSpPr>
        <p:spPr>
          <a:xfrm>
            <a:off x="8266176" y="2194560"/>
            <a:ext cx="3090672"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SEM VALOR INFORMADO</a:t>
            </a:r>
            <a:endParaRPr lang="en-US" sz="950" dirty="0"/>
          </a:p>
        </p:txBody>
      </p:sp>
      <p:sp>
        <p:nvSpPr>
          <p:cNvPr id="21" name="Text 19"/>
          <p:cNvSpPr/>
          <p:nvPr/>
        </p:nvSpPr>
        <p:spPr>
          <a:xfrm>
            <a:off x="8266176" y="2551176"/>
            <a:ext cx="3108960" cy="548640"/>
          </a:xfrm>
          <a:prstGeom prst="rect">
            <a:avLst/>
          </a:prstGeom>
          <a:noFill/>
          <a:ln/>
        </p:spPr>
        <p:txBody>
          <a:bodyPr wrap="square" lIns="0" tIns="0" rIns="0" bIns="0" rtlCol="0" anchor="ctr"/>
          <a:lstStyle/>
          <a:p>
            <a:pPr indent="0" marL="0">
              <a:buNone/>
            </a:pPr>
            <a:r>
              <a:rPr lang="en-US" sz="3000" b="1" dirty="0">
                <a:solidFill>
                  <a:srgbClr val="BD8F4C"/>
                </a:solidFill>
                <a:latin typeface="Aptos" pitchFamily="34" charset="0"/>
                <a:ea typeface="Aptos" pitchFamily="34" charset="-122"/>
                <a:cs typeface="Aptos" pitchFamily="34" charset="-120"/>
              </a:rPr>
              <a:t>93,1%</a:t>
            </a:r>
            <a:endParaRPr lang="en-US" sz="3000" dirty="0"/>
          </a:p>
        </p:txBody>
      </p:sp>
      <p:sp>
        <p:nvSpPr>
          <p:cNvPr id="22" name="Text 20"/>
          <p:cNvSpPr/>
          <p:nvPr/>
        </p:nvSpPr>
        <p:spPr>
          <a:xfrm>
            <a:off x="8266176" y="3136392"/>
            <a:ext cx="3063240" cy="813816"/>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232.017 registros retidos</a:t>
            </a:r>
            <a:endParaRPr lang="en-US" sz="1250" dirty="0"/>
          </a:p>
        </p:txBody>
      </p:sp>
      <p:sp>
        <p:nvSpPr>
          <p:cNvPr id="23" name="Text 21"/>
          <p:cNvSpPr/>
          <p:nvPr/>
        </p:nvSpPr>
        <p:spPr>
          <a:xfrm>
            <a:off x="804672" y="4626864"/>
            <a:ext cx="10652760" cy="685800"/>
          </a:xfrm>
          <a:prstGeom prst="rect">
            <a:avLst/>
          </a:prstGeom>
          <a:noFill/>
          <a:ln/>
        </p:spPr>
        <p:txBody>
          <a:bodyPr wrap="square" lIns="0" tIns="0" rIns="0" bIns="0" rtlCol="0" anchor="ctr"/>
          <a:lstStyle/>
          <a:p>
            <a:pPr indent="0" marL="0">
              <a:buNone/>
            </a:pPr>
            <a:r>
              <a:rPr lang="en-US" sz="1800" dirty="0">
                <a:solidFill>
                  <a:srgbClr val="162B30"/>
                </a:solidFill>
                <a:latin typeface="Aptos" pitchFamily="34" charset="0"/>
                <a:ea typeface="Aptos" pitchFamily="34" charset="-122"/>
                <a:cs typeface="Aptos" pitchFamily="34" charset="-120"/>
              </a:rPr>
              <a:t>Diferenças observadas não podem ser atribuídas à unificação de faturas sem esclarecer elegibilidade e preenchimento.</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ORIGEM DO ATENDIMENTO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 diferença entre canais cai após padronizar mês e carteira</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13</a:t>
            </a:r>
            <a:endParaRPr lang="en-US" sz="1050" dirty="0"/>
          </a:p>
        </p:txBody>
      </p:sp>
      <p:sp>
        <p:nvSpPr>
          <p:cNvPr id="8" name="Text 6"/>
          <p:cNvSpPr/>
          <p:nvPr/>
        </p:nvSpPr>
        <p:spPr>
          <a:xfrm>
            <a:off x="804672" y="2039112"/>
            <a:ext cx="4572000" cy="603504"/>
          </a:xfrm>
          <a:prstGeom prst="rect">
            <a:avLst/>
          </a:prstGeom>
          <a:noFill/>
          <a:ln/>
        </p:spPr>
        <p:txBody>
          <a:bodyPr wrap="square" lIns="0" tIns="0" rIns="0" bIns="0" rtlCol="0" anchor="ctr"/>
          <a:lstStyle/>
          <a:p>
            <a:pPr indent="0" marL="0">
              <a:buNone/>
            </a:pPr>
            <a:r>
              <a:rPr lang="en-US" sz="3550" b="1" dirty="0">
                <a:solidFill>
                  <a:srgbClr val="577F99"/>
                </a:solidFill>
                <a:latin typeface="Aptos" pitchFamily="34" charset="0"/>
                <a:ea typeface="Aptos" pitchFamily="34" charset="-122"/>
                <a:cs typeface="Aptos" pitchFamily="34" charset="-120"/>
              </a:rPr>
              <a:t>+3,41 p.p.</a:t>
            </a:r>
            <a:endParaRPr lang="en-US" sz="3550" dirty="0"/>
          </a:p>
        </p:txBody>
      </p:sp>
      <p:sp>
        <p:nvSpPr>
          <p:cNvPr id="9" name="Text 7"/>
          <p:cNvSpPr/>
          <p:nvPr/>
        </p:nvSpPr>
        <p:spPr>
          <a:xfrm>
            <a:off x="804672" y="2679192"/>
            <a:ext cx="4572000"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Diferença bruta de movimentação, SOLAR − LEGADO</a:t>
            </a:r>
            <a:endParaRPr lang="en-US" sz="1450" dirty="0"/>
          </a:p>
        </p:txBody>
      </p:sp>
      <p:sp>
        <p:nvSpPr>
          <p:cNvPr id="10" name="Text 8"/>
          <p:cNvSpPr/>
          <p:nvPr/>
        </p:nvSpPr>
        <p:spPr>
          <a:xfrm>
            <a:off x="6419088" y="2039112"/>
            <a:ext cx="4572000" cy="603504"/>
          </a:xfrm>
          <a:prstGeom prst="rect">
            <a:avLst/>
          </a:prstGeom>
          <a:noFill/>
          <a:ln/>
        </p:spPr>
        <p:txBody>
          <a:bodyPr wrap="square" lIns="0" tIns="0" rIns="0" bIns="0" rtlCol="0" anchor="ctr"/>
          <a:lstStyle/>
          <a:p>
            <a:pPr indent="0" marL="0">
              <a:buNone/>
            </a:pPr>
            <a:r>
              <a:rPr lang="en-US" sz="3550" b="1" dirty="0">
                <a:solidFill>
                  <a:srgbClr val="1E6159"/>
                </a:solidFill>
                <a:latin typeface="Aptos" pitchFamily="34" charset="0"/>
                <a:ea typeface="Aptos" pitchFamily="34" charset="-122"/>
                <a:cs typeface="Aptos" pitchFamily="34" charset="-120"/>
              </a:rPr>
              <a:t>+2,93 p.p.</a:t>
            </a:r>
            <a:endParaRPr lang="en-US" sz="3550" dirty="0"/>
          </a:p>
        </p:txBody>
      </p:sp>
      <p:sp>
        <p:nvSpPr>
          <p:cNvPr id="11" name="Text 9"/>
          <p:cNvSpPr/>
          <p:nvPr/>
        </p:nvSpPr>
        <p:spPr>
          <a:xfrm>
            <a:off x="6419088" y="2679192"/>
            <a:ext cx="4572000"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Diferença padronizada por mês e nº de famílias M0</a:t>
            </a:r>
            <a:endParaRPr lang="en-US" sz="1450" dirty="0"/>
          </a:p>
        </p:txBody>
      </p:sp>
      <p:sp>
        <p:nvSpPr>
          <p:cNvPr id="12" name="Shape 10"/>
          <p:cNvSpPr/>
          <p:nvPr/>
        </p:nvSpPr>
        <p:spPr>
          <a:xfrm>
            <a:off x="722376" y="4096512"/>
            <a:ext cx="10762488" cy="1170432"/>
          </a:xfrm>
          <a:prstGeom prst="roundRect">
            <a:avLst>
              <a:gd name="adj" fmla="val 9375"/>
            </a:avLst>
          </a:prstGeom>
          <a:solidFill>
            <a:srgbClr val="FFFFFF"/>
          </a:solidFill>
          <a:ln w="11430">
            <a:solidFill>
              <a:srgbClr val="D5DFDC"/>
            </a:solidFill>
            <a:prstDash val="solid"/>
          </a:ln>
        </p:spPr>
      </p:sp>
      <p:sp>
        <p:nvSpPr>
          <p:cNvPr id="13" name="Text 11"/>
          <p:cNvSpPr/>
          <p:nvPr/>
        </p:nvSpPr>
        <p:spPr>
          <a:xfrm>
            <a:off x="960120" y="4306824"/>
            <a:ext cx="9966960" cy="310896"/>
          </a:xfrm>
          <a:prstGeom prst="rect">
            <a:avLst/>
          </a:prstGeom>
          <a:noFill/>
          <a:ln/>
        </p:spPr>
        <p:txBody>
          <a:bodyPr wrap="square" lIns="0" tIns="0" rIns="0" bIns="0" rtlCol="0" anchor="ctr"/>
          <a:lstStyle/>
          <a:p>
            <a:pPr indent="0" marL="0">
              <a:buNone/>
            </a:pPr>
            <a:r>
              <a:rPr lang="en-US" sz="2320" b="1" dirty="0">
                <a:solidFill>
                  <a:srgbClr val="162B30"/>
                </a:solidFill>
                <a:latin typeface="Aptos" pitchFamily="34" charset="0"/>
                <a:ea typeface="Aptos" pitchFamily="34" charset="-122"/>
                <a:cs typeface="Aptos" pitchFamily="34" charset="-120"/>
              </a:rPr>
              <a:t>IC 95%: +2,53 a +3,41 p.p.</a:t>
            </a:r>
            <a:endParaRPr lang="en-US" sz="2320" dirty="0"/>
          </a:p>
        </p:txBody>
      </p:sp>
      <p:sp>
        <p:nvSpPr>
          <p:cNvPr id="14" name="Text 12"/>
          <p:cNvSpPr/>
          <p:nvPr/>
        </p:nvSpPr>
        <p:spPr>
          <a:xfrm>
            <a:off x="960120" y="4736592"/>
            <a:ext cx="10012680" cy="219456"/>
          </a:xfrm>
          <a:prstGeom prst="rect">
            <a:avLst/>
          </a:prstGeom>
          <a:noFill/>
          <a:ln/>
        </p:spPr>
        <p:txBody>
          <a:bodyPr wrap="square" lIns="0" tIns="0" rIns="0" bIns="0" rtlCol="0" anchor="ctr"/>
          <a:lstStyle/>
          <a:p>
            <a:pPr indent="0" marL="0">
              <a:buNone/>
            </a:pPr>
            <a:r>
              <a:rPr lang="en-US" sz="1240" dirty="0">
                <a:solidFill>
                  <a:srgbClr val="5F7379"/>
                </a:solidFill>
                <a:latin typeface="Aptos" pitchFamily="34" charset="0"/>
                <a:ea typeface="Aptos" pitchFamily="34" charset="-122"/>
                <a:cs typeface="Aptos" pitchFamily="34" charset="-120"/>
              </a:rPr>
              <a:t>Bootstrap agrupado por cliente · 200 réplicas · comparação entre retidos</a:t>
            </a:r>
            <a:endParaRPr lang="en-US" sz="1240" dirty="0"/>
          </a:p>
        </p:txBody>
      </p:sp>
      <p:sp>
        <p:nvSpPr>
          <p:cNvPr id="15" name="Shape 13"/>
          <p:cNvSpPr/>
          <p:nvPr/>
        </p:nvSpPr>
        <p:spPr>
          <a:xfrm>
            <a:off x="722376" y="5596128"/>
            <a:ext cx="10753344" cy="438912"/>
          </a:xfrm>
          <a:prstGeom prst="roundRect">
            <a:avLst>
              <a:gd name="adj" fmla="val 25000"/>
            </a:avLst>
          </a:prstGeom>
          <a:solidFill>
            <a:srgbClr val="E5F0EB"/>
          </a:solidFill>
          <a:ln w="12700">
            <a:solidFill>
              <a:srgbClr val="E5F0EB">
                <a:alpha val="0"/>
              </a:srgbClr>
            </a:solidFill>
            <a:prstDash val="solid"/>
          </a:ln>
        </p:spPr>
      </p:sp>
      <p:sp>
        <p:nvSpPr>
          <p:cNvPr id="16" name="Text 14"/>
          <p:cNvSpPr/>
          <p:nvPr/>
        </p:nvSpPr>
        <p:spPr>
          <a:xfrm>
            <a:off x="877824" y="5660136"/>
            <a:ext cx="10442448"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As diferenças de origem descrevem associações, não o efeito causal do canal.</a:t>
            </a:r>
            <a:endParaRPr lang="en-US" sz="1170" dirty="0"/>
          </a:p>
        </p:txBody>
      </p:sp>
      <p:sp>
        <p:nvSpPr>
          <p:cNvPr id="17" name="Text 15"/>
          <p:cNvSpPr/>
          <p:nvPr/>
        </p:nvSpPr>
        <p:spPr>
          <a:xfrm>
            <a:off x="877824" y="5811012"/>
            <a:ext cx="10442448"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 padronização cobre mês e tamanho do portfólio; outros fatores podem diferir.</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MATURIDADE DO FUNIL</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Atendimentos em aberto tornam a comparação de canais sensível</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14</a:t>
            </a:r>
            <a:endParaRPr lang="en-US" sz="1050" dirty="0"/>
          </a:p>
        </p:txBody>
      </p:sp>
      <p:sp>
        <p:nvSpPr>
          <p:cNvPr id="8" name="Shape 6"/>
          <p:cNvSpPr/>
          <p:nvPr/>
        </p:nvSpPr>
        <p:spPr>
          <a:xfrm>
            <a:off x="740664" y="1965960"/>
            <a:ext cx="5084064" cy="2148840"/>
          </a:xfrm>
          <a:prstGeom prst="roundRect">
            <a:avLst>
              <a:gd name="adj" fmla="val 5106"/>
            </a:avLst>
          </a:prstGeom>
          <a:solidFill>
            <a:srgbClr val="FFFFFF"/>
          </a:solidFill>
          <a:ln w="11430">
            <a:solidFill>
              <a:srgbClr val="D5DFDC"/>
            </a:solidFill>
            <a:prstDash val="solid"/>
          </a:ln>
        </p:spPr>
      </p:sp>
      <p:sp>
        <p:nvSpPr>
          <p:cNvPr id="9" name="Shape 7"/>
          <p:cNvSpPr/>
          <p:nvPr/>
        </p:nvSpPr>
        <p:spPr>
          <a:xfrm>
            <a:off x="740664" y="1965960"/>
            <a:ext cx="45720" cy="2148840"/>
          </a:xfrm>
          <a:prstGeom prst="roundRect">
            <a:avLst>
              <a:gd name="adj" fmla="val 240000"/>
            </a:avLst>
          </a:prstGeom>
          <a:solidFill>
            <a:srgbClr val="1E6159"/>
          </a:solidFill>
          <a:ln w="12700">
            <a:solidFill>
              <a:srgbClr val="1E6159">
                <a:alpha val="0"/>
              </a:srgbClr>
            </a:solidFill>
            <a:prstDash val="solid"/>
          </a:ln>
        </p:spPr>
      </p:sp>
      <p:sp>
        <p:nvSpPr>
          <p:cNvPr id="10" name="Text 8"/>
          <p:cNvSpPr/>
          <p:nvPr/>
        </p:nvSpPr>
        <p:spPr>
          <a:xfrm>
            <a:off x="978408" y="2148840"/>
            <a:ext cx="4700016"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SOLAR · LEADS EM ABERTO</a:t>
            </a:r>
            <a:endParaRPr lang="en-US" sz="950" dirty="0"/>
          </a:p>
        </p:txBody>
      </p:sp>
      <p:sp>
        <p:nvSpPr>
          <p:cNvPr id="11" name="Text 9"/>
          <p:cNvSpPr/>
          <p:nvPr/>
        </p:nvSpPr>
        <p:spPr>
          <a:xfrm>
            <a:off x="978408" y="2505456"/>
            <a:ext cx="4718304" cy="548640"/>
          </a:xfrm>
          <a:prstGeom prst="rect">
            <a:avLst/>
          </a:prstGeom>
          <a:noFill/>
          <a:ln/>
        </p:spPr>
        <p:txBody>
          <a:bodyPr wrap="square" lIns="0" tIns="0" rIns="0" bIns="0" rtlCol="0" anchor="ctr"/>
          <a:lstStyle/>
          <a:p>
            <a:pPr indent="0" marL="0">
              <a:buNone/>
            </a:pPr>
            <a:r>
              <a:rPr lang="en-US" sz="3000" b="1" dirty="0">
                <a:solidFill>
                  <a:srgbClr val="1E6159"/>
                </a:solidFill>
                <a:latin typeface="Aptos" pitchFamily="34" charset="0"/>
                <a:ea typeface="Aptos" pitchFamily="34" charset="-122"/>
                <a:cs typeface="Aptos" pitchFamily="34" charset="-120"/>
              </a:rPr>
              <a:t>90</a:t>
            </a:r>
            <a:endParaRPr lang="en-US" sz="3000" dirty="0"/>
          </a:p>
        </p:txBody>
      </p:sp>
      <p:sp>
        <p:nvSpPr>
          <p:cNvPr id="12" name="Text 10"/>
          <p:cNvSpPr/>
          <p:nvPr/>
        </p:nvSpPr>
        <p:spPr>
          <a:xfrm>
            <a:off x="978408" y="3090672"/>
            <a:ext cx="4672584" cy="896112"/>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0,04% dos registros da origem</a:t>
            </a:r>
            <a:endParaRPr lang="en-US" sz="1250" dirty="0"/>
          </a:p>
        </p:txBody>
      </p:sp>
      <p:sp>
        <p:nvSpPr>
          <p:cNvPr id="13" name="Shape 11"/>
          <p:cNvSpPr/>
          <p:nvPr/>
        </p:nvSpPr>
        <p:spPr>
          <a:xfrm>
            <a:off x="6144768" y="1965960"/>
            <a:ext cx="5084064" cy="2148840"/>
          </a:xfrm>
          <a:prstGeom prst="roundRect">
            <a:avLst>
              <a:gd name="adj" fmla="val 5106"/>
            </a:avLst>
          </a:prstGeom>
          <a:solidFill>
            <a:srgbClr val="FFFFFF"/>
          </a:solidFill>
          <a:ln w="11430">
            <a:solidFill>
              <a:srgbClr val="D5DFDC"/>
            </a:solidFill>
            <a:prstDash val="solid"/>
          </a:ln>
        </p:spPr>
      </p:sp>
      <p:sp>
        <p:nvSpPr>
          <p:cNvPr id="14" name="Shape 12"/>
          <p:cNvSpPr/>
          <p:nvPr/>
        </p:nvSpPr>
        <p:spPr>
          <a:xfrm>
            <a:off x="6144768" y="1965960"/>
            <a:ext cx="45720" cy="2148840"/>
          </a:xfrm>
          <a:prstGeom prst="roundRect">
            <a:avLst>
              <a:gd name="adj" fmla="val 240000"/>
            </a:avLst>
          </a:prstGeom>
          <a:solidFill>
            <a:srgbClr val="BD8F4C"/>
          </a:solidFill>
          <a:ln w="12700">
            <a:solidFill>
              <a:srgbClr val="BD8F4C">
                <a:alpha val="0"/>
              </a:srgbClr>
            </a:solidFill>
            <a:prstDash val="solid"/>
          </a:ln>
        </p:spPr>
      </p:sp>
      <p:sp>
        <p:nvSpPr>
          <p:cNvPr id="15" name="Text 13"/>
          <p:cNvSpPr/>
          <p:nvPr/>
        </p:nvSpPr>
        <p:spPr>
          <a:xfrm>
            <a:off x="6382512" y="2148840"/>
            <a:ext cx="4700016"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LEGADO · LEADS EM ABERTO</a:t>
            </a:r>
            <a:endParaRPr lang="en-US" sz="950" dirty="0"/>
          </a:p>
        </p:txBody>
      </p:sp>
      <p:sp>
        <p:nvSpPr>
          <p:cNvPr id="16" name="Text 14"/>
          <p:cNvSpPr/>
          <p:nvPr/>
        </p:nvSpPr>
        <p:spPr>
          <a:xfrm>
            <a:off x="6382512" y="2505456"/>
            <a:ext cx="4718304" cy="548640"/>
          </a:xfrm>
          <a:prstGeom prst="rect">
            <a:avLst/>
          </a:prstGeom>
          <a:noFill/>
          <a:ln/>
        </p:spPr>
        <p:txBody>
          <a:bodyPr wrap="square" lIns="0" tIns="0" rIns="0" bIns="0" rtlCol="0" anchor="ctr"/>
          <a:lstStyle/>
          <a:p>
            <a:pPr indent="0" marL="0">
              <a:buNone/>
            </a:pPr>
            <a:r>
              <a:rPr lang="en-US" sz="3000" b="1" dirty="0">
                <a:solidFill>
                  <a:srgbClr val="BD8F4C"/>
                </a:solidFill>
                <a:latin typeface="Aptos" pitchFamily="34" charset="0"/>
                <a:ea typeface="Aptos" pitchFamily="34" charset="-122"/>
                <a:cs typeface="Aptos" pitchFamily="34" charset="-120"/>
              </a:rPr>
              <a:t>6.162</a:t>
            </a:r>
            <a:endParaRPr lang="en-US" sz="3000" dirty="0"/>
          </a:p>
        </p:txBody>
      </p:sp>
      <p:sp>
        <p:nvSpPr>
          <p:cNvPr id="17" name="Text 15"/>
          <p:cNvSpPr/>
          <p:nvPr/>
        </p:nvSpPr>
        <p:spPr>
          <a:xfrm>
            <a:off x="6382512" y="3090672"/>
            <a:ext cx="4672584" cy="896112"/>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9,0% dos registros da origem</a:t>
            </a:r>
            <a:endParaRPr lang="en-US" sz="1250" dirty="0"/>
          </a:p>
        </p:txBody>
      </p:sp>
      <p:sp>
        <p:nvSpPr>
          <p:cNvPr id="18" name="Shape 16"/>
          <p:cNvSpPr/>
          <p:nvPr/>
        </p:nvSpPr>
        <p:spPr>
          <a:xfrm>
            <a:off x="740664" y="4443984"/>
            <a:ext cx="10488168" cy="1042416"/>
          </a:xfrm>
          <a:prstGeom prst="roundRect">
            <a:avLst>
              <a:gd name="adj" fmla="val 10526"/>
            </a:avLst>
          </a:prstGeom>
          <a:solidFill>
            <a:srgbClr val="FFFFFF"/>
          </a:solidFill>
          <a:ln w="11430">
            <a:solidFill>
              <a:srgbClr val="D5DFDC"/>
            </a:solidFill>
            <a:prstDash val="solid"/>
          </a:ln>
        </p:spPr>
      </p:sp>
      <p:sp>
        <p:nvSpPr>
          <p:cNvPr id="19" name="Text 17"/>
          <p:cNvSpPr/>
          <p:nvPr/>
        </p:nvSpPr>
        <p:spPr>
          <a:xfrm>
            <a:off x="969264" y="4617720"/>
            <a:ext cx="4572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COORTE LEGADO · DEZEMBRO/2025</a:t>
            </a:r>
            <a:endParaRPr lang="en-US" sz="950" dirty="0"/>
          </a:p>
        </p:txBody>
      </p:sp>
      <p:sp>
        <p:nvSpPr>
          <p:cNvPr id="20" name="Text 18"/>
          <p:cNvSpPr/>
          <p:nvPr/>
        </p:nvSpPr>
        <p:spPr>
          <a:xfrm>
            <a:off x="6035040" y="4672584"/>
            <a:ext cx="4846320" cy="411480"/>
          </a:xfrm>
          <a:prstGeom prst="rect">
            <a:avLst/>
          </a:prstGeom>
          <a:noFill/>
          <a:ln/>
        </p:spPr>
        <p:txBody>
          <a:bodyPr wrap="square" lIns="0" tIns="0" rIns="0" bIns="0" rtlCol="0" anchor="ctr"/>
          <a:lstStyle/>
          <a:p>
            <a:pPr algn="r" indent="0" marL="0">
              <a:buNone/>
            </a:pPr>
            <a:r>
              <a:rPr lang="en-US" sz="2700" b="1" dirty="0">
                <a:solidFill>
                  <a:srgbClr val="162B30"/>
                </a:solidFill>
                <a:latin typeface="Aptos" pitchFamily="34" charset="0"/>
                <a:ea typeface="Aptos" pitchFamily="34" charset="-122"/>
                <a:cs typeface="Aptos" pitchFamily="34" charset="-120"/>
              </a:rPr>
              <a:t>72,8% a 84,9%</a:t>
            </a:r>
            <a:endParaRPr lang="en-US" sz="2700" dirty="0"/>
          </a:p>
        </p:txBody>
      </p:sp>
      <p:sp>
        <p:nvSpPr>
          <p:cNvPr id="21" name="Text 19"/>
          <p:cNvSpPr/>
          <p:nvPr/>
        </p:nvSpPr>
        <p:spPr>
          <a:xfrm>
            <a:off x="969264" y="5001768"/>
            <a:ext cx="10058400" cy="283464"/>
          </a:xfrm>
          <a:prstGeom prst="rect">
            <a:avLst/>
          </a:prstGeom>
          <a:noFill/>
          <a:ln/>
        </p:spPr>
        <p:txBody>
          <a:bodyPr wrap="square" lIns="0" tIns="0" rIns="0" bIns="0" rtlCol="0" anchor="ctr"/>
          <a:lstStyle/>
          <a:p>
            <a:pPr indent="0" marL="0">
              <a:buNone/>
            </a:pPr>
            <a:r>
              <a:rPr lang="en-US" sz="1280" dirty="0">
                <a:solidFill>
                  <a:srgbClr val="5F7379"/>
                </a:solidFill>
                <a:latin typeface="Aptos" pitchFamily="34" charset="0"/>
                <a:ea typeface="Aptos" pitchFamily="34" charset="-122"/>
                <a:cs typeface="Aptos" pitchFamily="34" charset="-120"/>
              </a:rPr>
              <a:t>Faixa extrema do status retido ao classificar todos os casos abertos como não retidos ou retidos.</a:t>
            </a:r>
            <a:endParaRPr lang="en-US" sz="12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AVALIAÇÃO TEMPORAL</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 modelagem distingue movimentações com discriminação moderada</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15</a:t>
            </a:r>
            <a:endParaRPr lang="en-US" sz="1050" dirty="0"/>
          </a:p>
        </p:txBody>
      </p:sp>
      <p:sp>
        <p:nvSpPr>
          <p:cNvPr id="8" name="Text 6"/>
          <p:cNvSpPr/>
          <p:nvPr/>
        </p:nvSpPr>
        <p:spPr>
          <a:xfrm>
            <a:off x="859536" y="1993392"/>
            <a:ext cx="4389120" cy="256032"/>
          </a:xfrm>
          <a:prstGeom prst="rect">
            <a:avLst/>
          </a:prstGeom>
          <a:noFill/>
          <a:ln/>
        </p:spPr>
        <p:txBody>
          <a:bodyPr wrap="square" lIns="0" tIns="0" rIns="0" bIns="0" rtlCol="0" anchor="ctr"/>
          <a:lstStyle/>
          <a:p>
            <a:pPr indent="0" marL="0">
              <a:buNone/>
            </a:pPr>
            <a:r>
              <a:rPr lang="en-US" sz="1400" b="1" dirty="0">
                <a:solidFill>
                  <a:srgbClr val="5F7379"/>
                </a:solidFill>
                <a:latin typeface="Aptos" pitchFamily="34" charset="0"/>
                <a:ea typeface="Aptos" pitchFamily="34" charset="-122"/>
                <a:cs typeface="Aptos" pitchFamily="34" charset="-120"/>
              </a:rPr>
              <a:t>Modelo</a:t>
            </a:r>
            <a:endParaRPr lang="en-US" sz="1400" dirty="0"/>
          </a:p>
        </p:txBody>
      </p:sp>
      <p:sp>
        <p:nvSpPr>
          <p:cNvPr id="9" name="Text 7"/>
          <p:cNvSpPr/>
          <p:nvPr/>
        </p:nvSpPr>
        <p:spPr>
          <a:xfrm>
            <a:off x="5522976" y="1993392"/>
            <a:ext cx="1097280" cy="256032"/>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AUC</a:t>
            </a:r>
            <a:endParaRPr lang="en-US" sz="1400" dirty="0"/>
          </a:p>
        </p:txBody>
      </p:sp>
      <p:sp>
        <p:nvSpPr>
          <p:cNvPr id="10" name="Text 8"/>
          <p:cNvSpPr/>
          <p:nvPr/>
        </p:nvSpPr>
        <p:spPr>
          <a:xfrm>
            <a:off x="7452360" y="1993392"/>
            <a:ext cx="1005840" cy="256032"/>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AP</a:t>
            </a:r>
            <a:endParaRPr lang="en-US" sz="1400" dirty="0"/>
          </a:p>
        </p:txBody>
      </p:sp>
      <p:sp>
        <p:nvSpPr>
          <p:cNvPr id="11" name="Text 9"/>
          <p:cNvSpPr/>
          <p:nvPr/>
        </p:nvSpPr>
        <p:spPr>
          <a:xfrm>
            <a:off x="9592056" y="1993392"/>
            <a:ext cx="1216152" cy="256032"/>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Brier ↓</a:t>
            </a:r>
            <a:endParaRPr lang="en-US" sz="1400" dirty="0"/>
          </a:p>
        </p:txBody>
      </p:sp>
      <p:sp>
        <p:nvSpPr>
          <p:cNvPr id="12" name="Shape 10"/>
          <p:cNvSpPr/>
          <p:nvPr/>
        </p:nvSpPr>
        <p:spPr>
          <a:xfrm>
            <a:off x="777240" y="2414016"/>
            <a:ext cx="10735056" cy="566928"/>
          </a:xfrm>
          <a:prstGeom prst="roundRect">
            <a:avLst>
              <a:gd name="adj" fmla="val 19355"/>
            </a:avLst>
          </a:prstGeom>
          <a:solidFill>
            <a:srgbClr val="FFFFFF"/>
          </a:solidFill>
          <a:ln w="11430">
            <a:solidFill>
              <a:srgbClr val="D5DFDC"/>
            </a:solidFill>
            <a:prstDash val="solid"/>
          </a:ln>
        </p:spPr>
      </p:sp>
      <p:sp>
        <p:nvSpPr>
          <p:cNvPr id="13" name="Text 11"/>
          <p:cNvSpPr/>
          <p:nvPr/>
        </p:nvSpPr>
        <p:spPr>
          <a:xfrm>
            <a:off x="987552" y="2523744"/>
            <a:ext cx="4206240" cy="292608"/>
          </a:xfrm>
          <a:prstGeom prst="rect">
            <a:avLst/>
          </a:prstGeom>
          <a:noFill/>
          <a:ln/>
        </p:spPr>
        <p:txBody>
          <a:bodyPr wrap="square" lIns="0" tIns="0" rIns="0" bIns="0" rtlCol="0" anchor="ctr"/>
          <a:lstStyle/>
          <a:p>
            <a:pPr indent="0" marL="0">
              <a:buNone/>
            </a:pPr>
            <a:r>
              <a:rPr lang="en-US" sz="1660" dirty="0">
                <a:solidFill>
                  <a:srgbClr val="162B30"/>
                </a:solidFill>
                <a:latin typeface="Aptos" pitchFamily="34" charset="0"/>
                <a:ea typeface="Aptos" pitchFamily="34" charset="-122"/>
                <a:cs typeface="Aptos" pitchFamily="34" charset="-120"/>
              </a:rPr>
              <a:t>Prevalência</a:t>
            </a:r>
            <a:endParaRPr lang="en-US" sz="1660" dirty="0"/>
          </a:p>
        </p:txBody>
      </p:sp>
      <p:sp>
        <p:nvSpPr>
          <p:cNvPr id="14" name="Text 12"/>
          <p:cNvSpPr/>
          <p:nvPr/>
        </p:nvSpPr>
        <p:spPr>
          <a:xfrm>
            <a:off x="5522976" y="2523744"/>
            <a:ext cx="109728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0,500</a:t>
            </a:r>
            <a:endParaRPr lang="en-US" sz="1700" dirty="0"/>
          </a:p>
        </p:txBody>
      </p:sp>
      <p:sp>
        <p:nvSpPr>
          <p:cNvPr id="15" name="Text 13"/>
          <p:cNvSpPr/>
          <p:nvPr/>
        </p:nvSpPr>
        <p:spPr>
          <a:xfrm>
            <a:off x="7452360" y="2523744"/>
            <a:ext cx="100584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0,330</a:t>
            </a:r>
            <a:endParaRPr lang="en-US" sz="1700" dirty="0"/>
          </a:p>
        </p:txBody>
      </p:sp>
      <p:sp>
        <p:nvSpPr>
          <p:cNvPr id="16" name="Text 14"/>
          <p:cNvSpPr/>
          <p:nvPr/>
        </p:nvSpPr>
        <p:spPr>
          <a:xfrm>
            <a:off x="9592056" y="2523744"/>
            <a:ext cx="1216152"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0,2216</a:t>
            </a:r>
            <a:endParaRPr lang="en-US" sz="1700" dirty="0"/>
          </a:p>
        </p:txBody>
      </p:sp>
      <p:sp>
        <p:nvSpPr>
          <p:cNvPr id="17" name="Shape 15"/>
          <p:cNvSpPr/>
          <p:nvPr/>
        </p:nvSpPr>
        <p:spPr>
          <a:xfrm>
            <a:off x="777240" y="3099816"/>
            <a:ext cx="10735056" cy="566928"/>
          </a:xfrm>
          <a:prstGeom prst="roundRect">
            <a:avLst>
              <a:gd name="adj" fmla="val 19355"/>
            </a:avLst>
          </a:prstGeom>
          <a:solidFill>
            <a:srgbClr val="FFFFFF"/>
          </a:solidFill>
          <a:ln w="11430">
            <a:solidFill>
              <a:srgbClr val="D5DFDC"/>
            </a:solidFill>
            <a:prstDash val="solid"/>
          </a:ln>
        </p:spPr>
      </p:sp>
      <p:sp>
        <p:nvSpPr>
          <p:cNvPr id="18" name="Text 16"/>
          <p:cNvSpPr/>
          <p:nvPr/>
        </p:nvSpPr>
        <p:spPr>
          <a:xfrm>
            <a:off x="987552" y="3209544"/>
            <a:ext cx="4206240" cy="292608"/>
          </a:xfrm>
          <a:prstGeom prst="rect">
            <a:avLst/>
          </a:prstGeom>
          <a:noFill/>
          <a:ln/>
        </p:spPr>
        <p:txBody>
          <a:bodyPr wrap="square" lIns="0" tIns="0" rIns="0" bIns="0" rtlCol="0" anchor="ctr"/>
          <a:lstStyle/>
          <a:p>
            <a:pPr indent="0" marL="0">
              <a:buNone/>
            </a:pPr>
            <a:r>
              <a:rPr lang="en-US" sz="1660" dirty="0">
                <a:solidFill>
                  <a:srgbClr val="162B30"/>
                </a:solidFill>
                <a:latin typeface="Aptos" pitchFamily="34" charset="0"/>
                <a:ea typeface="Aptos" pitchFamily="34" charset="-122"/>
                <a:cs typeface="Aptos" pitchFamily="34" charset="-120"/>
              </a:rPr>
              <a:t>Regressão logística</a:t>
            </a:r>
            <a:endParaRPr lang="en-US" sz="1660" dirty="0"/>
          </a:p>
        </p:txBody>
      </p:sp>
      <p:sp>
        <p:nvSpPr>
          <p:cNvPr id="19" name="Text 17"/>
          <p:cNvSpPr/>
          <p:nvPr/>
        </p:nvSpPr>
        <p:spPr>
          <a:xfrm>
            <a:off x="5522976" y="3209544"/>
            <a:ext cx="109728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0,627</a:t>
            </a:r>
            <a:endParaRPr lang="en-US" sz="1700" dirty="0"/>
          </a:p>
        </p:txBody>
      </p:sp>
      <p:sp>
        <p:nvSpPr>
          <p:cNvPr id="20" name="Text 18"/>
          <p:cNvSpPr/>
          <p:nvPr/>
        </p:nvSpPr>
        <p:spPr>
          <a:xfrm>
            <a:off x="7452360" y="3209544"/>
            <a:ext cx="100584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0,458</a:t>
            </a:r>
            <a:endParaRPr lang="en-US" sz="1700" dirty="0"/>
          </a:p>
        </p:txBody>
      </p:sp>
      <p:sp>
        <p:nvSpPr>
          <p:cNvPr id="21" name="Text 19"/>
          <p:cNvSpPr/>
          <p:nvPr/>
        </p:nvSpPr>
        <p:spPr>
          <a:xfrm>
            <a:off x="9592056" y="3209544"/>
            <a:ext cx="1216152"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0,2104</a:t>
            </a:r>
            <a:endParaRPr lang="en-US" sz="1700" dirty="0"/>
          </a:p>
        </p:txBody>
      </p:sp>
      <p:sp>
        <p:nvSpPr>
          <p:cNvPr id="22" name="Shape 20"/>
          <p:cNvSpPr/>
          <p:nvPr/>
        </p:nvSpPr>
        <p:spPr>
          <a:xfrm>
            <a:off x="777240" y="3785616"/>
            <a:ext cx="10735056" cy="566928"/>
          </a:xfrm>
          <a:prstGeom prst="roundRect">
            <a:avLst>
              <a:gd name="adj" fmla="val 19355"/>
            </a:avLst>
          </a:prstGeom>
          <a:solidFill>
            <a:srgbClr val="FFFFFF"/>
          </a:solidFill>
          <a:ln w="11430">
            <a:solidFill>
              <a:srgbClr val="D5DFDC"/>
            </a:solidFill>
            <a:prstDash val="solid"/>
          </a:ln>
        </p:spPr>
      </p:sp>
      <p:sp>
        <p:nvSpPr>
          <p:cNvPr id="23" name="Text 21"/>
          <p:cNvSpPr/>
          <p:nvPr/>
        </p:nvSpPr>
        <p:spPr>
          <a:xfrm>
            <a:off x="987552" y="3895344"/>
            <a:ext cx="4206240" cy="292608"/>
          </a:xfrm>
          <a:prstGeom prst="rect">
            <a:avLst/>
          </a:prstGeom>
          <a:noFill/>
          <a:ln/>
        </p:spPr>
        <p:txBody>
          <a:bodyPr wrap="square" lIns="0" tIns="0" rIns="0" bIns="0" rtlCol="0" anchor="ctr"/>
          <a:lstStyle/>
          <a:p>
            <a:pPr indent="0" marL="0">
              <a:buNone/>
            </a:pPr>
            <a:r>
              <a:rPr lang="en-US" sz="1660" dirty="0">
                <a:solidFill>
                  <a:srgbClr val="162B30"/>
                </a:solidFill>
                <a:latin typeface="Aptos" pitchFamily="34" charset="0"/>
                <a:ea typeface="Aptos" pitchFamily="34" charset="-122"/>
                <a:cs typeface="Aptos" pitchFamily="34" charset="-120"/>
              </a:rPr>
              <a:t>Árvore curta</a:t>
            </a:r>
            <a:endParaRPr lang="en-US" sz="1660" dirty="0"/>
          </a:p>
        </p:txBody>
      </p:sp>
      <p:sp>
        <p:nvSpPr>
          <p:cNvPr id="24" name="Text 22"/>
          <p:cNvSpPr/>
          <p:nvPr/>
        </p:nvSpPr>
        <p:spPr>
          <a:xfrm>
            <a:off x="5522976" y="3895344"/>
            <a:ext cx="109728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0,629</a:t>
            </a:r>
            <a:endParaRPr lang="en-US" sz="1700" dirty="0"/>
          </a:p>
        </p:txBody>
      </p:sp>
      <p:sp>
        <p:nvSpPr>
          <p:cNvPr id="25" name="Text 23"/>
          <p:cNvSpPr/>
          <p:nvPr/>
        </p:nvSpPr>
        <p:spPr>
          <a:xfrm>
            <a:off x="7452360" y="3895344"/>
            <a:ext cx="1005840"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0,444</a:t>
            </a:r>
            <a:endParaRPr lang="en-US" sz="1700" dirty="0"/>
          </a:p>
        </p:txBody>
      </p:sp>
      <p:sp>
        <p:nvSpPr>
          <p:cNvPr id="26" name="Text 24"/>
          <p:cNvSpPr/>
          <p:nvPr/>
        </p:nvSpPr>
        <p:spPr>
          <a:xfrm>
            <a:off x="9592056" y="3895344"/>
            <a:ext cx="1216152" cy="265176"/>
          </a:xfrm>
          <a:prstGeom prst="rect">
            <a:avLst/>
          </a:prstGeom>
          <a:noFill/>
          <a:ln/>
        </p:spPr>
        <p:txBody>
          <a:bodyPr wrap="square" lIns="0" tIns="0" rIns="0" bIns="0" rtlCol="0" anchor="ctr"/>
          <a:lstStyle/>
          <a:p>
            <a:pPr algn="ctr" indent="0" marL="0">
              <a:buNone/>
            </a:pPr>
            <a:r>
              <a:rPr lang="en-US" sz="1700" dirty="0">
                <a:solidFill>
                  <a:srgbClr val="162B30"/>
                </a:solidFill>
                <a:latin typeface="Aptos" pitchFamily="34" charset="0"/>
                <a:ea typeface="Aptos" pitchFamily="34" charset="-122"/>
                <a:cs typeface="Aptos" pitchFamily="34" charset="-120"/>
              </a:rPr>
              <a:t>0,2097</a:t>
            </a:r>
            <a:endParaRPr lang="en-US" sz="1700" dirty="0"/>
          </a:p>
        </p:txBody>
      </p:sp>
      <p:sp>
        <p:nvSpPr>
          <p:cNvPr id="27" name="Shape 25"/>
          <p:cNvSpPr/>
          <p:nvPr/>
        </p:nvSpPr>
        <p:spPr>
          <a:xfrm>
            <a:off x="777240" y="4471416"/>
            <a:ext cx="10735056" cy="566928"/>
          </a:xfrm>
          <a:prstGeom prst="roundRect">
            <a:avLst>
              <a:gd name="adj" fmla="val 19355"/>
            </a:avLst>
          </a:prstGeom>
          <a:solidFill>
            <a:srgbClr val="E5F0EB"/>
          </a:solidFill>
          <a:ln w="11430">
            <a:solidFill>
              <a:srgbClr val="D5DFDC"/>
            </a:solidFill>
            <a:prstDash val="solid"/>
          </a:ln>
        </p:spPr>
      </p:sp>
      <p:sp>
        <p:nvSpPr>
          <p:cNvPr id="28" name="Text 26"/>
          <p:cNvSpPr/>
          <p:nvPr/>
        </p:nvSpPr>
        <p:spPr>
          <a:xfrm>
            <a:off x="987552" y="4581144"/>
            <a:ext cx="4206240" cy="292608"/>
          </a:xfrm>
          <a:prstGeom prst="rect">
            <a:avLst/>
          </a:prstGeom>
          <a:noFill/>
          <a:ln/>
        </p:spPr>
        <p:txBody>
          <a:bodyPr wrap="square" lIns="0" tIns="0" rIns="0" bIns="0" rtlCol="0" anchor="ctr"/>
          <a:lstStyle/>
          <a:p>
            <a:pPr indent="0" marL="0">
              <a:buNone/>
            </a:pPr>
            <a:r>
              <a:rPr lang="en-US" sz="1660" b="1" dirty="0">
                <a:solidFill>
                  <a:srgbClr val="1E6159"/>
                </a:solidFill>
                <a:latin typeface="Aptos" pitchFamily="34" charset="0"/>
                <a:ea typeface="Aptos" pitchFamily="34" charset="-122"/>
                <a:cs typeface="Aptos" pitchFamily="34" charset="-120"/>
              </a:rPr>
              <a:t>Gradient boosting</a:t>
            </a:r>
            <a:endParaRPr lang="en-US" sz="1660" dirty="0"/>
          </a:p>
        </p:txBody>
      </p:sp>
      <p:sp>
        <p:nvSpPr>
          <p:cNvPr id="29" name="Text 27"/>
          <p:cNvSpPr/>
          <p:nvPr/>
        </p:nvSpPr>
        <p:spPr>
          <a:xfrm>
            <a:off x="5522976" y="4581144"/>
            <a:ext cx="1097280" cy="265176"/>
          </a:xfrm>
          <a:prstGeom prst="rect">
            <a:avLst/>
          </a:prstGeom>
          <a:noFill/>
          <a:ln/>
        </p:spPr>
        <p:txBody>
          <a:bodyPr wrap="square" lIns="0" tIns="0" rIns="0" bIns="0" rtlCol="0" anchor="ctr"/>
          <a:lstStyle/>
          <a:p>
            <a:pPr algn="ctr" indent="0" marL="0">
              <a:buNone/>
            </a:pPr>
            <a:r>
              <a:rPr lang="en-US" sz="1700" b="1" dirty="0">
                <a:solidFill>
                  <a:srgbClr val="162B30"/>
                </a:solidFill>
                <a:latin typeface="Aptos" pitchFamily="34" charset="0"/>
                <a:ea typeface="Aptos" pitchFamily="34" charset="-122"/>
                <a:cs typeface="Aptos" pitchFamily="34" charset="-120"/>
              </a:rPr>
              <a:t>0,650</a:t>
            </a:r>
            <a:endParaRPr lang="en-US" sz="1700" dirty="0"/>
          </a:p>
        </p:txBody>
      </p:sp>
      <p:sp>
        <p:nvSpPr>
          <p:cNvPr id="30" name="Text 28"/>
          <p:cNvSpPr/>
          <p:nvPr/>
        </p:nvSpPr>
        <p:spPr>
          <a:xfrm>
            <a:off x="7452360" y="4581144"/>
            <a:ext cx="1005840" cy="265176"/>
          </a:xfrm>
          <a:prstGeom prst="rect">
            <a:avLst/>
          </a:prstGeom>
          <a:noFill/>
          <a:ln/>
        </p:spPr>
        <p:txBody>
          <a:bodyPr wrap="square" lIns="0" tIns="0" rIns="0" bIns="0" rtlCol="0" anchor="ctr"/>
          <a:lstStyle/>
          <a:p>
            <a:pPr algn="ctr" indent="0" marL="0">
              <a:buNone/>
            </a:pPr>
            <a:r>
              <a:rPr lang="en-US" sz="1700" b="1" dirty="0">
                <a:solidFill>
                  <a:srgbClr val="162B30"/>
                </a:solidFill>
                <a:latin typeface="Aptos" pitchFamily="34" charset="0"/>
                <a:ea typeface="Aptos" pitchFamily="34" charset="-122"/>
                <a:cs typeface="Aptos" pitchFamily="34" charset="-120"/>
              </a:rPr>
              <a:t>0,487</a:t>
            </a:r>
            <a:endParaRPr lang="en-US" sz="1700" dirty="0"/>
          </a:p>
        </p:txBody>
      </p:sp>
      <p:sp>
        <p:nvSpPr>
          <p:cNvPr id="31" name="Text 29"/>
          <p:cNvSpPr/>
          <p:nvPr/>
        </p:nvSpPr>
        <p:spPr>
          <a:xfrm>
            <a:off x="9592056" y="4581144"/>
            <a:ext cx="1216152" cy="265176"/>
          </a:xfrm>
          <a:prstGeom prst="rect">
            <a:avLst/>
          </a:prstGeom>
          <a:noFill/>
          <a:ln/>
        </p:spPr>
        <p:txBody>
          <a:bodyPr wrap="square" lIns="0" tIns="0" rIns="0" bIns="0" rtlCol="0" anchor="ctr"/>
          <a:lstStyle/>
          <a:p>
            <a:pPr algn="ctr" indent="0" marL="0">
              <a:buNone/>
            </a:pPr>
            <a:r>
              <a:rPr lang="en-US" sz="1700" b="1" dirty="0">
                <a:solidFill>
                  <a:srgbClr val="162B30"/>
                </a:solidFill>
                <a:latin typeface="Aptos" pitchFamily="34" charset="0"/>
                <a:ea typeface="Aptos" pitchFamily="34" charset="-122"/>
                <a:cs typeface="Aptos" pitchFamily="34" charset="-120"/>
              </a:rPr>
              <a:t>0,2065</a:t>
            </a:r>
            <a:endParaRPr lang="en-US" sz="1700" dirty="0"/>
          </a:p>
        </p:txBody>
      </p:sp>
      <p:sp>
        <p:nvSpPr>
          <p:cNvPr id="32" name="Shape 30"/>
          <p:cNvSpPr/>
          <p:nvPr/>
        </p:nvSpPr>
        <p:spPr>
          <a:xfrm>
            <a:off x="722376" y="5650992"/>
            <a:ext cx="10844784" cy="438912"/>
          </a:xfrm>
          <a:prstGeom prst="roundRect">
            <a:avLst>
              <a:gd name="adj" fmla="val 25000"/>
            </a:avLst>
          </a:prstGeom>
          <a:solidFill>
            <a:srgbClr val="E5F0EB"/>
          </a:solidFill>
          <a:ln w="12700">
            <a:solidFill>
              <a:srgbClr val="E5F0EB">
                <a:alpha val="0"/>
              </a:srgbClr>
            </a:solidFill>
            <a:prstDash val="solid"/>
          </a:ln>
        </p:spPr>
      </p:sp>
      <p:sp>
        <p:nvSpPr>
          <p:cNvPr id="33" name="Text 31"/>
          <p:cNvSpPr/>
          <p:nvPr/>
        </p:nvSpPr>
        <p:spPr>
          <a:xfrm>
            <a:off x="877824" y="5715000"/>
            <a:ext cx="10533888"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Alvo: alguma movimentação entre registros RETIDO; teste: novembro–dezembro de 2025.</a:t>
            </a:r>
            <a:endParaRPr lang="en-US" sz="1170" dirty="0"/>
          </a:p>
        </p:txBody>
      </p:sp>
      <p:sp>
        <p:nvSpPr>
          <p:cNvPr id="34" name="Text 32"/>
          <p:cNvSpPr/>
          <p:nvPr/>
        </p:nvSpPr>
        <p:spPr>
          <a:xfrm>
            <a:off x="877824" y="5865876"/>
            <a:ext cx="10533888"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AUC = discriminação; AP = precisão média; Brier = erro probabilístico (menor é melhor).</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MODELOS POR PRODUTO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desempenho preditivo varia entre as famílias elegíveis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16</a:t>
            </a:r>
            <a:endParaRPr lang="en-US" sz="1050" dirty="0"/>
          </a:p>
        </p:txBody>
      </p:sp>
      <p:sp>
        <p:nvSpPr>
          <p:cNvPr id="8" name="Text 6"/>
          <p:cNvSpPr/>
          <p:nvPr/>
        </p:nvSpPr>
        <p:spPr>
          <a:xfrm>
            <a:off x="777240" y="1984248"/>
            <a:ext cx="2743200" cy="274320"/>
          </a:xfrm>
          <a:prstGeom prst="rect">
            <a:avLst/>
          </a:prstGeom>
          <a:noFill/>
          <a:ln/>
        </p:spPr>
        <p:txBody>
          <a:bodyPr wrap="square" lIns="0" tIns="0" rIns="0" bIns="0" rtlCol="0" anchor="ctr"/>
          <a:lstStyle/>
          <a:p>
            <a:pPr indent="0" marL="0">
              <a:buNone/>
            </a:pPr>
            <a:r>
              <a:rPr lang="en-US" sz="1400" b="1" dirty="0">
                <a:solidFill>
                  <a:srgbClr val="5F7379"/>
                </a:solidFill>
                <a:latin typeface="Aptos" pitchFamily="34" charset="0"/>
                <a:ea typeface="Aptos" pitchFamily="34" charset="-122"/>
                <a:cs typeface="Aptos" pitchFamily="34" charset="-120"/>
              </a:rPr>
              <a:t>Família</a:t>
            </a:r>
            <a:endParaRPr lang="en-US" sz="1400" dirty="0"/>
          </a:p>
        </p:txBody>
      </p:sp>
      <p:sp>
        <p:nvSpPr>
          <p:cNvPr id="9" name="Text 7"/>
          <p:cNvSpPr/>
          <p:nvPr/>
        </p:nvSpPr>
        <p:spPr>
          <a:xfrm>
            <a:off x="3694176" y="1984248"/>
            <a:ext cx="2057400" cy="274320"/>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Elegíveis no teste</a:t>
            </a:r>
            <a:endParaRPr lang="en-US" sz="1400" dirty="0"/>
          </a:p>
        </p:txBody>
      </p:sp>
      <p:sp>
        <p:nvSpPr>
          <p:cNvPr id="10" name="Text 8"/>
          <p:cNvSpPr/>
          <p:nvPr/>
        </p:nvSpPr>
        <p:spPr>
          <a:xfrm>
            <a:off x="6199632" y="1984248"/>
            <a:ext cx="1097280" cy="274320"/>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AUC</a:t>
            </a:r>
            <a:endParaRPr lang="en-US" sz="1400" dirty="0"/>
          </a:p>
        </p:txBody>
      </p:sp>
      <p:sp>
        <p:nvSpPr>
          <p:cNvPr id="11" name="Text 9"/>
          <p:cNvSpPr/>
          <p:nvPr/>
        </p:nvSpPr>
        <p:spPr>
          <a:xfrm>
            <a:off x="8549640" y="1984248"/>
            <a:ext cx="1005840" cy="274320"/>
          </a:xfrm>
          <a:prstGeom prst="rect">
            <a:avLst/>
          </a:prstGeom>
          <a:noFill/>
          <a:ln/>
        </p:spPr>
        <p:txBody>
          <a:bodyPr wrap="square" lIns="0" tIns="0" rIns="0" bIns="0" rtlCol="0" anchor="ctr"/>
          <a:lstStyle/>
          <a:p>
            <a:pPr algn="ctr" indent="0" marL="0">
              <a:buNone/>
            </a:pPr>
            <a:r>
              <a:rPr lang="en-US" sz="1400" b="1" dirty="0">
                <a:solidFill>
                  <a:srgbClr val="5F7379"/>
                </a:solidFill>
                <a:latin typeface="Aptos" pitchFamily="34" charset="0"/>
                <a:ea typeface="Aptos" pitchFamily="34" charset="-122"/>
                <a:cs typeface="Aptos" pitchFamily="34" charset="-120"/>
              </a:rPr>
              <a:t>Brier</a:t>
            </a:r>
            <a:endParaRPr lang="en-US" sz="1400" dirty="0"/>
          </a:p>
        </p:txBody>
      </p:sp>
      <p:sp>
        <p:nvSpPr>
          <p:cNvPr id="12" name="Shape 10"/>
          <p:cNvSpPr/>
          <p:nvPr/>
        </p:nvSpPr>
        <p:spPr>
          <a:xfrm>
            <a:off x="749808" y="2386584"/>
            <a:ext cx="10716768" cy="630936"/>
          </a:xfrm>
          <a:prstGeom prst="roundRect">
            <a:avLst>
              <a:gd name="adj" fmla="val 17391"/>
            </a:avLst>
          </a:prstGeom>
          <a:solidFill>
            <a:srgbClr val="FFFFFF"/>
          </a:solidFill>
          <a:ln w="11430">
            <a:solidFill>
              <a:srgbClr val="D5DFDC"/>
            </a:solidFill>
            <a:prstDash val="solid"/>
          </a:ln>
        </p:spPr>
      </p:sp>
      <p:sp>
        <p:nvSpPr>
          <p:cNvPr id="13" name="Text 11"/>
          <p:cNvSpPr/>
          <p:nvPr/>
        </p:nvSpPr>
        <p:spPr>
          <a:xfrm>
            <a:off x="932688" y="2551176"/>
            <a:ext cx="274320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Internet fixa (BL)</a:t>
            </a:r>
            <a:endParaRPr lang="en-US" sz="1600" dirty="0"/>
          </a:p>
        </p:txBody>
      </p:sp>
      <p:sp>
        <p:nvSpPr>
          <p:cNvPr id="14" name="Text 12"/>
          <p:cNvSpPr/>
          <p:nvPr/>
        </p:nvSpPr>
        <p:spPr>
          <a:xfrm>
            <a:off x="3666744" y="2551176"/>
            <a:ext cx="2084832" cy="274320"/>
          </a:xfrm>
          <a:prstGeom prst="rect">
            <a:avLst/>
          </a:prstGeom>
          <a:noFill/>
          <a:ln/>
        </p:spPr>
        <p:txBody>
          <a:bodyPr wrap="square" lIns="0" tIns="0" rIns="0" bIns="0" rtlCol="0" anchor="ctr"/>
          <a:lstStyle/>
          <a:p>
            <a:pPr algn="ctr" indent="0" marL="0">
              <a:buNone/>
            </a:pPr>
            <a:r>
              <a:rPr lang="en-US" sz="1600" dirty="0">
                <a:solidFill>
                  <a:srgbClr val="5F7379"/>
                </a:solidFill>
                <a:latin typeface="Aptos" pitchFamily="34" charset="0"/>
                <a:ea typeface="Aptos" pitchFamily="34" charset="-122"/>
                <a:cs typeface="Aptos" pitchFamily="34" charset="-120"/>
              </a:rPr>
              <a:t>66.696</a:t>
            </a:r>
            <a:endParaRPr lang="en-US" sz="1600" dirty="0"/>
          </a:p>
        </p:txBody>
      </p:sp>
      <p:sp>
        <p:nvSpPr>
          <p:cNvPr id="15" name="Text 13"/>
          <p:cNvSpPr/>
          <p:nvPr/>
        </p:nvSpPr>
        <p:spPr>
          <a:xfrm>
            <a:off x="6208776" y="2551176"/>
            <a:ext cx="1097280" cy="274320"/>
          </a:xfrm>
          <a:prstGeom prst="rect">
            <a:avLst/>
          </a:prstGeom>
          <a:noFill/>
          <a:ln/>
        </p:spPr>
        <p:txBody>
          <a:bodyPr wrap="square" lIns="0" tIns="0" rIns="0" bIns="0" rtlCol="0" anchor="ctr"/>
          <a:lstStyle/>
          <a:p>
            <a:pPr algn="ctr" indent="0" marL="0">
              <a:buNone/>
            </a:pPr>
            <a:r>
              <a:rPr lang="en-US" sz="1700" b="1" dirty="0">
                <a:solidFill>
                  <a:srgbClr val="1E6159"/>
                </a:solidFill>
                <a:latin typeface="Aptos" pitchFamily="34" charset="0"/>
                <a:ea typeface="Aptos" pitchFamily="34" charset="-122"/>
                <a:cs typeface="Aptos" pitchFamily="34" charset="-120"/>
              </a:rPr>
              <a:t>0,606</a:t>
            </a:r>
            <a:endParaRPr lang="en-US" sz="1700" dirty="0"/>
          </a:p>
        </p:txBody>
      </p:sp>
      <p:sp>
        <p:nvSpPr>
          <p:cNvPr id="16" name="Text 14"/>
          <p:cNvSpPr/>
          <p:nvPr/>
        </p:nvSpPr>
        <p:spPr>
          <a:xfrm>
            <a:off x="8494776" y="2551176"/>
            <a:ext cx="1124712" cy="274320"/>
          </a:xfrm>
          <a:prstGeom prst="rect">
            <a:avLst/>
          </a:prstGeom>
          <a:noFill/>
          <a:ln/>
        </p:spPr>
        <p:txBody>
          <a:bodyPr wrap="square" lIns="0" tIns="0" rIns="0" bIns="0" rtlCol="0" anchor="ctr"/>
          <a:lstStyle/>
          <a:p>
            <a:pPr algn="ctr" indent="0" marL="0">
              <a:buNone/>
            </a:pPr>
            <a:r>
              <a:rPr lang="en-US" sz="1600" b="1" dirty="0">
                <a:solidFill>
                  <a:srgbClr val="1E6159"/>
                </a:solidFill>
                <a:latin typeface="Aptos" pitchFamily="34" charset="0"/>
                <a:ea typeface="Aptos" pitchFamily="34" charset="-122"/>
                <a:cs typeface="Aptos" pitchFamily="34" charset="-120"/>
              </a:rPr>
              <a:t>0,199</a:t>
            </a:r>
            <a:endParaRPr lang="en-US" sz="1600" dirty="0"/>
          </a:p>
        </p:txBody>
      </p:sp>
      <p:sp>
        <p:nvSpPr>
          <p:cNvPr id="17" name="Shape 15"/>
          <p:cNvSpPr/>
          <p:nvPr/>
        </p:nvSpPr>
        <p:spPr>
          <a:xfrm>
            <a:off x="749808" y="3099816"/>
            <a:ext cx="10716768" cy="630936"/>
          </a:xfrm>
          <a:prstGeom prst="roundRect">
            <a:avLst>
              <a:gd name="adj" fmla="val 17391"/>
            </a:avLst>
          </a:prstGeom>
          <a:solidFill>
            <a:srgbClr val="FFFFFF"/>
          </a:solidFill>
          <a:ln w="11430">
            <a:solidFill>
              <a:srgbClr val="D5DFDC"/>
            </a:solidFill>
            <a:prstDash val="solid"/>
          </a:ln>
        </p:spPr>
      </p:sp>
      <p:sp>
        <p:nvSpPr>
          <p:cNvPr id="18" name="Text 16"/>
          <p:cNvSpPr/>
          <p:nvPr/>
        </p:nvSpPr>
        <p:spPr>
          <a:xfrm>
            <a:off x="932688" y="3264408"/>
            <a:ext cx="274320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Televisão (TV)</a:t>
            </a:r>
            <a:endParaRPr lang="en-US" sz="1600" dirty="0"/>
          </a:p>
        </p:txBody>
      </p:sp>
      <p:sp>
        <p:nvSpPr>
          <p:cNvPr id="19" name="Text 17"/>
          <p:cNvSpPr/>
          <p:nvPr/>
        </p:nvSpPr>
        <p:spPr>
          <a:xfrm>
            <a:off x="3666744" y="3264408"/>
            <a:ext cx="2084832" cy="274320"/>
          </a:xfrm>
          <a:prstGeom prst="rect">
            <a:avLst/>
          </a:prstGeom>
          <a:noFill/>
          <a:ln/>
        </p:spPr>
        <p:txBody>
          <a:bodyPr wrap="square" lIns="0" tIns="0" rIns="0" bIns="0" rtlCol="0" anchor="ctr"/>
          <a:lstStyle/>
          <a:p>
            <a:pPr algn="ctr" indent="0" marL="0">
              <a:buNone/>
            </a:pPr>
            <a:r>
              <a:rPr lang="en-US" sz="1600" dirty="0">
                <a:solidFill>
                  <a:srgbClr val="5F7379"/>
                </a:solidFill>
                <a:latin typeface="Aptos" pitchFamily="34" charset="0"/>
                <a:ea typeface="Aptos" pitchFamily="34" charset="-122"/>
                <a:cs typeface="Aptos" pitchFamily="34" charset="-120"/>
              </a:rPr>
              <a:t>38.086</a:t>
            </a:r>
            <a:endParaRPr lang="en-US" sz="1600" dirty="0"/>
          </a:p>
        </p:txBody>
      </p:sp>
      <p:sp>
        <p:nvSpPr>
          <p:cNvPr id="20" name="Text 18"/>
          <p:cNvSpPr/>
          <p:nvPr/>
        </p:nvSpPr>
        <p:spPr>
          <a:xfrm>
            <a:off x="6208776" y="3264408"/>
            <a:ext cx="1097280" cy="274320"/>
          </a:xfrm>
          <a:prstGeom prst="rect">
            <a:avLst/>
          </a:prstGeom>
          <a:noFill/>
          <a:ln/>
        </p:spPr>
        <p:txBody>
          <a:bodyPr wrap="square" lIns="0" tIns="0" rIns="0" bIns="0" rtlCol="0" anchor="ctr"/>
          <a:lstStyle/>
          <a:p>
            <a:pPr algn="ctr" indent="0" marL="0">
              <a:buNone/>
            </a:pPr>
            <a:r>
              <a:rPr lang="en-US" sz="1700" b="1" dirty="0">
                <a:solidFill>
                  <a:srgbClr val="577F99"/>
                </a:solidFill>
                <a:latin typeface="Aptos" pitchFamily="34" charset="0"/>
                <a:ea typeface="Aptos" pitchFamily="34" charset="-122"/>
                <a:cs typeface="Aptos" pitchFamily="34" charset="-120"/>
              </a:rPr>
              <a:t>0,618</a:t>
            </a:r>
            <a:endParaRPr lang="en-US" sz="1700" dirty="0"/>
          </a:p>
        </p:txBody>
      </p:sp>
      <p:sp>
        <p:nvSpPr>
          <p:cNvPr id="21" name="Text 19"/>
          <p:cNvSpPr/>
          <p:nvPr/>
        </p:nvSpPr>
        <p:spPr>
          <a:xfrm>
            <a:off x="8494776" y="3264408"/>
            <a:ext cx="1124712" cy="274320"/>
          </a:xfrm>
          <a:prstGeom prst="rect">
            <a:avLst/>
          </a:prstGeom>
          <a:noFill/>
          <a:ln/>
        </p:spPr>
        <p:txBody>
          <a:bodyPr wrap="square" lIns="0" tIns="0" rIns="0" bIns="0" rtlCol="0" anchor="ctr"/>
          <a:lstStyle/>
          <a:p>
            <a:pPr algn="ctr" indent="0" marL="0">
              <a:buNone/>
            </a:pPr>
            <a:r>
              <a:rPr lang="en-US" sz="1600" b="1" dirty="0">
                <a:solidFill>
                  <a:srgbClr val="577F99"/>
                </a:solidFill>
                <a:latin typeface="Aptos" pitchFamily="34" charset="0"/>
                <a:ea typeface="Aptos" pitchFamily="34" charset="-122"/>
                <a:cs typeface="Aptos" pitchFamily="34" charset="-120"/>
              </a:rPr>
              <a:t>0,142</a:t>
            </a:r>
            <a:endParaRPr lang="en-US" sz="1600" dirty="0"/>
          </a:p>
        </p:txBody>
      </p:sp>
      <p:sp>
        <p:nvSpPr>
          <p:cNvPr id="22" name="Shape 20"/>
          <p:cNvSpPr/>
          <p:nvPr/>
        </p:nvSpPr>
        <p:spPr>
          <a:xfrm>
            <a:off x="749808" y="3813048"/>
            <a:ext cx="10716768" cy="630936"/>
          </a:xfrm>
          <a:prstGeom prst="roundRect">
            <a:avLst>
              <a:gd name="adj" fmla="val 17391"/>
            </a:avLst>
          </a:prstGeom>
          <a:solidFill>
            <a:srgbClr val="FFFFFF"/>
          </a:solidFill>
          <a:ln w="11430">
            <a:solidFill>
              <a:srgbClr val="D5DFDC"/>
            </a:solidFill>
            <a:prstDash val="solid"/>
          </a:ln>
        </p:spPr>
      </p:sp>
      <p:sp>
        <p:nvSpPr>
          <p:cNvPr id="23" name="Text 21"/>
          <p:cNvSpPr/>
          <p:nvPr/>
        </p:nvSpPr>
        <p:spPr>
          <a:xfrm>
            <a:off x="932688" y="3977640"/>
            <a:ext cx="274320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Telefonia fixa</a:t>
            </a:r>
            <a:endParaRPr lang="en-US" sz="1600" dirty="0"/>
          </a:p>
        </p:txBody>
      </p:sp>
      <p:sp>
        <p:nvSpPr>
          <p:cNvPr id="24" name="Text 22"/>
          <p:cNvSpPr/>
          <p:nvPr/>
        </p:nvSpPr>
        <p:spPr>
          <a:xfrm>
            <a:off x="3666744" y="3977640"/>
            <a:ext cx="2084832" cy="274320"/>
          </a:xfrm>
          <a:prstGeom prst="rect">
            <a:avLst/>
          </a:prstGeom>
          <a:noFill/>
          <a:ln/>
        </p:spPr>
        <p:txBody>
          <a:bodyPr wrap="square" lIns="0" tIns="0" rIns="0" bIns="0" rtlCol="0" anchor="ctr"/>
          <a:lstStyle/>
          <a:p>
            <a:pPr algn="ctr" indent="0" marL="0">
              <a:buNone/>
            </a:pPr>
            <a:r>
              <a:rPr lang="en-US" sz="1600" dirty="0">
                <a:solidFill>
                  <a:srgbClr val="5F7379"/>
                </a:solidFill>
                <a:latin typeface="Aptos" pitchFamily="34" charset="0"/>
                <a:ea typeface="Aptos" pitchFamily="34" charset="-122"/>
                <a:cs typeface="Aptos" pitchFamily="34" charset="-120"/>
              </a:rPr>
              <a:t>23.852</a:t>
            </a:r>
            <a:endParaRPr lang="en-US" sz="1600" dirty="0"/>
          </a:p>
        </p:txBody>
      </p:sp>
      <p:sp>
        <p:nvSpPr>
          <p:cNvPr id="25" name="Text 23"/>
          <p:cNvSpPr/>
          <p:nvPr/>
        </p:nvSpPr>
        <p:spPr>
          <a:xfrm>
            <a:off x="6208776" y="3977640"/>
            <a:ext cx="1097280" cy="274320"/>
          </a:xfrm>
          <a:prstGeom prst="rect">
            <a:avLst/>
          </a:prstGeom>
          <a:noFill/>
          <a:ln/>
        </p:spPr>
        <p:txBody>
          <a:bodyPr wrap="square" lIns="0" tIns="0" rIns="0" bIns="0" rtlCol="0" anchor="ctr"/>
          <a:lstStyle/>
          <a:p>
            <a:pPr algn="ctr" indent="0" marL="0">
              <a:buNone/>
            </a:pPr>
            <a:r>
              <a:rPr lang="en-US" sz="1700" b="1" dirty="0">
                <a:solidFill>
                  <a:srgbClr val="BD8F4C"/>
                </a:solidFill>
                <a:latin typeface="Aptos" pitchFamily="34" charset="0"/>
                <a:ea typeface="Aptos" pitchFamily="34" charset="-122"/>
                <a:cs typeface="Aptos" pitchFamily="34" charset="-120"/>
              </a:rPr>
              <a:t>0,551</a:t>
            </a:r>
            <a:endParaRPr lang="en-US" sz="1700" dirty="0"/>
          </a:p>
        </p:txBody>
      </p:sp>
      <p:sp>
        <p:nvSpPr>
          <p:cNvPr id="26" name="Text 24"/>
          <p:cNvSpPr/>
          <p:nvPr/>
        </p:nvSpPr>
        <p:spPr>
          <a:xfrm>
            <a:off x="8494776" y="3977640"/>
            <a:ext cx="1124712" cy="274320"/>
          </a:xfrm>
          <a:prstGeom prst="rect">
            <a:avLst/>
          </a:prstGeom>
          <a:noFill/>
          <a:ln/>
        </p:spPr>
        <p:txBody>
          <a:bodyPr wrap="square" lIns="0" tIns="0" rIns="0" bIns="0" rtlCol="0" anchor="ctr"/>
          <a:lstStyle/>
          <a:p>
            <a:pPr algn="ctr" indent="0" marL="0">
              <a:buNone/>
            </a:pPr>
            <a:r>
              <a:rPr lang="en-US" sz="1600" b="1" dirty="0">
                <a:solidFill>
                  <a:srgbClr val="BD8F4C"/>
                </a:solidFill>
                <a:latin typeface="Aptos" pitchFamily="34" charset="0"/>
                <a:ea typeface="Aptos" pitchFamily="34" charset="-122"/>
                <a:cs typeface="Aptos" pitchFamily="34" charset="-120"/>
              </a:rPr>
              <a:t>0,106</a:t>
            </a:r>
            <a:endParaRPr lang="en-US" sz="1600" dirty="0"/>
          </a:p>
        </p:txBody>
      </p:sp>
      <p:sp>
        <p:nvSpPr>
          <p:cNvPr id="27" name="Shape 25"/>
          <p:cNvSpPr/>
          <p:nvPr/>
        </p:nvSpPr>
        <p:spPr>
          <a:xfrm>
            <a:off x="749808" y="4526280"/>
            <a:ext cx="10716768" cy="630936"/>
          </a:xfrm>
          <a:prstGeom prst="roundRect">
            <a:avLst>
              <a:gd name="adj" fmla="val 17391"/>
            </a:avLst>
          </a:prstGeom>
          <a:solidFill>
            <a:srgbClr val="FFFFFF"/>
          </a:solidFill>
          <a:ln w="11430">
            <a:solidFill>
              <a:srgbClr val="D5DFDC"/>
            </a:solidFill>
            <a:prstDash val="solid"/>
          </a:ln>
        </p:spPr>
      </p:sp>
      <p:sp>
        <p:nvSpPr>
          <p:cNvPr id="28" name="Text 26"/>
          <p:cNvSpPr/>
          <p:nvPr/>
        </p:nvSpPr>
        <p:spPr>
          <a:xfrm>
            <a:off x="932688" y="4690872"/>
            <a:ext cx="2743200" cy="292608"/>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Móvel</a:t>
            </a:r>
            <a:endParaRPr lang="en-US" sz="1600" dirty="0"/>
          </a:p>
        </p:txBody>
      </p:sp>
      <p:sp>
        <p:nvSpPr>
          <p:cNvPr id="29" name="Text 27"/>
          <p:cNvSpPr/>
          <p:nvPr/>
        </p:nvSpPr>
        <p:spPr>
          <a:xfrm>
            <a:off x="3666744" y="4690872"/>
            <a:ext cx="2084832" cy="274320"/>
          </a:xfrm>
          <a:prstGeom prst="rect">
            <a:avLst/>
          </a:prstGeom>
          <a:noFill/>
          <a:ln/>
        </p:spPr>
        <p:txBody>
          <a:bodyPr wrap="square" lIns="0" tIns="0" rIns="0" bIns="0" rtlCol="0" anchor="ctr"/>
          <a:lstStyle/>
          <a:p>
            <a:pPr algn="ctr" indent="0" marL="0">
              <a:buNone/>
            </a:pPr>
            <a:r>
              <a:rPr lang="en-US" sz="1600" dirty="0">
                <a:solidFill>
                  <a:srgbClr val="5F7379"/>
                </a:solidFill>
                <a:latin typeface="Aptos" pitchFamily="34" charset="0"/>
                <a:ea typeface="Aptos" pitchFamily="34" charset="-122"/>
                <a:cs typeface="Aptos" pitchFamily="34" charset="-120"/>
              </a:rPr>
              <a:t>3.560</a:t>
            </a:r>
            <a:endParaRPr lang="en-US" sz="1600" dirty="0"/>
          </a:p>
        </p:txBody>
      </p:sp>
      <p:sp>
        <p:nvSpPr>
          <p:cNvPr id="30" name="Text 28"/>
          <p:cNvSpPr/>
          <p:nvPr/>
        </p:nvSpPr>
        <p:spPr>
          <a:xfrm>
            <a:off x="6208776" y="4690872"/>
            <a:ext cx="1097280" cy="274320"/>
          </a:xfrm>
          <a:prstGeom prst="rect">
            <a:avLst/>
          </a:prstGeom>
          <a:noFill/>
          <a:ln/>
        </p:spPr>
        <p:txBody>
          <a:bodyPr wrap="square" lIns="0" tIns="0" rIns="0" bIns="0" rtlCol="0" anchor="ctr"/>
          <a:lstStyle/>
          <a:p>
            <a:pPr algn="ctr" indent="0" marL="0">
              <a:buNone/>
            </a:pPr>
            <a:r>
              <a:rPr lang="en-US" sz="1700" b="1" dirty="0">
                <a:solidFill>
                  <a:srgbClr val="816B91"/>
                </a:solidFill>
                <a:latin typeface="Aptos" pitchFamily="34" charset="0"/>
                <a:ea typeface="Aptos" pitchFamily="34" charset="-122"/>
                <a:cs typeface="Aptos" pitchFamily="34" charset="-120"/>
              </a:rPr>
              <a:t>0,569</a:t>
            </a:r>
            <a:endParaRPr lang="en-US" sz="1700" dirty="0"/>
          </a:p>
        </p:txBody>
      </p:sp>
      <p:sp>
        <p:nvSpPr>
          <p:cNvPr id="31" name="Text 29"/>
          <p:cNvSpPr/>
          <p:nvPr/>
        </p:nvSpPr>
        <p:spPr>
          <a:xfrm>
            <a:off x="8494776" y="4690872"/>
            <a:ext cx="1124712" cy="274320"/>
          </a:xfrm>
          <a:prstGeom prst="rect">
            <a:avLst/>
          </a:prstGeom>
          <a:noFill/>
          <a:ln/>
        </p:spPr>
        <p:txBody>
          <a:bodyPr wrap="square" lIns="0" tIns="0" rIns="0" bIns="0" rtlCol="0" anchor="ctr"/>
          <a:lstStyle/>
          <a:p>
            <a:pPr algn="ctr" indent="0" marL="0">
              <a:buNone/>
            </a:pPr>
            <a:r>
              <a:rPr lang="en-US" sz="1600" b="1" dirty="0">
                <a:solidFill>
                  <a:srgbClr val="816B91"/>
                </a:solidFill>
                <a:latin typeface="Aptos" pitchFamily="34" charset="0"/>
                <a:ea typeface="Aptos" pitchFamily="34" charset="-122"/>
                <a:cs typeface="Aptos" pitchFamily="34" charset="-120"/>
              </a:rPr>
              <a:t>0,238</a:t>
            </a:r>
            <a:endParaRPr lang="en-US" sz="1600" dirty="0"/>
          </a:p>
        </p:txBody>
      </p:sp>
      <p:sp>
        <p:nvSpPr>
          <p:cNvPr id="32" name="Shape 30"/>
          <p:cNvSpPr/>
          <p:nvPr/>
        </p:nvSpPr>
        <p:spPr>
          <a:xfrm>
            <a:off x="694944" y="5705856"/>
            <a:ext cx="10972800" cy="438912"/>
          </a:xfrm>
          <a:prstGeom prst="roundRect">
            <a:avLst>
              <a:gd name="adj" fmla="val 25000"/>
            </a:avLst>
          </a:prstGeom>
          <a:solidFill>
            <a:srgbClr val="E5F0EB"/>
          </a:solidFill>
          <a:ln w="12700">
            <a:solidFill>
              <a:srgbClr val="E5F0EB">
                <a:alpha val="0"/>
              </a:srgbClr>
            </a:solidFill>
            <a:prstDash val="solid"/>
          </a:ln>
        </p:spPr>
      </p:sp>
      <p:sp>
        <p:nvSpPr>
          <p:cNvPr id="33" name="Text 31"/>
          <p:cNvSpPr/>
          <p:nvPr/>
        </p:nvSpPr>
        <p:spPr>
          <a:xfrm>
            <a:off x="850392" y="5769864"/>
            <a:ext cx="10661904"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Regressões por família com proporções naturais; mesmos períodos de treino, validação e teste.</a:t>
            </a:r>
            <a:endParaRPr lang="en-US" sz="1170" dirty="0"/>
          </a:p>
        </p:txBody>
      </p:sp>
      <p:sp>
        <p:nvSpPr>
          <p:cNvPr id="34" name="Text 32"/>
          <p:cNvSpPr/>
          <p:nvPr/>
        </p:nvSpPr>
        <p:spPr>
          <a:xfrm>
            <a:off x="850392" y="5920740"/>
            <a:ext cx="10661904"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Os valores de Brier não devem ser ranqueados entre famílias com prevalências distintas.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SENSIBILIDADE AO DESBALANCEAMENTO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Pesar classes piorou o erro probabilístico nos quatro produtos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17</a:t>
            </a:r>
            <a:endParaRPr lang="en-US" sz="1050" dirty="0"/>
          </a:p>
        </p:txBody>
      </p:sp>
      <p:sp>
        <p:nvSpPr>
          <p:cNvPr id="8" name="Text 6"/>
          <p:cNvSpPr/>
          <p:nvPr/>
        </p:nvSpPr>
        <p:spPr>
          <a:xfrm>
            <a:off x="768096" y="1874520"/>
            <a:ext cx="9601200" cy="329184"/>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Brier no teste temporal (menor é melhor)</a:t>
            </a:r>
            <a:endParaRPr lang="en-US" sz="1600" dirty="0"/>
          </a:p>
        </p:txBody>
      </p:sp>
      <p:sp>
        <p:nvSpPr>
          <p:cNvPr id="9" name="Text 7"/>
          <p:cNvSpPr/>
          <p:nvPr/>
        </p:nvSpPr>
        <p:spPr>
          <a:xfrm>
            <a:off x="813816" y="2478024"/>
            <a:ext cx="1097280" cy="256032"/>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BL</a:t>
            </a:r>
            <a:endParaRPr lang="en-US" sz="1600" dirty="0"/>
          </a:p>
        </p:txBody>
      </p:sp>
      <p:sp>
        <p:nvSpPr>
          <p:cNvPr id="10" name="Shape 8"/>
          <p:cNvSpPr/>
          <p:nvPr/>
        </p:nvSpPr>
        <p:spPr>
          <a:xfrm>
            <a:off x="2020824" y="2386584"/>
            <a:ext cx="6812280" cy="210312"/>
          </a:xfrm>
          <a:prstGeom prst="rect">
            <a:avLst/>
          </a:prstGeom>
          <a:solidFill>
            <a:srgbClr val="EDF1F0"/>
          </a:solidFill>
          <a:ln w="12700">
            <a:solidFill>
              <a:srgbClr val="EDF1F0">
                <a:alpha val="0"/>
              </a:srgbClr>
            </a:solidFill>
            <a:prstDash val="solid"/>
          </a:ln>
        </p:spPr>
      </p:sp>
      <p:sp>
        <p:nvSpPr>
          <p:cNvPr id="11" name="Shape 9"/>
          <p:cNvSpPr/>
          <p:nvPr/>
        </p:nvSpPr>
        <p:spPr>
          <a:xfrm>
            <a:off x="2020824" y="2386584"/>
            <a:ext cx="4512000" cy="210312"/>
          </a:xfrm>
          <a:prstGeom prst="rect">
            <a:avLst/>
          </a:prstGeom>
          <a:solidFill>
            <a:srgbClr val="1E6159"/>
          </a:solidFill>
          <a:ln w="12700">
            <a:solidFill>
              <a:srgbClr val="1E6159">
                <a:alpha val="0"/>
              </a:srgbClr>
            </a:solidFill>
            <a:prstDash val="solid"/>
          </a:ln>
        </p:spPr>
      </p:sp>
      <p:sp>
        <p:nvSpPr>
          <p:cNvPr id="12" name="Shape 10"/>
          <p:cNvSpPr/>
          <p:nvPr/>
        </p:nvSpPr>
        <p:spPr>
          <a:xfrm>
            <a:off x="2020824" y="2660904"/>
            <a:ext cx="6812280" cy="201168"/>
          </a:xfrm>
          <a:prstGeom prst="rect">
            <a:avLst/>
          </a:prstGeom>
          <a:solidFill>
            <a:srgbClr val="EDF1F0"/>
          </a:solidFill>
          <a:ln w="12700">
            <a:solidFill>
              <a:srgbClr val="EDF1F0">
                <a:alpha val="0"/>
              </a:srgbClr>
            </a:solidFill>
            <a:prstDash val="solid"/>
          </a:ln>
        </p:spPr>
      </p:sp>
      <p:sp>
        <p:nvSpPr>
          <p:cNvPr id="13" name="Shape 11"/>
          <p:cNvSpPr/>
          <p:nvPr/>
        </p:nvSpPr>
        <p:spPr>
          <a:xfrm>
            <a:off x="2020824" y="2660904"/>
            <a:ext cx="5295412" cy="201168"/>
          </a:xfrm>
          <a:prstGeom prst="rect">
            <a:avLst/>
          </a:prstGeom>
          <a:solidFill>
            <a:srgbClr val="BD8F4C"/>
          </a:solidFill>
          <a:ln w="12700">
            <a:solidFill>
              <a:srgbClr val="BD8F4C">
                <a:alpha val="0"/>
              </a:srgbClr>
            </a:solidFill>
            <a:prstDash val="solid"/>
          </a:ln>
        </p:spPr>
      </p:sp>
      <p:sp>
        <p:nvSpPr>
          <p:cNvPr id="14" name="Text 12"/>
          <p:cNvSpPr/>
          <p:nvPr/>
        </p:nvSpPr>
        <p:spPr>
          <a:xfrm>
            <a:off x="9052560" y="2368296"/>
            <a:ext cx="1188720" cy="265176"/>
          </a:xfrm>
          <a:prstGeom prst="rect">
            <a:avLst/>
          </a:prstGeom>
          <a:noFill/>
          <a:ln/>
        </p:spPr>
        <p:txBody>
          <a:bodyPr wrap="square" lIns="0" tIns="0" rIns="0" bIns="0" rtlCol="0" anchor="ctr"/>
          <a:lstStyle/>
          <a:p>
            <a:pPr indent="0" marL="0">
              <a:buNone/>
            </a:pPr>
            <a:r>
              <a:rPr lang="en-US" sz="1450" b="1" dirty="0">
                <a:solidFill>
                  <a:srgbClr val="1E6159"/>
                </a:solidFill>
                <a:latin typeface="Aptos" pitchFamily="34" charset="0"/>
                <a:ea typeface="Aptos" pitchFamily="34" charset="-122"/>
                <a:cs typeface="Aptos" pitchFamily="34" charset="-120"/>
              </a:rPr>
              <a:t>0,1987</a:t>
            </a:r>
            <a:endParaRPr lang="en-US" sz="1450" dirty="0"/>
          </a:p>
        </p:txBody>
      </p:sp>
      <p:sp>
        <p:nvSpPr>
          <p:cNvPr id="15" name="Text 13"/>
          <p:cNvSpPr/>
          <p:nvPr/>
        </p:nvSpPr>
        <p:spPr>
          <a:xfrm>
            <a:off x="9052560" y="2651760"/>
            <a:ext cx="1188720" cy="265176"/>
          </a:xfrm>
          <a:prstGeom prst="rect">
            <a:avLst/>
          </a:prstGeom>
          <a:noFill/>
          <a:ln/>
        </p:spPr>
        <p:txBody>
          <a:bodyPr wrap="square" lIns="0" tIns="0" rIns="0" bIns="0" rtlCol="0" anchor="ctr"/>
          <a:lstStyle/>
          <a:p>
            <a:pPr indent="0" marL="0">
              <a:buNone/>
            </a:pPr>
            <a:r>
              <a:rPr lang="en-US" sz="1450" b="1" dirty="0">
                <a:solidFill>
                  <a:srgbClr val="BD8F4C"/>
                </a:solidFill>
                <a:latin typeface="Aptos" pitchFamily="34" charset="0"/>
                <a:ea typeface="Aptos" pitchFamily="34" charset="-122"/>
                <a:cs typeface="Aptos" pitchFamily="34" charset="-120"/>
              </a:rPr>
              <a:t>0,2332</a:t>
            </a:r>
            <a:endParaRPr lang="en-US" sz="1450" dirty="0"/>
          </a:p>
        </p:txBody>
      </p:sp>
      <p:sp>
        <p:nvSpPr>
          <p:cNvPr id="16" name="Text 14"/>
          <p:cNvSpPr/>
          <p:nvPr/>
        </p:nvSpPr>
        <p:spPr>
          <a:xfrm>
            <a:off x="813816" y="3191256"/>
            <a:ext cx="1097280" cy="256032"/>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TV</a:t>
            </a:r>
            <a:endParaRPr lang="en-US" sz="1600" dirty="0"/>
          </a:p>
        </p:txBody>
      </p:sp>
      <p:sp>
        <p:nvSpPr>
          <p:cNvPr id="17" name="Shape 15"/>
          <p:cNvSpPr/>
          <p:nvPr/>
        </p:nvSpPr>
        <p:spPr>
          <a:xfrm>
            <a:off x="2020824" y="3099816"/>
            <a:ext cx="6812280" cy="210312"/>
          </a:xfrm>
          <a:prstGeom prst="rect">
            <a:avLst/>
          </a:prstGeom>
          <a:solidFill>
            <a:srgbClr val="EDF1F0"/>
          </a:solidFill>
          <a:ln w="12700">
            <a:solidFill>
              <a:srgbClr val="EDF1F0">
                <a:alpha val="0"/>
              </a:srgbClr>
            </a:solidFill>
            <a:prstDash val="solid"/>
          </a:ln>
        </p:spPr>
      </p:sp>
      <p:sp>
        <p:nvSpPr>
          <p:cNvPr id="18" name="Shape 16"/>
          <p:cNvSpPr/>
          <p:nvPr/>
        </p:nvSpPr>
        <p:spPr>
          <a:xfrm>
            <a:off x="2020824" y="3099816"/>
            <a:ext cx="3224479" cy="210312"/>
          </a:xfrm>
          <a:prstGeom prst="rect">
            <a:avLst/>
          </a:prstGeom>
          <a:solidFill>
            <a:srgbClr val="1E6159"/>
          </a:solidFill>
          <a:ln w="12700">
            <a:solidFill>
              <a:srgbClr val="1E6159">
                <a:alpha val="0"/>
              </a:srgbClr>
            </a:solidFill>
            <a:prstDash val="solid"/>
          </a:ln>
        </p:spPr>
      </p:sp>
      <p:sp>
        <p:nvSpPr>
          <p:cNvPr id="19" name="Shape 17"/>
          <p:cNvSpPr/>
          <p:nvPr/>
        </p:nvSpPr>
        <p:spPr>
          <a:xfrm>
            <a:off x="2020824" y="3374136"/>
            <a:ext cx="6812280" cy="201168"/>
          </a:xfrm>
          <a:prstGeom prst="rect">
            <a:avLst/>
          </a:prstGeom>
          <a:solidFill>
            <a:srgbClr val="EDF1F0"/>
          </a:solidFill>
          <a:ln w="12700">
            <a:solidFill>
              <a:srgbClr val="EDF1F0">
                <a:alpha val="0"/>
              </a:srgbClr>
            </a:solidFill>
            <a:prstDash val="solid"/>
          </a:ln>
        </p:spPr>
      </p:sp>
      <p:sp>
        <p:nvSpPr>
          <p:cNvPr id="20" name="Shape 18"/>
          <p:cNvSpPr/>
          <p:nvPr/>
        </p:nvSpPr>
        <p:spPr>
          <a:xfrm>
            <a:off x="2020824" y="3374136"/>
            <a:ext cx="5458907" cy="201168"/>
          </a:xfrm>
          <a:prstGeom prst="rect">
            <a:avLst/>
          </a:prstGeom>
          <a:solidFill>
            <a:srgbClr val="BD8F4C"/>
          </a:solidFill>
          <a:ln w="12700">
            <a:solidFill>
              <a:srgbClr val="BD8F4C">
                <a:alpha val="0"/>
              </a:srgbClr>
            </a:solidFill>
            <a:prstDash val="solid"/>
          </a:ln>
        </p:spPr>
      </p:sp>
      <p:sp>
        <p:nvSpPr>
          <p:cNvPr id="21" name="Text 19"/>
          <p:cNvSpPr/>
          <p:nvPr/>
        </p:nvSpPr>
        <p:spPr>
          <a:xfrm>
            <a:off x="9052560" y="3081528"/>
            <a:ext cx="1188720" cy="265176"/>
          </a:xfrm>
          <a:prstGeom prst="rect">
            <a:avLst/>
          </a:prstGeom>
          <a:noFill/>
          <a:ln/>
        </p:spPr>
        <p:txBody>
          <a:bodyPr wrap="square" lIns="0" tIns="0" rIns="0" bIns="0" rtlCol="0" anchor="ctr"/>
          <a:lstStyle/>
          <a:p>
            <a:pPr indent="0" marL="0">
              <a:buNone/>
            </a:pPr>
            <a:r>
              <a:rPr lang="en-US" sz="1450" b="1" dirty="0">
                <a:solidFill>
                  <a:srgbClr val="1E6159"/>
                </a:solidFill>
                <a:latin typeface="Aptos" pitchFamily="34" charset="0"/>
                <a:ea typeface="Aptos" pitchFamily="34" charset="-122"/>
                <a:cs typeface="Aptos" pitchFamily="34" charset="-120"/>
              </a:rPr>
              <a:t>0,1420</a:t>
            </a:r>
            <a:endParaRPr lang="en-US" sz="1450" dirty="0"/>
          </a:p>
        </p:txBody>
      </p:sp>
      <p:sp>
        <p:nvSpPr>
          <p:cNvPr id="22" name="Text 20"/>
          <p:cNvSpPr/>
          <p:nvPr/>
        </p:nvSpPr>
        <p:spPr>
          <a:xfrm>
            <a:off x="9052560" y="3364992"/>
            <a:ext cx="1188720" cy="265176"/>
          </a:xfrm>
          <a:prstGeom prst="rect">
            <a:avLst/>
          </a:prstGeom>
          <a:noFill/>
          <a:ln/>
        </p:spPr>
        <p:txBody>
          <a:bodyPr wrap="square" lIns="0" tIns="0" rIns="0" bIns="0" rtlCol="0" anchor="ctr"/>
          <a:lstStyle/>
          <a:p>
            <a:pPr indent="0" marL="0">
              <a:buNone/>
            </a:pPr>
            <a:r>
              <a:rPr lang="en-US" sz="1450" b="1" dirty="0">
                <a:solidFill>
                  <a:srgbClr val="BD8F4C"/>
                </a:solidFill>
                <a:latin typeface="Aptos" pitchFamily="34" charset="0"/>
                <a:ea typeface="Aptos" pitchFamily="34" charset="-122"/>
                <a:cs typeface="Aptos" pitchFamily="34" charset="-120"/>
              </a:rPr>
              <a:t>0,2404</a:t>
            </a:r>
            <a:endParaRPr lang="en-US" sz="1450" dirty="0"/>
          </a:p>
        </p:txBody>
      </p:sp>
      <p:sp>
        <p:nvSpPr>
          <p:cNvPr id="23" name="Text 21"/>
          <p:cNvSpPr/>
          <p:nvPr/>
        </p:nvSpPr>
        <p:spPr>
          <a:xfrm>
            <a:off x="813816" y="3904488"/>
            <a:ext cx="1097280" cy="256032"/>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Fone</a:t>
            </a:r>
            <a:endParaRPr lang="en-US" sz="1600" dirty="0"/>
          </a:p>
        </p:txBody>
      </p:sp>
      <p:sp>
        <p:nvSpPr>
          <p:cNvPr id="24" name="Shape 22"/>
          <p:cNvSpPr/>
          <p:nvPr/>
        </p:nvSpPr>
        <p:spPr>
          <a:xfrm>
            <a:off x="2020824" y="3813048"/>
            <a:ext cx="6812280" cy="210312"/>
          </a:xfrm>
          <a:prstGeom prst="rect">
            <a:avLst/>
          </a:prstGeom>
          <a:solidFill>
            <a:srgbClr val="EDF1F0"/>
          </a:solidFill>
          <a:ln w="12700">
            <a:solidFill>
              <a:srgbClr val="EDF1F0">
                <a:alpha val="0"/>
              </a:srgbClr>
            </a:solidFill>
            <a:prstDash val="solid"/>
          </a:ln>
        </p:spPr>
      </p:sp>
      <p:sp>
        <p:nvSpPr>
          <p:cNvPr id="25" name="Shape 23"/>
          <p:cNvSpPr/>
          <p:nvPr/>
        </p:nvSpPr>
        <p:spPr>
          <a:xfrm>
            <a:off x="2020824" y="3813048"/>
            <a:ext cx="2409276" cy="210312"/>
          </a:xfrm>
          <a:prstGeom prst="rect">
            <a:avLst/>
          </a:prstGeom>
          <a:solidFill>
            <a:srgbClr val="1E6159"/>
          </a:solidFill>
          <a:ln w="12700">
            <a:solidFill>
              <a:srgbClr val="1E6159">
                <a:alpha val="0"/>
              </a:srgbClr>
            </a:solidFill>
            <a:prstDash val="solid"/>
          </a:ln>
        </p:spPr>
      </p:sp>
      <p:sp>
        <p:nvSpPr>
          <p:cNvPr id="26" name="Shape 24"/>
          <p:cNvSpPr/>
          <p:nvPr/>
        </p:nvSpPr>
        <p:spPr>
          <a:xfrm>
            <a:off x="2020824" y="4087368"/>
            <a:ext cx="6812280" cy="201168"/>
          </a:xfrm>
          <a:prstGeom prst="rect">
            <a:avLst/>
          </a:prstGeom>
          <a:solidFill>
            <a:srgbClr val="EDF1F0"/>
          </a:solidFill>
          <a:ln w="12700">
            <a:solidFill>
              <a:srgbClr val="EDF1F0">
                <a:alpha val="0"/>
              </a:srgbClr>
            </a:solidFill>
            <a:prstDash val="solid"/>
          </a:ln>
        </p:spPr>
      </p:sp>
      <p:sp>
        <p:nvSpPr>
          <p:cNvPr id="27" name="Shape 25"/>
          <p:cNvSpPr/>
          <p:nvPr/>
        </p:nvSpPr>
        <p:spPr>
          <a:xfrm>
            <a:off x="2020824" y="4087368"/>
            <a:ext cx="5038816" cy="201168"/>
          </a:xfrm>
          <a:prstGeom prst="rect">
            <a:avLst/>
          </a:prstGeom>
          <a:solidFill>
            <a:srgbClr val="BD8F4C"/>
          </a:solidFill>
          <a:ln w="12700">
            <a:solidFill>
              <a:srgbClr val="BD8F4C">
                <a:alpha val="0"/>
              </a:srgbClr>
            </a:solidFill>
            <a:prstDash val="solid"/>
          </a:ln>
        </p:spPr>
      </p:sp>
      <p:sp>
        <p:nvSpPr>
          <p:cNvPr id="28" name="Text 26"/>
          <p:cNvSpPr/>
          <p:nvPr/>
        </p:nvSpPr>
        <p:spPr>
          <a:xfrm>
            <a:off x="9052560" y="3794760"/>
            <a:ext cx="1188720" cy="265176"/>
          </a:xfrm>
          <a:prstGeom prst="rect">
            <a:avLst/>
          </a:prstGeom>
          <a:noFill/>
          <a:ln/>
        </p:spPr>
        <p:txBody>
          <a:bodyPr wrap="square" lIns="0" tIns="0" rIns="0" bIns="0" rtlCol="0" anchor="ctr"/>
          <a:lstStyle/>
          <a:p>
            <a:pPr indent="0" marL="0">
              <a:buNone/>
            </a:pPr>
            <a:r>
              <a:rPr lang="en-US" sz="1450" b="1" dirty="0">
                <a:solidFill>
                  <a:srgbClr val="1E6159"/>
                </a:solidFill>
                <a:latin typeface="Aptos" pitchFamily="34" charset="0"/>
                <a:ea typeface="Aptos" pitchFamily="34" charset="-122"/>
                <a:cs typeface="Aptos" pitchFamily="34" charset="-120"/>
              </a:rPr>
              <a:t>0,1061</a:t>
            </a:r>
            <a:endParaRPr lang="en-US" sz="1450" dirty="0"/>
          </a:p>
        </p:txBody>
      </p:sp>
      <p:sp>
        <p:nvSpPr>
          <p:cNvPr id="29" name="Text 27"/>
          <p:cNvSpPr/>
          <p:nvPr/>
        </p:nvSpPr>
        <p:spPr>
          <a:xfrm>
            <a:off x="9052560" y="4078224"/>
            <a:ext cx="1188720" cy="265176"/>
          </a:xfrm>
          <a:prstGeom prst="rect">
            <a:avLst/>
          </a:prstGeom>
          <a:noFill/>
          <a:ln/>
        </p:spPr>
        <p:txBody>
          <a:bodyPr wrap="square" lIns="0" tIns="0" rIns="0" bIns="0" rtlCol="0" anchor="ctr"/>
          <a:lstStyle/>
          <a:p>
            <a:pPr indent="0" marL="0">
              <a:buNone/>
            </a:pPr>
            <a:r>
              <a:rPr lang="en-US" sz="1450" b="1" dirty="0">
                <a:solidFill>
                  <a:srgbClr val="BD8F4C"/>
                </a:solidFill>
                <a:latin typeface="Aptos" pitchFamily="34" charset="0"/>
                <a:ea typeface="Aptos" pitchFamily="34" charset="-122"/>
                <a:cs typeface="Aptos" pitchFamily="34" charset="-120"/>
              </a:rPr>
              <a:t>0,2219</a:t>
            </a:r>
            <a:endParaRPr lang="en-US" sz="1450" dirty="0"/>
          </a:p>
        </p:txBody>
      </p:sp>
      <p:sp>
        <p:nvSpPr>
          <p:cNvPr id="30" name="Text 28"/>
          <p:cNvSpPr/>
          <p:nvPr/>
        </p:nvSpPr>
        <p:spPr>
          <a:xfrm>
            <a:off x="813816" y="4617720"/>
            <a:ext cx="1097280" cy="256032"/>
          </a:xfrm>
          <a:prstGeom prst="rect">
            <a:avLst/>
          </a:prstGeom>
          <a:noFill/>
          <a:ln/>
        </p:spPr>
        <p:txBody>
          <a:bodyPr wrap="square" lIns="0" tIns="0" rIns="0" bIns="0" rtlCol="0" anchor="ctr"/>
          <a:lstStyle/>
          <a:p>
            <a:pPr indent="0" marL="0">
              <a:buNone/>
            </a:pPr>
            <a:r>
              <a:rPr lang="en-US" sz="1600" b="1" dirty="0">
                <a:solidFill>
                  <a:srgbClr val="162B30"/>
                </a:solidFill>
                <a:latin typeface="Aptos" pitchFamily="34" charset="0"/>
                <a:ea typeface="Aptos" pitchFamily="34" charset="-122"/>
                <a:cs typeface="Aptos" pitchFamily="34" charset="-120"/>
              </a:rPr>
              <a:t>Móvel</a:t>
            </a:r>
            <a:endParaRPr lang="en-US" sz="1600" dirty="0"/>
          </a:p>
        </p:txBody>
      </p:sp>
      <p:sp>
        <p:nvSpPr>
          <p:cNvPr id="31" name="Shape 29"/>
          <p:cNvSpPr/>
          <p:nvPr/>
        </p:nvSpPr>
        <p:spPr>
          <a:xfrm>
            <a:off x="2020824" y="4526280"/>
            <a:ext cx="6812280" cy="210312"/>
          </a:xfrm>
          <a:prstGeom prst="rect">
            <a:avLst/>
          </a:prstGeom>
          <a:solidFill>
            <a:srgbClr val="EDF1F0"/>
          </a:solidFill>
          <a:ln w="12700">
            <a:solidFill>
              <a:srgbClr val="EDF1F0">
                <a:alpha val="0"/>
              </a:srgbClr>
            </a:solidFill>
            <a:prstDash val="solid"/>
          </a:ln>
        </p:spPr>
      </p:sp>
      <p:sp>
        <p:nvSpPr>
          <p:cNvPr id="32" name="Shape 30"/>
          <p:cNvSpPr/>
          <p:nvPr/>
        </p:nvSpPr>
        <p:spPr>
          <a:xfrm>
            <a:off x="2020824" y="4526280"/>
            <a:ext cx="5406680" cy="210312"/>
          </a:xfrm>
          <a:prstGeom prst="rect">
            <a:avLst/>
          </a:prstGeom>
          <a:solidFill>
            <a:srgbClr val="1E6159"/>
          </a:solidFill>
          <a:ln w="12700">
            <a:solidFill>
              <a:srgbClr val="1E6159">
                <a:alpha val="0"/>
              </a:srgbClr>
            </a:solidFill>
            <a:prstDash val="solid"/>
          </a:ln>
        </p:spPr>
      </p:sp>
      <p:sp>
        <p:nvSpPr>
          <p:cNvPr id="33" name="Shape 31"/>
          <p:cNvSpPr/>
          <p:nvPr/>
        </p:nvSpPr>
        <p:spPr>
          <a:xfrm>
            <a:off x="2020824" y="4800600"/>
            <a:ext cx="6812280" cy="201168"/>
          </a:xfrm>
          <a:prstGeom prst="rect">
            <a:avLst/>
          </a:prstGeom>
          <a:solidFill>
            <a:srgbClr val="EDF1F0"/>
          </a:solidFill>
          <a:ln w="12700">
            <a:solidFill>
              <a:srgbClr val="EDF1F0">
                <a:alpha val="0"/>
              </a:srgbClr>
            </a:solidFill>
            <a:prstDash val="solid"/>
          </a:ln>
        </p:spPr>
      </p:sp>
      <p:sp>
        <p:nvSpPr>
          <p:cNvPr id="34" name="Shape 32"/>
          <p:cNvSpPr/>
          <p:nvPr/>
        </p:nvSpPr>
        <p:spPr>
          <a:xfrm>
            <a:off x="2020824" y="4800600"/>
            <a:ext cx="5819958" cy="201168"/>
          </a:xfrm>
          <a:prstGeom prst="rect">
            <a:avLst/>
          </a:prstGeom>
          <a:solidFill>
            <a:srgbClr val="BD8F4C"/>
          </a:solidFill>
          <a:ln w="12700">
            <a:solidFill>
              <a:srgbClr val="BD8F4C">
                <a:alpha val="0"/>
              </a:srgbClr>
            </a:solidFill>
            <a:prstDash val="solid"/>
          </a:ln>
        </p:spPr>
      </p:sp>
      <p:sp>
        <p:nvSpPr>
          <p:cNvPr id="35" name="Text 33"/>
          <p:cNvSpPr/>
          <p:nvPr/>
        </p:nvSpPr>
        <p:spPr>
          <a:xfrm>
            <a:off x="9052560" y="4507992"/>
            <a:ext cx="1188720" cy="265176"/>
          </a:xfrm>
          <a:prstGeom prst="rect">
            <a:avLst/>
          </a:prstGeom>
          <a:noFill/>
          <a:ln/>
        </p:spPr>
        <p:txBody>
          <a:bodyPr wrap="square" lIns="0" tIns="0" rIns="0" bIns="0" rtlCol="0" anchor="ctr"/>
          <a:lstStyle/>
          <a:p>
            <a:pPr indent="0" marL="0">
              <a:buNone/>
            </a:pPr>
            <a:r>
              <a:rPr lang="en-US" sz="1450" b="1" dirty="0">
                <a:solidFill>
                  <a:srgbClr val="1E6159"/>
                </a:solidFill>
                <a:latin typeface="Aptos" pitchFamily="34" charset="0"/>
                <a:ea typeface="Aptos" pitchFamily="34" charset="-122"/>
                <a:cs typeface="Aptos" pitchFamily="34" charset="-120"/>
              </a:rPr>
              <a:t>0,2381</a:t>
            </a:r>
            <a:endParaRPr lang="en-US" sz="1450" dirty="0"/>
          </a:p>
        </p:txBody>
      </p:sp>
      <p:sp>
        <p:nvSpPr>
          <p:cNvPr id="36" name="Text 34"/>
          <p:cNvSpPr/>
          <p:nvPr/>
        </p:nvSpPr>
        <p:spPr>
          <a:xfrm>
            <a:off x="9052560" y="4791456"/>
            <a:ext cx="1188720" cy="265176"/>
          </a:xfrm>
          <a:prstGeom prst="rect">
            <a:avLst/>
          </a:prstGeom>
          <a:noFill/>
          <a:ln/>
        </p:spPr>
        <p:txBody>
          <a:bodyPr wrap="square" lIns="0" tIns="0" rIns="0" bIns="0" rtlCol="0" anchor="ctr"/>
          <a:lstStyle/>
          <a:p>
            <a:pPr indent="0" marL="0">
              <a:buNone/>
            </a:pPr>
            <a:r>
              <a:rPr lang="en-US" sz="1450" b="1" dirty="0">
                <a:solidFill>
                  <a:srgbClr val="BD8F4C"/>
                </a:solidFill>
                <a:latin typeface="Aptos" pitchFamily="34" charset="0"/>
                <a:ea typeface="Aptos" pitchFamily="34" charset="-122"/>
                <a:cs typeface="Aptos" pitchFamily="34" charset="-120"/>
              </a:rPr>
              <a:t>0,2563</a:t>
            </a:r>
            <a:endParaRPr lang="en-US" sz="1450" dirty="0"/>
          </a:p>
        </p:txBody>
      </p:sp>
      <p:sp>
        <p:nvSpPr>
          <p:cNvPr id="37" name="Shape 35"/>
          <p:cNvSpPr/>
          <p:nvPr/>
        </p:nvSpPr>
        <p:spPr>
          <a:xfrm>
            <a:off x="795528" y="5596128"/>
            <a:ext cx="1920240" cy="329184"/>
          </a:xfrm>
          <a:prstGeom prst="roundRect">
            <a:avLst>
              <a:gd name="adj" fmla="val 33333"/>
            </a:avLst>
          </a:prstGeom>
          <a:solidFill>
            <a:srgbClr val="E5F0EB"/>
          </a:solidFill>
          <a:ln w="12700">
            <a:solidFill>
              <a:srgbClr val="E5F0EB">
                <a:alpha val="0"/>
              </a:srgbClr>
            </a:solidFill>
            <a:prstDash val="solid"/>
          </a:ln>
        </p:spPr>
      </p:sp>
      <p:sp>
        <p:nvSpPr>
          <p:cNvPr id="38" name="Text 36"/>
          <p:cNvSpPr/>
          <p:nvPr/>
        </p:nvSpPr>
        <p:spPr>
          <a:xfrm>
            <a:off x="886968" y="5637276"/>
            <a:ext cx="1737360" cy="237744"/>
          </a:xfrm>
          <a:prstGeom prst="rect">
            <a:avLst/>
          </a:prstGeom>
          <a:noFill/>
          <a:ln/>
        </p:spPr>
        <p:txBody>
          <a:bodyPr wrap="square" lIns="0" tIns="0" rIns="0" bIns="0" rtlCol="0" anchor="ctr"/>
          <a:lstStyle/>
          <a:p>
            <a:pPr algn="ctr" indent="0" marL="0">
              <a:buNone/>
            </a:pPr>
            <a:r>
              <a:rPr lang="en-US" sz="1050" b="1" dirty="0">
                <a:solidFill>
                  <a:srgbClr val="1E6159"/>
                </a:solidFill>
                <a:latin typeface="Aptos" pitchFamily="34" charset="0"/>
                <a:ea typeface="Aptos" pitchFamily="34" charset="-122"/>
                <a:cs typeface="Aptos" pitchFamily="34" charset="-120"/>
              </a:rPr>
              <a:t>Sem ponderação</a:t>
            </a:r>
            <a:endParaRPr lang="en-US" sz="1050" dirty="0"/>
          </a:p>
        </p:txBody>
      </p:sp>
      <p:sp>
        <p:nvSpPr>
          <p:cNvPr id="39" name="Shape 37"/>
          <p:cNvSpPr/>
          <p:nvPr/>
        </p:nvSpPr>
        <p:spPr>
          <a:xfrm>
            <a:off x="2862072" y="5596128"/>
            <a:ext cx="2029968" cy="329184"/>
          </a:xfrm>
          <a:prstGeom prst="roundRect">
            <a:avLst>
              <a:gd name="adj" fmla="val 33333"/>
            </a:avLst>
          </a:prstGeom>
          <a:solidFill>
            <a:srgbClr val="F1E7D8"/>
          </a:solidFill>
          <a:ln w="12700">
            <a:solidFill>
              <a:srgbClr val="F1E7D8">
                <a:alpha val="0"/>
              </a:srgbClr>
            </a:solidFill>
            <a:prstDash val="solid"/>
          </a:ln>
        </p:spPr>
      </p:sp>
      <p:sp>
        <p:nvSpPr>
          <p:cNvPr id="40" name="Text 38"/>
          <p:cNvSpPr/>
          <p:nvPr/>
        </p:nvSpPr>
        <p:spPr>
          <a:xfrm>
            <a:off x="2953512" y="5637276"/>
            <a:ext cx="1847088" cy="237744"/>
          </a:xfrm>
          <a:prstGeom prst="rect">
            <a:avLst/>
          </a:prstGeom>
          <a:noFill/>
          <a:ln/>
        </p:spPr>
        <p:txBody>
          <a:bodyPr wrap="square" lIns="0" tIns="0" rIns="0" bIns="0" rtlCol="0" anchor="ctr"/>
          <a:lstStyle/>
          <a:p>
            <a:pPr algn="ctr" indent="0" marL="0">
              <a:buNone/>
            </a:pPr>
            <a:r>
              <a:rPr lang="en-US" sz="1050" b="1" dirty="0">
                <a:solidFill>
                  <a:srgbClr val="8A652F"/>
                </a:solidFill>
                <a:latin typeface="Aptos" pitchFamily="34" charset="0"/>
                <a:ea typeface="Aptos" pitchFamily="34" charset="-122"/>
                <a:cs typeface="Aptos" pitchFamily="34" charset="-120"/>
              </a:rPr>
              <a:t>Com ponderação</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VALIDADE DO DESFECHO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Movimentação contratual não comprova aceite de oferta</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18</a:t>
            </a:r>
            <a:endParaRPr lang="en-US" sz="1050" dirty="0"/>
          </a:p>
        </p:txBody>
      </p:sp>
      <p:sp>
        <p:nvSpPr>
          <p:cNvPr id="8" name="Shape 6"/>
          <p:cNvSpPr/>
          <p:nvPr/>
        </p:nvSpPr>
        <p:spPr>
          <a:xfrm>
            <a:off x="749808" y="1965960"/>
            <a:ext cx="5102352" cy="2468880"/>
          </a:xfrm>
          <a:prstGeom prst="roundRect">
            <a:avLst>
              <a:gd name="adj" fmla="val 4444"/>
            </a:avLst>
          </a:prstGeom>
          <a:solidFill>
            <a:srgbClr val="FFFFFF"/>
          </a:solidFill>
          <a:ln w="11430">
            <a:solidFill>
              <a:srgbClr val="D5DFDC"/>
            </a:solidFill>
            <a:prstDash val="solid"/>
          </a:ln>
        </p:spPr>
      </p:sp>
      <p:sp>
        <p:nvSpPr>
          <p:cNvPr id="9" name="Text 7"/>
          <p:cNvSpPr/>
          <p:nvPr/>
        </p:nvSpPr>
        <p:spPr>
          <a:xfrm>
            <a:off x="978408" y="2212848"/>
            <a:ext cx="448056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SINAL OBSERVADO</a:t>
            </a:r>
            <a:endParaRPr lang="en-US" sz="950" dirty="0"/>
          </a:p>
        </p:txBody>
      </p:sp>
      <p:sp>
        <p:nvSpPr>
          <p:cNvPr id="10" name="Text 8"/>
          <p:cNvSpPr/>
          <p:nvPr/>
        </p:nvSpPr>
        <p:spPr>
          <a:xfrm>
            <a:off x="969264" y="2734056"/>
            <a:ext cx="4453128" cy="603504"/>
          </a:xfrm>
          <a:prstGeom prst="rect">
            <a:avLst/>
          </a:prstGeom>
          <a:noFill/>
          <a:ln/>
        </p:spPr>
        <p:txBody>
          <a:bodyPr wrap="square" lIns="0" tIns="0" rIns="0" bIns="0" rtlCol="0" anchor="ctr"/>
          <a:lstStyle/>
          <a:p>
            <a:pPr indent="0" marL="0">
              <a:buNone/>
            </a:pPr>
            <a:r>
              <a:rPr lang="en-US" sz="3550" b="1" dirty="0">
                <a:solidFill>
                  <a:srgbClr val="1E6159"/>
                </a:solidFill>
                <a:latin typeface="Aptos" pitchFamily="34" charset="0"/>
                <a:ea typeface="Aptos" pitchFamily="34" charset="-122"/>
                <a:cs typeface="Aptos" pitchFamily="34" charset="-120"/>
              </a:rPr>
              <a:t>86.540</a:t>
            </a:r>
            <a:endParaRPr lang="en-US" sz="3550" dirty="0"/>
          </a:p>
        </p:txBody>
      </p:sp>
      <p:sp>
        <p:nvSpPr>
          <p:cNvPr id="11" name="Text 9"/>
          <p:cNvSpPr/>
          <p:nvPr/>
        </p:nvSpPr>
        <p:spPr>
          <a:xfrm>
            <a:off x="969264" y="3374136"/>
            <a:ext cx="4453128"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Retidos com alguma FLAG_MOV</a:t>
            </a:r>
            <a:endParaRPr lang="en-US" sz="1450" dirty="0"/>
          </a:p>
        </p:txBody>
      </p:sp>
      <p:sp>
        <p:nvSpPr>
          <p:cNvPr id="12" name="Shape 10"/>
          <p:cNvSpPr/>
          <p:nvPr/>
        </p:nvSpPr>
        <p:spPr>
          <a:xfrm>
            <a:off x="6117336" y="1965960"/>
            <a:ext cx="5120640" cy="2468880"/>
          </a:xfrm>
          <a:prstGeom prst="roundRect">
            <a:avLst>
              <a:gd name="adj" fmla="val 4444"/>
            </a:avLst>
          </a:prstGeom>
          <a:solidFill>
            <a:srgbClr val="FFFFFF"/>
          </a:solidFill>
          <a:ln w="11430">
            <a:solidFill>
              <a:srgbClr val="D5DFDC"/>
            </a:solidFill>
            <a:prstDash val="solid"/>
          </a:ln>
        </p:spPr>
      </p:sp>
      <p:sp>
        <p:nvSpPr>
          <p:cNvPr id="13" name="Text 11"/>
          <p:cNvSpPr/>
          <p:nvPr/>
        </p:nvSpPr>
        <p:spPr>
          <a:xfrm>
            <a:off x="6355080" y="2212848"/>
            <a:ext cx="4389120" cy="210312"/>
          </a:xfrm>
          <a:prstGeom prst="rect">
            <a:avLst/>
          </a:prstGeom>
          <a:noFill/>
          <a:ln/>
        </p:spPr>
        <p:txBody>
          <a:bodyPr wrap="square" lIns="0" tIns="0" rIns="0" bIns="0" rtlCol="0" anchor="ctr"/>
          <a:lstStyle/>
          <a:p>
            <a:pPr indent="0" marL="0">
              <a:buNone/>
            </a:pPr>
            <a:r>
              <a:rPr lang="en-US" sz="950" b="1" spc="110" kern="0" dirty="0">
                <a:solidFill>
                  <a:srgbClr val="577F99"/>
                </a:solidFill>
                <a:latin typeface="Aptos" pitchFamily="34" charset="0"/>
                <a:ea typeface="Aptos" pitchFamily="34" charset="-122"/>
                <a:cs typeface="Aptos" pitchFamily="34" charset="-120"/>
              </a:rPr>
              <a:t>PROXY CONTRATUAL</a:t>
            </a:r>
            <a:endParaRPr lang="en-US" sz="950" dirty="0"/>
          </a:p>
        </p:txBody>
      </p:sp>
      <p:sp>
        <p:nvSpPr>
          <p:cNvPr id="14" name="Text 12"/>
          <p:cNvSpPr/>
          <p:nvPr/>
        </p:nvSpPr>
        <p:spPr>
          <a:xfrm>
            <a:off x="6345936" y="2734056"/>
            <a:ext cx="4480560" cy="603504"/>
          </a:xfrm>
          <a:prstGeom prst="rect">
            <a:avLst/>
          </a:prstGeom>
          <a:noFill/>
          <a:ln/>
        </p:spPr>
        <p:txBody>
          <a:bodyPr wrap="square" lIns="0" tIns="0" rIns="0" bIns="0" rtlCol="0" anchor="ctr"/>
          <a:lstStyle/>
          <a:p>
            <a:pPr indent="0" marL="0">
              <a:buNone/>
            </a:pPr>
            <a:r>
              <a:rPr lang="en-US" sz="3550" b="1" dirty="0">
                <a:solidFill>
                  <a:srgbClr val="577F99"/>
                </a:solidFill>
                <a:latin typeface="Aptos" pitchFamily="34" charset="0"/>
                <a:ea typeface="Aptos" pitchFamily="34" charset="-122"/>
                <a:cs typeface="Aptos" pitchFamily="34" charset="-120"/>
              </a:rPr>
              <a:t>86.540</a:t>
            </a:r>
            <a:endParaRPr lang="en-US" sz="3550" dirty="0"/>
          </a:p>
        </p:txBody>
      </p:sp>
      <p:sp>
        <p:nvSpPr>
          <p:cNvPr id="15" name="Text 13"/>
          <p:cNvSpPr/>
          <p:nvPr/>
        </p:nvSpPr>
        <p:spPr>
          <a:xfrm>
            <a:off x="6345936" y="3374136"/>
            <a:ext cx="4480560" cy="594360"/>
          </a:xfrm>
          <a:prstGeom prst="rect">
            <a:avLst/>
          </a:prstGeom>
          <a:noFill/>
          <a:ln/>
        </p:spPr>
        <p:txBody>
          <a:bodyPr wrap="square" lIns="0" tIns="0" rIns="0" bIns="0" rtlCol="0" anchor="t"/>
          <a:lstStyle/>
          <a:p>
            <a:pPr indent="0" marL="0">
              <a:buNone/>
            </a:pPr>
            <a:r>
              <a:rPr lang="en-US" sz="1450" dirty="0">
                <a:solidFill>
                  <a:srgbClr val="5F7379"/>
                </a:solidFill>
                <a:latin typeface="Aptos" pitchFamily="34" charset="0"/>
                <a:ea typeface="Aptos" pitchFamily="34" charset="-122"/>
                <a:cs typeface="Aptos" pitchFamily="34" charset="-120"/>
              </a:rPr>
              <a:t>Retidos com troca não cancelada de código</a:t>
            </a:r>
            <a:endParaRPr lang="en-US" sz="1450" dirty="0"/>
          </a:p>
        </p:txBody>
      </p:sp>
      <p:sp>
        <p:nvSpPr>
          <p:cNvPr id="16" name="Shape 14"/>
          <p:cNvSpPr/>
          <p:nvPr/>
        </p:nvSpPr>
        <p:spPr>
          <a:xfrm>
            <a:off x="786384" y="4745736"/>
            <a:ext cx="10405872" cy="822960"/>
          </a:xfrm>
          <a:prstGeom prst="roundRect">
            <a:avLst>
              <a:gd name="adj" fmla="val 13333"/>
            </a:avLst>
          </a:prstGeom>
          <a:solidFill>
            <a:srgbClr val="F1E7D8"/>
          </a:solidFill>
          <a:ln w="12700">
            <a:solidFill>
              <a:srgbClr val="F1E7D8">
                <a:alpha val="0"/>
              </a:srgbClr>
            </a:solidFill>
            <a:prstDash val="solid"/>
          </a:ln>
        </p:spPr>
      </p:sp>
      <p:sp>
        <p:nvSpPr>
          <p:cNvPr id="17" name="Text 15"/>
          <p:cNvSpPr/>
          <p:nvPr/>
        </p:nvSpPr>
        <p:spPr>
          <a:xfrm>
            <a:off x="987552" y="4937760"/>
            <a:ext cx="10021824" cy="457200"/>
          </a:xfrm>
          <a:prstGeom prst="rect">
            <a:avLst/>
          </a:prstGeom>
          <a:noFill/>
          <a:ln/>
        </p:spPr>
        <p:txBody>
          <a:bodyPr wrap="square" lIns="0" tIns="0" rIns="0" bIns="0" rtlCol="0" anchor="ctr"/>
          <a:lstStyle/>
          <a:p>
            <a:pPr indent="0" marL="0">
              <a:buNone/>
            </a:pPr>
            <a:r>
              <a:rPr lang="en-US" sz="1820" b="1" dirty="0">
                <a:solidFill>
                  <a:srgbClr val="162B30"/>
                </a:solidFill>
                <a:latin typeface="Aptos" pitchFamily="34" charset="0"/>
                <a:ea typeface="Aptos" pitchFamily="34" charset="-122"/>
                <a:cs typeface="Aptos" pitchFamily="34" charset="-120"/>
              </a:rPr>
              <a:t>Os dois sinais coincidiram nesta amostra; nenhum identifica a decisão de aceitar uma oferta.</a:t>
            </a:r>
            <a:endParaRPr lang="en-US" sz="18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IMPLICAÇÕES PARA O NEGÓCIO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Quatro decisões tornam a retenção mensurável além do status</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19</a:t>
            </a:r>
            <a:endParaRPr lang="en-US" sz="1050" dirty="0"/>
          </a:p>
        </p:txBody>
      </p:sp>
      <p:sp>
        <p:nvSpPr>
          <p:cNvPr id="8" name="Shape 6"/>
          <p:cNvSpPr/>
          <p:nvPr/>
        </p:nvSpPr>
        <p:spPr>
          <a:xfrm>
            <a:off x="713232" y="1865376"/>
            <a:ext cx="5532120" cy="1627632"/>
          </a:xfrm>
          <a:prstGeom prst="roundRect">
            <a:avLst>
              <a:gd name="adj" fmla="val 6742"/>
            </a:avLst>
          </a:prstGeom>
          <a:solidFill>
            <a:srgbClr val="FFFFFF"/>
          </a:solidFill>
          <a:ln w="11430">
            <a:solidFill>
              <a:srgbClr val="D5DFDC"/>
            </a:solidFill>
            <a:prstDash val="solid"/>
          </a:ln>
        </p:spPr>
      </p:sp>
      <p:sp>
        <p:nvSpPr>
          <p:cNvPr id="9" name="Text 7"/>
          <p:cNvSpPr/>
          <p:nvPr/>
        </p:nvSpPr>
        <p:spPr>
          <a:xfrm>
            <a:off x="914400" y="2084832"/>
            <a:ext cx="640080" cy="429768"/>
          </a:xfrm>
          <a:prstGeom prst="rect">
            <a:avLst/>
          </a:prstGeom>
          <a:noFill/>
          <a:ln/>
        </p:spPr>
        <p:txBody>
          <a:bodyPr wrap="square" lIns="0" tIns="0" rIns="0" bIns="0" rtlCol="0" anchor="ctr"/>
          <a:lstStyle/>
          <a:p>
            <a:pPr indent="0" marL="0">
              <a:buNone/>
            </a:pPr>
            <a:r>
              <a:rPr lang="en-US" sz="2300" b="1" dirty="0">
                <a:solidFill>
                  <a:srgbClr val="BD8F4C"/>
                </a:solidFill>
                <a:latin typeface="Aptos" pitchFamily="34" charset="0"/>
                <a:ea typeface="Aptos" pitchFamily="34" charset="-122"/>
                <a:cs typeface="Aptos" pitchFamily="34" charset="-120"/>
              </a:rPr>
              <a:t>01</a:t>
            </a:r>
            <a:endParaRPr lang="en-US" sz="2300" dirty="0"/>
          </a:p>
        </p:txBody>
      </p:sp>
      <p:sp>
        <p:nvSpPr>
          <p:cNvPr id="10" name="Text 8"/>
          <p:cNvSpPr/>
          <p:nvPr/>
        </p:nvSpPr>
        <p:spPr>
          <a:xfrm>
            <a:off x="1673352" y="2084832"/>
            <a:ext cx="4343400" cy="210312"/>
          </a:xfrm>
          <a:prstGeom prst="rect">
            <a:avLst/>
          </a:prstGeom>
          <a:noFill/>
          <a:ln/>
        </p:spPr>
        <p:txBody>
          <a:bodyPr wrap="square" lIns="0" tIns="0" rIns="0" bIns="0" rtlCol="0" anchor="ctr"/>
          <a:lstStyle/>
          <a:p>
            <a:pPr indent="0" marL="0">
              <a:buNone/>
            </a:pPr>
            <a:r>
              <a:rPr lang="en-US" sz="1110" b="1" spc="110" kern="0" dirty="0">
                <a:solidFill>
                  <a:srgbClr val="1E6159"/>
                </a:solidFill>
                <a:latin typeface="Aptos" pitchFamily="34" charset="0"/>
                <a:ea typeface="Aptos" pitchFamily="34" charset="-122"/>
                <a:cs typeface="Aptos" pitchFamily="34" charset="-120"/>
              </a:rPr>
              <a:t>SEGMENTAR PELA CARTEIRA</a:t>
            </a:r>
            <a:endParaRPr lang="en-US" sz="1110" dirty="0"/>
          </a:p>
        </p:txBody>
      </p:sp>
      <p:sp>
        <p:nvSpPr>
          <p:cNvPr id="11" name="Text 9"/>
          <p:cNvSpPr/>
          <p:nvPr/>
        </p:nvSpPr>
        <p:spPr>
          <a:xfrm>
            <a:off x="1673352" y="2432304"/>
            <a:ext cx="4352544" cy="420624"/>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Ofertas por mix e elegibilidade em M0.</a:t>
            </a:r>
            <a:endParaRPr lang="en-US" sz="1450" dirty="0"/>
          </a:p>
        </p:txBody>
      </p:sp>
      <p:sp>
        <p:nvSpPr>
          <p:cNvPr id="12" name="Text 10"/>
          <p:cNvSpPr/>
          <p:nvPr/>
        </p:nvSpPr>
        <p:spPr>
          <a:xfrm>
            <a:off x="1673352" y="2944368"/>
            <a:ext cx="4343400" cy="347472"/>
          </a:xfrm>
          <a:prstGeom prst="rect">
            <a:avLst/>
          </a:prstGeom>
          <a:noFill/>
          <a:ln/>
        </p:spPr>
        <p:txBody>
          <a:bodyPr wrap="square" lIns="0" tIns="0" rIns="0" bIns="0" rtlCol="0" anchor="ctr"/>
          <a:lstStyle/>
          <a:p>
            <a:pPr indent="0" marL="0">
              <a:buNone/>
            </a:pPr>
            <a:r>
              <a:rPr lang="en-US" sz="1250" dirty="0">
                <a:solidFill>
                  <a:srgbClr val="5F7379"/>
                </a:solidFill>
                <a:latin typeface="Aptos" pitchFamily="34" charset="0"/>
                <a:ea typeface="Aptos" pitchFamily="34" charset="-122"/>
                <a:cs typeface="Aptos" pitchFamily="34" charset="-120"/>
              </a:rPr>
              <a:t>KPI: movimentação e retenção por estrato.</a:t>
            </a:r>
            <a:endParaRPr lang="en-US" sz="1250" dirty="0"/>
          </a:p>
        </p:txBody>
      </p:sp>
      <p:sp>
        <p:nvSpPr>
          <p:cNvPr id="13" name="Shape 11"/>
          <p:cNvSpPr/>
          <p:nvPr/>
        </p:nvSpPr>
        <p:spPr>
          <a:xfrm>
            <a:off x="6464808" y="1865376"/>
            <a:ext cx="5532120" cy="1627632"/>
          </a:xfrm>
          <a:prstGeom prst="roundRect">
            <a:avLst>
              <a:gd name="adj" fmla="val 6742"/>
            </a:avLst>
          </a:prstGeom>
          <a:solidFill>
            <a:srgbClr val="FFFFFF"/>
          </a:solidFill>
          <a:ln w="11430">
            <a:solidFill>
              <a:srgbClr val="D5DFDC"/>
            </a:solidFill>
            <a:prstDash val="solid"/>
          </a:ln>
        </p:spPr>
      </p:sp>
      <p:sp>
        <p:nvSpPr>
          <p:cNvPr id="14" name="Text 12"/>
          <p:cNvSpPr/>
          <p:nvPr/>
        </p:nvSpPr>
        <p:spPr>
          <a:xfrm>
            <a:off x="6665976" y="2084832"/>
            <a:ext cx="640080" cy="429768"/>
          </a:xfrm>
          <a:prstGeom prst="rect">
            <a:avLst/>
          </a:prstGeom>
          <a:noFill/>
          <a:ln/>
        </p:spPr>
        <p:txBody>
          <a:bodyPr wrap="square" lIns="0" tIns="0" rIns="0" bIns="0" rtlCol="0" anchor="ctr"/>
          <a:lstStyle/>
          <a:p>
            <a:pPr indent="0" marL="0">
              <a:buNone/>
            </a:pPr>
            <a:r>
              <a:rPr lang="en-US" sz="2300" b="1" dirty="0">
                <a:solidFill>
                  <a:srgbClr val="BD8F4C"/>
                </a:solidFill>
                <a:latin typeface="Aptos" pitchFamily="34" charset="0"/>
                <a:ea typeface="Aptos" pitchFamily="34" charset="-122"/>
                <a:cs typeface="Aptos" pitchFamily="34" charset="-120"/>
              </a:rPr>
              <a:t>02</a:t>
            </a:r>
            <a:endParaRPr lang="en-US" sz="2300" dirty="0"/>
          </a:p>
        </p:txBody>
      </p:sp>
      <p:sp>
        <p:nvSpPr>
          <p:cNvPr id="15" name="Text 13"/>
          <p:cNvSpPr/>
          <p:nvPr/>
        </p:nvSpPr>
        <p:spPr>
          <a:xfrm>
            <a:off x="7424928" y="2084832"/>
            <a:ext cx="4343400" cy="210312"/>
          </a:xfrm>
          <a:prstGeom prst="rect">
            <a:avLst/>
          </a:prstGeom>
          <a:noFill/>
          <a:ln/>
        </p:spPr>
        <p:txBody>
          <a:bodyPr wrap="square" lIns="0" tIns="0" rIns="0" bIns="0" rtlCol="0" anchor="ctr"/>
          <a:lstStyle/>
          <a:p>
            <a:pPr indent="0" marL="0">
              <a:buNone/>
            </a:pPr>
            <a:r>
              <a:rPr lang="en-US" sz="1110" b="1" spc="110" kern="0" dirty="0">
                <a:solidFill>
                  <a:srgbClr val="1E6159"/>
                </a:solidFill>
                <a:latin typeface="Aptos" pitchFamily="34" charset="0"/>
                <a:ea typeface="Aptos" pitchFamily="34" charset="-122"/>
                <a:cs typeface="Aptos" pitchFamily="34" charset="-120"/>
              </a:rPr>
              <a:t>PROTEGER A COMPOSIÇÃO</a:t>
            </a:r>
            <a:endParaRPr lang="en-US" sz="1110" dirty="0"/>
          </a:p>
        </p:txBody>
      </p:sp>
      <p:sp>
        <p:nvSpPr>
          <p:cNvPr id="16" name="Text 14"/>
          <p:cNvSpPr/>
          <p:nvPr/>
        </p:nvSpPr>
        <p:spPr>
          <a:xfrm>
            <a:off x="7424928" y="2432304"/>
            <a:ext cx="4352544" cy="420624"/>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Investigar remoções, trocas e redução de valor.</a:t>
            </a:r>
            <a:endParaRPr lang="en-US" sz="1450" dirty="0"/>
          </a:p>
        </p:txBody>
      </p:sp>
      <p:sp>
        <p:nvSpPr>
          <p:cNvPr id="17" name="Text 15"/>
          <p:cNvSpPr/>
          <p:nvPr/>
        </p:nvSpPr>
        <p:spPr>
          <a:xfrm>
            <a:off x="7424928" y="2944368"/>
            <a:ext cx="4343400" cy="347472"/>
          </a:xfrm>
          <a:prstGeom prst="rect">
            <a:avLst/>
          </a:prstGeom>
          <a:noFill/>
          <a:ln/>
        </p:spPr>
        <p:txBody>
          <a:bodyPr wrap="square" lIns="0" tIns="0" rIns="0" bIns="0" rtlCol="0" anchor="ctr"/>
          <a:lstStyle/>
          <a:p>
            <a:pPr indent="0" marL="0">
              <a:buNone/>
            </a:pPr>
            <a:r>
              <a:rPr lang="en-US" sz="1250" dirty="0">
                <a:solidFill>
                  <a:srgbClr val="5F7379"/>
                </a:solidFill>
                <a:latin typeface="Aptos" pitchFamily="34" charset="0"/>
                <a:ea typeface="Aptos" pitchFamily="34" charset="-122"/>
                <a:cs typeface="Aptos" pitchFamily="34" charset="-120"/>
              </a:rPr>
              <a:t>KPI: cancelamento parcial e ΔV por família.</a:t>
            </a:r>
            <a:endParaRPr lang="en-US" sz="1250" dirty="0"/>
          </a:p>
        </p:txBody>
      </p:sp>
      <p:sp>
        <p:nvSpPr>
          <p:cNvPr id="18" name="Shape 16"/>
          <p:cNvSpPr/>
          <p:nvPr/>
        </p:nvSpPr>
        <p:spPr>
          <a:xfrm>
            <a:off x="713232" y="3694176"/>
            <a:ext cx="5532120" cy="1627632"/>
          </a:xfrm>
          <a:prstGeom prst="roundRect">
            <a:avLst>
              <a:gd name="adj" fmla="val 6742"/>
            </a:avLst>
          </a:prstGeom>
          <a:solidFill>
            <a:srgbClr val="FFFFFF"/>
          </a:solidFill>
          <a:ln w="11430">
            <a:solidFill>
              <a:srgbClr val="D5DFDC"/>
            </a:solidFill>
            <a:prstDash val="solid"/>
          </a:ln>
        </p:spPr>
      </p:sp>
      <p:sp>
        <p:nvSpPr>
          <p:cNvPr id="19" name="Text 17"/>
          <p:cNvSpPr/>
          <p:nvPr/>
        </p:nvSpPr>
        <p:spPr>
          <a:xfrm>
            <a:off x="914400" y="3913632"/>
            <a:ext cx="640080" cy="429768"/>
          </a:xfrm>
          <a:prstGeom prst="rect">
            <a:avLst/>
          </a:prstGeom>
          <a:noFill/>
          <a:ln/>
        </p:spPr>
        <p:txBody>
          <a:bodyPr wrap="square" lIns="0" tIns="0" rIns="0" bIns="0" rtlCol="0" anchor="ctr"/>
          <a:lstStyle/>
          <a:p>
            <a:pPr indent="0" marL="0">
              <a:buNone/>
            </a:pPr>
            <a:r>
              <a:rPr lang="en-US" sz="2300" b="1" dirty="0">
                <a:solidFill>
                  <a:srgbClr val="BD8F4C"/>
                </a:solidFill>
                <a:latin typeface="Aptos" pitchFamily="34" charset="0"/>
                <a:ea typeface="Aptos" pitchFamily="34" charset="-122"/>
                <a:cs typeface="Aptos" pitchFamily="34" charset="-120"/>
              </a:rPr>
              <a:t>03</a:t>
            </a:r>
            <a:endParaRPr lang="en-US" sz="2300" dirty="0"/>
          </a:p>
        </p:txBody>
      </p:sp>
      <p:sp>
        <p:nvSpPr>
          <p:cNvPr id="20" name="Text 18"/>
          <p:cNvSpPr/>
          <p:nvPr/>
        </p:nvSpPr>
        <p:spPr>
          <a:xfrm>
            <a:off x="1673352" y="3913632"/>
            <a:ext cx="4343400" cy="210312"/>
          </a:xfrm>
          <a:prstGeom prst="rect">
            <a:avLst/>
          </a:prstGeom>
          <a:noFill/>
          <a:ln/>
        </p:spPr>
        <p:txBody>
          <a:bodyPr wrap="square" lIns="0" tIns="0" rIns="0" bIns="0" rtlCol="0" anchor="ctr"/>
          <a:lstStyle/>
          <a:p>
            <a:pPr indent="0" marL="0">
              <a:buNone/>
            </a:pPr>
            <a:r>
              <a:rPr lang="en-US" sz="1110" b="1" spc="110" kern="0" dirty="0">
                <a:solidFill>
                  <a:srgbClr val="1E6159"/>
                </a:solidFill>
                <a:latin typeface="Aptos" pitchFamily="34" charset="0"/>
                <a:ea typeface="Aptos" pitchFamily="34" charset="-122"/>
                <a:cs typeface="Aptos" pitchFamily="34" charset="-120"/>
              </a:rPr>
              <a:t>COMPARAR COORTES MADURAS</a:t>
            </a:r>
            <a:endParaRPr lang="en-US" sz="1110" dirty="0"/>
          </a:p>
        </p:txBody>
      </p:sp>
      <p:sp>
        <p:nvSpPr>
          <p:cNvPr id="21" name="Text 19"/>
          <p:cNvSpPr/>
          <p:nvPr/>
        </p:nvSpPr>
        <p:spPr>
          <a:xfrm>
            <a:off x="1673352" y="4261104"/>
            <a:ext cx="4352544" cy="420624"/>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Padronizar acompanhamento de casos abertos.</a:t>
            </a:r>
            <a:endParaRPr lang="en-US" sz="1450" dirty="0"/>
          </a:p>
        </p:txBody>
      </p:sp>
      <p:sp>
        <p:nvSpPr>
          <p:cNvPr id="22" name="Text 20"/>
          <p:cNvSpPr/>
          <p:nvPr/>
        </p:nvSpPr>
        <p:spPr>
          <a:xfrm>
            <a:off x="1673352" y="4773168"/>
            <a:ext cx="4343400" cy="347472"/>
          </a:xfrm>
          <a:prstGeom prst="rect">
            <a:avLst/>
          </a:prstGeom>
          <a:noFill/>
          <a:ln/>
        </p:spPr>
        <p:txBody>
          <a:bodyPr wrap="square" lIns="0" tIns="0" rIns="0" bIns="0" rtlCol="0" anchor="ctr"/>
          <a:lstStyle/>
          <a:p>
            <a:pPr indent="0" marL="0">
              <a:buNone/>
            </a:pPr>
            <a:r>
              <a:rPr lang="en-US" sz="1250" dirty="0">
                <a:solidFill>
                  <a:srgbClr val="5F7379"/>
                </a:solidFill>
                <a:latin typeface="Aptos" pitchFamily="34" charset="0"/>
                <a:ea typeface="Aptos" pitchFamily="34" charset="-122"/>
                <a:cs typeface="Aptos" pitchFamily="34" charset="-120"/>
              </a:rPr>
              <a:t>KPI: SLA e proporção de desfechos conhecidos.</a:t>
            </a:r>
            <a:endParaRPr lang="en-US" sz="1250" dirty="0"/>
          </a:p>
        </p:txBody>
      </p:sp>
      <p:sp>
        <p:nvSpPr>
          <p:cNvPr id="23" name="Shape 21"/>
          <p:cNvSpPr/>
          <p:nvPr/>
        </p:nvSpPr>
        <p:spPr>
          <a:xfrm>
            <a:off x="6464808" y="3694176"/>
            <a:ext cx="5532120" cy="1627632"/>
          </a:xfrm>
          <a:prstGeom prst="roundRect">
            <a:avLst>
              <a:gd name="adj" fmla="val 6742"/>
            </a:avLst>
          </a:prstGeom>
          <a:solidFill>
            <a:srgbClr val="FFFFFF"/>
          </a:solidFill>
          <a:ln w="11430">
            <a:solidFill>
              <a:srgbClr val="D5DFDC"/>
            </a:solidFill>
            <a:prstDash val="solid"/>
          </a:ln>
        </p:spPr>
      </p:sp>
      <p:sp>
        <p:nvSpPr>
          <p:cNvPr id="24" name="Text 22"/>
          <p:cNvSpPr/>
          <p:nvPr/>
        </p:nvSpPr>
        <p:spPr>
          <a:xfrm>
            <a:off x="6665976" y="3913632"/>
            <a:ext cx="640080" cy="429768"/>
          </a:xfrm>
          <a:prstGeom prst="rect">
            <a:avLst/>
          </a:prstGeom>
          <a:noFill/>
          <a:ln/>
        </p:spPr>
        <p:txBody>
          <a:bodyPr wrap="square" lIns="0" tIns="0" rIns="0" bIns="0" rtlCol="0" anchor="ctr"/>
          <a:lstStyle/>
          <a:p>
            <a:pPr indent="0" marL="0">
              <a:buNone/>
            </a:pPr>
            <a:r>
              <a:rPr lang="en-US" sz="2300" b="1" dirty="0">
                <a:solidFill>
                  <a:srgbClr val="BD8F4C"/>
                </a:solidFill>
                <a:latin typeface="Aptos" pitchFamily="34" charset="0"/>
                <a:ea typeface="Aptos" pitchFamily="34" charset="-122"/>
                <a:cs typeface="Aptos" pitchFamily="34" charset="-120"/>
              </a:rPr>
              <a:t>04</a:t>
            </a:r>
            <a:endParaRPr lang="en-US" sz="2300" dirty="0"/>
          </a:p>
        </p:txBody>
      </p:sp>
      <p:sp>
        <p:nvSpPr>
          <p:cNvPr id="25" name="Text 23"/>
          <p:cNvSpPr/>
          <p:nvPr/>
        </p:nvSpPr>
        <p:spPr>
          <a:xfrm>
            <a:off x="7424928" y="3913632"/>
            <a:ext cx="4343400" cy="210312"/>
          </a:xfrm>
          <a:prstGeom prst="rect">
            <a:avLst/>
          </a:prstGeom>
          <a:noFill/>
          <a:ln/>
        </p:spPr>
        <p:txBody>
          <a:bodyPr wrap="square" lIns="0" tIns="0" rIns="0" bIns="0" rtlCol="0" anchor="ctr"/>
          <a:lstStyle/>
          <a:p>
            <a:pPr indent="0" marL="0">
              <a:buNone/>
            </a:pPr>
            <a:r>
              <a:rPr lang="en-US" sz="1110" b="1" spc="110" kern="0" dirty="0">
                <a:solidFill>
                  <a:srgbClr val="1E6159"/>
                </a:solidFill>
                <a:latin typeface="Aptos" pitchFamily="34" charset="0"/>
                <a:ea typeface="Aptos" pitchFamily="34" charset="-122"/>
                <a:cs typeface="Aptos" pitchFamily="34" charset="-120"/>
              </a:rPr>
              <a:t>TESTAR OFERTAS</a:t>
            </a:r>
            <a:endParaRPr lang="en-US" sz="1110" dirty="0"/>
          </a:p>
        </p:txBody>
      </p:sp>
      <p:sp>
        <p:nvSpPr>
          <p:cNvPr id="26" name="Text 24"/>
          <p:cNvSpPr/>
          <p:nvPr/>
        </p:nvSpPr>
        <p:spPr>
          <a:xfrm>
            <a:off x="7424928" y="4261104"/>
            <a:ext cx="4352544" cy="420624"/>
          </a:xfrm>
          <a:prstGeom prst="rect">
            <a:avLst/>
          </a:prstGeom>
          <a:noFill/>
          <a:ln/>
        </p:spPr>
        <p:txBody>
          <a:bodyPr wrap="square" lIns="0" tIns="0" rIns="0" bIns="0" rtlCol="0" anchor="ctr"/>
          <a:lstStyle/>
          <a:p>
            <a:pPr indent="0" marL="0">
              <a:buNone/>
            </a:pPr>
            <a:r>
              <a:rPr lang="en-US" sz="1450" b="1" dirty="0">
                <a:solidFill>
                  <a:srgbClr val="162B30"/>
                </a:solidFill>
                <a:latin typeface="Aptos" pitchFamily="34" charset="0"/>
                <a:ea typeface="Aptos" pitchFamily="34" charset="-122"/>
                <a:cs typeface="Aptos" pitchFamily="34" charset="-120"/>
              </a:rPr>
              <a:t>Registrar proposta, aceite, custo e controle.</a:t>
            </a:r>
            <a:endParaRPr lang="en-US" sz="1450" dirty="0"/>
          </a:p>
        </p:txBody>
      </p:sp>
      <p:sp>
        <p:nvSpPr>
          <p:cNvPr id="27" name="Text 25"/>
          <p:cNvSpPr/>
          <p:nvPr/>
        </p:nvSpPr>
        <p:spPr>
          <a:xfrm>
            <a:off x="7424928" y="4773168"/>
            <a:ext cx="4343400" cy="347472"/>
          </a:xfrm>
          <a:prstGeom prst="rect">
            <a:avLst/>
          </a:prstGeom>
          <a:noFill/>
          <a:ln/>
        </p:spPr>
        <p:txBody>
          <a:bodyPr wrap="square" lIns="0" tIns="0" rIns="0" bIns="0" rtlCol="0" anchor="ctr"/>
          <a:lstStyle/>
          <a:p>
            <a:pPr indent="0" marL="0">
              <a:buNone/>
            </a:pPr>
            <a:r>
              <a:rPr lang="en-US" sz="1250" dirty="0">
                <a:solidFill>
                  <a:srgbClr val="5F7379"/>
                </a:solidFill>
                <a:latin typeface="Aptos" pitchFamily="34" charset="0"/>
                <a:ea typeface="Aptos" pitchFamily="34" charset="-122"/>
                <a:cs typeface="Aptos" pitchFamily="34" charset="-120"/>
              </a:rPr>
              <a:t>KPI: retenção posterior e valor incremental.</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3A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oundRect">
            <a:avLst>
              <a:gd name="adj" fmla="val 66667"/>
            </a:avLst>
          </a:prstGeom>
          <a:solidFill>
            <a:srgbClr val="BD8F4C"/>
          </a:solidFill>
          <a:ln w="12700">
            <a:solidFill>
              <a:srgbClr val="BD8F4C">
                <a:alpha val="0"/>
              </a:srgbClr>
            </a:solidFill>
            <a:prstDash val="solid"/>
          </a:ln>
        </p:spPr>
      </p:sp>
      <p:sp>
        <p:nvSpPr>
          <p:cNvPr id="3" name="Text 1"/>
          <p:cNvSpPr/>
          <p:nvPr/>
        </p:nvSpPr>
        <p:spPr>
          <a:xfrm>
            <a:off x="813816" y="566928"/>
            <a:ext cx="6400800" cy="210312"/>
          </a:xfrm>
          <a:prstGeom prst="rect">
            <a:avLst/>
          </a:prstGeom>
          <a:noFill/>
          <a:ln/>
        </p:spPr>
        <p:txBody>
          <a:bodyPr wrap="square" lIns="0" tIns="0" rIns="0" bIns="0" rtlCol="0" anchor="ctr"/>
          <a:lstStyle/>
          <a:p>
            <a:pPr indent="0" marL="0">
              <a:buNone/>
            </a:pPr>
            <a:r>
              <a:rPr lang="en-US" sz="1100" b="1" spc="110" kern="0" dirty="0">
                <a:solidFill>
                  <a:srgbClr val="BAD3CA"/>
                </a:solidFill>
                <a:latin typeface="Aptos" pitchFamily="34" charset="0"/>
                <a:ea typeface="Aptos" pitchFamily="34" charset="-122"/>
                <a:cs typeface="Aptos" pitchFamily="34" charset="-120"/>
              </a:rPr>
              <a:t>CONCLUSÃO</a:t>
            </a:r>
            <a:endParaRPr lang="en-US" sz="1100" dirty="0"/>
          </a:p>
        </p:txBody>
      </p:sp>
      <p:sp>
        <p:nvSpPr>
          <p:cNvPr id="4" name="Text 2"/>
          <p:cNvSpPr/>
          <p:nvPr/>
        </p:nvSpPr>
        <p:spPr>
          <a:xfrm>
            <a:off x="804672" y="1143000"/>
            <a:ext cx="10533888" cy="1417320"/>
          </a:xfrm>
          <a:prstGeom prst="rect">
            <a:avLst/>
          </a:prstGeom>
          <a:noFill/>
          <a:ln/>
        </p:spPr>
        <p:txBody>
          <a:bodyPr wrap="square" lIns="0" tIns="0" rIns="0" bIns="0" rtlCol="0" anchor="ctr"/>
          <a:lstStyle/>
          <a:p>
            <a:pPr indent="0" marL="0">
              <a:buNone/>
            </a:pPr>
            <a:r>
              <a:rPr lang="en-US" sz="3700" b="1" dirty="0">
                <a:solidFill>
                  <a:srgbClr val="FFFFFF"/>
                </a:solidFill>
                <a:latin typeface="Aptos" pitchFamily="34" charset="0"/>
                <a:ea typeface="Aptos" pitchFamily="34" charset="-122"/>
                <a:cs typeface="Aptos" pitchFamily="34" charset="-120"/>
              </a:rPr>
              <a:t>Retenção, carteira e valor</a:t>
            </a:r>
            <a:endParaRPr lang="en-US" sz="3700" dirty="0"/>
          </a:p>
          <a:p>
            <a:pPr indent="0" marL="0">
              <a:buNone/>
            </a:pPr>
            <a:r>
              <a:rPr lang="en-US" sz="3700" b="1" dirty="0">
                <a:solidFill>
                  <a:srgbClr val="FFFFFF"/>
                </a:solidFill>
                <a:latin typeface="Aptos" pitchFamily="34" charset="0"/>
                <a:ea typeface="Aptos" pitchFamily="34" charset="-122"/>
                <a:cs typeface="Aptos" pitchFamily="34" charset="-120"/>
              </a:rPr>
              <a:t>precisam ser avaliados juntos.</a:t>
            </a:r>
            <a:endParaRPr lang="en-US" sz="3700" dirty="0"/>
          </a:p>
        </p:txBody>
      </p:sp>
      <p:sp>
        <p:nvSpPr>
          <p:cNvPr id="5" name="Shape 3"/>
          <p:cNvSpPr/>
          <p:nvPr/>
        </p:nvSpPr>
        <p:spPr>
          <a:xfrm>
            <a:off x="841248" y="2889504"/>
            <a:ext cx="10314432" cy="0"/>
          </a:xfrm>
          <a:prstGeom prst="line">
            <a:avLst/>
          </a:prstGeom>
          <a:noFill/>
          <a:ln w="13970">
            <a:solidFill>
              <a:srgbClr val="6B9487"/>
            </a:solidFill>
            <a:prstDash val="solid"/>
          </a:ln>
        </p:spPr>
      </p:sp>
      <p:sp>
        <p:nvSpPr>
          <p:cNvPr id="6" name="Text 4"/>
          <p:cNvSpPr/>
          <p:nvPr/>
        </p:nvSpPr>
        <p:spPr>
          <a:xfrm>
            <a:off x="868680" y="3419856"/>
            <a:ext cx="3566160" cy="502920"/>
          </a:xfrm>
          <a:prstGeom prst="rect">
            <a:avLst/>
          </a:prstGeom>
          <a:noFill/>
          <a:ln/>
        </p:spPr>
        <p:txBody>
          <a:bodyPr wrap="square" lIns="0" tIns="0" rIns="0" bIns="0" rtlCol="0" anchor="ctr"/>
          <a:lstStyle/>
          <a:p>
            <a:pPr indent="0" marL="0">
              <a:buNone/>
            </a:pPr>
            <a:r>
              <a:rPr lang="en-US" sz="3100" b="1" dirty="0">
                <a:solidFill>
                  <a:srgbClr val="EAF1ED"/>
                </a:solidFill>
                <a:latin typeface="Aptos" pitchFamily="34" charset="0"/>
                <a:ea typeface="Aptos" pitchFamily="34" charset="-122"/>
                <a:cs typeface="Aptos" pitchFamily="34" charset="-120"/>
              </a:rPr>
              <a:t>34,7%</a:t>
            </a:r>
            <a:endParaRPr lang="en-US" sz="3100" dirty="0"/>
          </a:p>
        </p:txBody>
      </p:sp>
      <p:sp>
        <p:nvSpPr>
          <p:cNvPr id="7" name="Text 5"/>
          <p:cNvSpPr/>
          <p:nvPr/>
        </p:nvSpPr>
        <p:spPr>
          <a:xfrm>
            <a:off x="868680" y="4041648"/>
            <a:ext cx="3355848" cy="722376"/>
          </a:xfrm>
          <a:prstGeom prst="rect">
            <a:avLst/>
          </a:prstGeom>
          <a:noFill/>
          <a:ln/>
        </p:spPr>
        <p:txBody>
          <a:bodyPr wrap="square" lIns="0" tIns="0" rIns="0" bIns="0" rtlCol="0" anchor="t"/>
          <a:lstStyle/>
          <a:p>
            <a:pPr indent="0" marL="0">
              <a:buNone/>
            </a:pPr>
            <a:r>
              <a:rPr lang="en-US" sz="1500" dirty="0">
                <a:solidFill>
                  <a:srgbClr val="C7D9D2"/>
                </a:solidFill>
                <a:latin typeface="Aptos" pitchFamily="34" charset="0"/>
                <a:ea typeface="Aptos" pitchFamily="34" charset="-122"/>
                <a:cs typeface="Aptos" pitchFamily="34" charset="-120"/>
              </a:rPr>
              <a:t>dos retidos movimentaram produtos</a:t>
            </a:r>
            <a:endParaRPr lang="en-US" sz="1500" dirty="0"/>
          </a:p>
        </p:txBody>
      </p:sp>
      <p:sp>
        <p:nvSpPr>
          <p:cNvPr id="8" name="Text 6"/>
          <p:cNvSpPr/>
          <p:nvPr/>
        </p:nvSpPr>
        <p:spPr>
          <a:xfrm>
            <a:off x="4636008" y="3419856"/>
            <a:ext cx="3566160" cy="502920"/>
          </a:xfrm>
          <a:prstGeom prst="rect">
            <a:avLst/>
          </a:prstGeom>
          <a:noFill/>
          <a:ln/>
        </p:spPr>
        <p:txBody>
          <a:bodyPr wrap="square" lIns="0" tIns="0" rIns="0" bIns="0" rtlCol="0" anchor="ctr"/>
          <a:lstStyle/>
          <a:p>
            <a:pPr indent="0" marL="0">
              <a:buNone/>
            </a:pPr>
            <a:r>
              <a:rPr lang="en-US" sz="3100" b="1" dirty="0">
                <a:solidFill>
                  <a:srgbClr val="ECC58D"/>
                </a:solidFill>
                <a:latin typeface="Aptos" pitchFamily="34" charset="0"/>
                <a:ea typeface="Aptos" pitchFamily="34" charset="-122"/>
                <a:cs typeface="Aptos" pitchFamily="34" charset="-120"/>
              </a:rPr>
              <a:t>18,2%</a:t>
            </a:r>
            <a:endParaRPr lang="en-US" sz="3100" dirty="0"/>
          </a:p>
        </p:txBody>
      </p:sp>
      <p:sp>
        <p:nvSpPr>
          <p:cNvPr id="9" name="Text 7"/>
          <p:cNvSpPr/>
          <p:nvPr/>
        </p:nvSpPr>
        <p:spPr>
          <a:xfrm>
            <a:off x="4636008" y="4041648"/>
            <a:ext cx="3355848" cy="722376"/>
          </a:xfrm>
          <a:prstGeom prst="rect">
            <a:avLst/>
          </a:prstGeom>
          <a:noFill/>
          <a:ln/>
        </p:spPr>
        <p:txBody>
          <a:bodyPr wrap="square" lIns="0" tIns="0" rIns="0" bIns="0" rtlCol="0" anchor="t"/>
          <a:lstStyle/>
          <a:p>
            <a:pPr indent="0" marL="0">
              <a:buNone/>
            </a:pPr>
            <a:r>
              <a:rPr lang="en-US" sz="1500" dirty="0">
                <a:solidFill>
                  <a:srgbClr val="C7D9D2"/>
                </a:solidFill>
                <a:latin typeface="Aptos" pitchFamily="34" charset="0"/>
                <a:ea typeface="Aptos" pitchFamily="34" charset="-122"/>
                <a:cs typeface="Aptos" pitchFamily="34" charset="-120"/>
              </a:rPr>
              <a:t>dos retidos tiveram cancelamento de produto</a:t>
            </a:r>
            <a:endParaRPr lang="en-US" sz="1500" dirty="0"/>
          </a:p>
        </p:txBody>
      </p:sp>
      <p:sp>
        <p:nvSpPr>
          <p:cNvPr id="10" name="Text 8"/>
          <p:cNvSpPr/>
          <p:nvPr/>
        </p:nvSpPr>
        <p:spPr>
          <a:xfrm>
            <a:off x="8403336" y="3419856"/>
            <a:ext cx="3566160" cy="502920"/>
          </a:xfrm>
          <a:prstGeom prst="rect">
            <a:avLst/>
          </a:prstGeom>
          <a:noFill/>
          <a:ln/>
        </p:spPr>
        <p:txBody>
          <a:bodyPr wrap="square" lIns="0" tIns="0" rIns="0" bIns="0" rtlCol="0" anchor="ctr"/>
          <a:lstStyle/>
          <a:p>
            <a:pPr indent="0" marL="0">
              <a:buNone/>
            </a:pPr>
            <a:r>
              <a:rPr lang="en-US" sz="3100" b="1" dirty="0">
                <a:solidFill>
                  <a:srgbClr val="EAF1ED"/>
                </a:solidFill>
                <a:latin typeface="Aptos" pitchFamily="34" charset="0"/>
                <a:ea typeface="Aptos" pitchFamily="34" charset="-122"/>
                <a:cs typeface="Aptos" pitchFamily="34" charset="-120"/>
              </a:rPr>
              <a:t>−25,46</a:t>
            </a:r>
            <a:endParaRPr lang="en-US" sz="3100" dirty="0"/>
          </a:p>
        </p:txBody>
      </p:sp>
      <p:sp>
        <p:nvSpPr>
          <p:cNvPr id="11" name="Text 9"/>
          <p:cNvSpPr/>
          <p:nvPr/>
        </p:nvSpPr>
        <p:spPr>
          <a:xfrm>
            <a:off x="8403336" y="4041648"/>
            <a:ext cx="3355848" cy="722376"/>
          </a:xfrm>
          <a:prstGeom prst="rect">
            <a:avLst/>
          </a:prstGeom>
          <a:noFill/>
          <a:ln/>
        </p:spPr>
        <p:txBody>
          <a:bodyPr wrap="square" lIns="0" tIns="0" rIns="0" bIns="0" rtlCol="0" anchor="t"/>
          <a:lstStyle/>
          <a:p>
            <a:pPr indent="0" marL="0">
              <a:buNone/>
            </a:pPr>
            <a:r>
              <a:rPr lang="en-US" sz="1500" dirty="0">
                <a:solidFill>
                  <a:srgbClr val="C7D9D2"/>
                </a:solidFill>
                <a:latin typeface="Aptos" pitchFamily="34" charset="0"/>
                <a:ea typeface="Aptos" pitchFamily="34" charset="-122"/>
                <a:cs typeface="Aptos" pitchFamily="34" charset="-120"/>
              </a:rPr>
              <a:t>mediana do ΔV entre retidos movimentados</a:t>
            </a:r>
            <a:endParaRPr lang="en-US" sz="1500" dirty="0"/>
          </a:p>
        </p:txBody>
      </p:sp>
      <p:sp>
        <p:nvSpPr>
          <p:cNvPr id="12" name="Text 10"/>
          <p:cNvSpPr/>
          <p:nvPr/>
        </p:nvSpPr>
        <p:spPr>
          <a:xfrm>
            <a:off x="859536" y="5733288"/>
            <a:ext cx="10789920" cy="484632"/>
          </a:xfrm>
          <a:prstGeom prst="rect">
            <a:avLst/>
          </a:prstGeom>
          <a:noFill/>
          <a:ln/>
        </p:spPr>
        <p:txBody>
          <a:bodyPr wrap="square" lIns="0" tIns="0" rIns="0" bIns="0" rtlCol="0" anchor="ctr"/>
          <a:lstStyle/>
          <a:p>
            <a:pPr indent="0" marL="0">
              <a:buNone/>
            </a:pPr>
            <a:r>
              <a:rPr lang="en-US" sz="1920" b="1" dirty="0">
                <a:solidFill>
                  <a:srgbClr val="FFFFFF"/>
                </a:solidFill>
                <a:latin typeface="Aptos" pitchFamily="34" charset="0"/>
                <a:ea typeface="Aptos" pitchFamily="34" charset="-122"/>
                <a:cs typeface="Aptos" pitchFamily="34" charset="-120"/>
              </a:rPr>
              <a:t>Decisão: acompanhar o resultado contratual e econômico de cada atendimento, além do status de retenção.</a:t>
            </a:r>
            <a:endParaRPr lang="en-US" sz="19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F1F0"/>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oundRect">
            <a:avLst>
              <a:gd name="adj" fmla="val 75000"/>
            </a:avLst>
          </a:prstGeom>
          <a:solidFill>
            <a:srgbClr val="1E6159"/>
          </a:solidFill>
          <a:ln w="12700">
            <a:solidFill>
              <a:srgbClr val="1E6159">
                <a:alpha val="0"/>
              </a:srgbClr>
            </a:solidFill>
            <a:prstDash val="solid"/>
          </a:ln>
        </p:spPr>
      </p:sp>
      <p:sp>
        <p:nvSpPr>
          <p:cNvPr id="3" name="Text 1"/>
          <p:cNvSpPr/>
          <p:nvPr/>
        </p:nvSpPr>
        <p:spPr>
          <a:xfrm>
            <a:off x="832104" y="1097280"/>
            <a:ext cx="8229600" cy="210312"/>
          </a:xfrm>
          <a:prstGeom prst="rect">
            <a:avLst/>
          </a:prstGeom>
          <a:noFill/>
          <a:ln/>
        </p:spPr>
        <p:txBody>
          <a:bodyPr wrap="square" lIns="0" tIns="0" rIns="0" bIns="0" rtlCol="0" anchor="ctr"/>
          <a:lstStyle/>
          <a:p>
            <a:pPr indent="0" marL="0">
              <a:buNone/>
            </a:pPr>
            <a:r>
              <a:rPr lang="en-US" sz="1250" b="1" spc="110" kern="0" dirty="0">
                <a:solidFill>
                  <a:srgbClr val="1E6159"/>
                </a:solidFill>
                <a:latin typeface="Aptos" pitchFamily="34" charset="0"/>
                <a:ea typeface="Aptos" pitchFamily="34" charset="-122"/>
                <a:cs typeface="Aptos" pitchFamily="34" charset="-120"/>
              </a:rPr>
              <a:t>MATERIAL DE CONSULTA</a:t>
            </a:r>
            <a:endParaRPr lang="en-US" sz="1250" dirty="0"/>
          </a:p>
        </p:txBody>
      </p:sp>
      <p:sp>
        <p:nvSpPr>
          <p:cNvPr id="4" name="Text 2"/>
          <p:cNvSpPr/>
          <p:nvPr/>
        </p:nvSpPr>
        <p:spPr>
          <a:xfrm>
            <a:off x="822960" y="1920240"/>
            <a:ext cx="9601200" cy="832104"/>
          </a:xfrm>
          <a:prstGeom prst="rect">
            <a:avLst/>
          </a:prstGeom>
          <a:noFill/>
          <a:ln/>
        </p:spPr>
        <p:txBody>
          <a:bodyPr wrap="square" lIns="0" tIns="0" rIns="0" bIns="0" rtlCol="0" anchor="ctr"/>
          <a:lstStyle/>
          <a:p>
            <a:pPr indent="0" marL="0">
              <a:buNone/>
            </a:pPr>
            <a:r>
              <a:rPr lang="en-US" sz="4300" b="1" dirty="0">
                <a:solidFill>
                  <a:srgbClr val="162B30"/>
                </a:solidFill>
                <a:latin typeface="Aptos" pitchFamily="34" charset="0"/>
                <a:ea typeface="Aptos" pitchFamily="34" charset="-122"/>
                <a:cs typeface="Aptos" pitchFamily="34" charset="-120"/>
              </a:rPr>
              <a:t>Anexo técnico</a:t>
            </a:r>
            <a:endParaRPr lang="en-US" sz="4300" dirty="0"/>
          </a:p>
        </p:txBody>
      </p:sp>
      <p:sp>
        <p:nvSpPr>
          <p:cNvPr id="5" name="Text 3"/>
          <p:cNvSpPr/>
          <p:nvPr/>
        </p:nvSpPr>
        <p:spPr>
          <a:xfrm>
            <a:off x="832104" y="2962656"/>
            <a:ext cx="9646920" cy="640080"/>
          </a:xfrm>
          <a:prstGeom prst="rect">
            <a:avLst/>
          </a:prstGeom>
          <a:noFill/>
          <a:ln/>
        </p:spPr>
        <p:txBody>
          <a:bodyPr wrap="square" lIns="0" tIns="0" rIns="0" bIns="0" rtlCol="0" anchor="ctr"/>
          <a:lstStyle/>
          <a:p>
            <a:pPr indent="0" marL="0">
              <a:buNone/>
            </a:pPr>
            <a:r>
              <a:rPr lang="en-US" sz="2200" dirty="0">
                <a:solidFill>
                  <a:srgbClr val="5F7379"/>
                </a:solidFill>
                <a:latin typeface="Aptos" pitchFamily="34" charset="0"/>
                <a:ea typeface="Aptos" pitchFamily="34" charset="-122"/>
                <a:cs typeface="Aptos" pitchFamily="34" charset="-120"/>
              </a:rPr>
              <a:t>Definições, validação estatística e interpretação dos limites da fonte.</a:t>
            </a:r>
            <a:endParaRPr lang="en-US" sz="2200" dirty="0"/>
          </a:p>
        </p:txBody>
      </p:sp>
      <p:sp>
        <p:nvSpPr>
          <p:cNvPr id="6" name="Shape 4"/>
          <p:cNvSpPr/>
          <p:nvPr/>
        </p:nvSpPr>
        <p:spPr>
          <a:xfrm>
            <a:off x="850392" y="4846320"/>
            <a:ext cx="9939528" cy="0"/>
          </a:xfrm>
          <a:prstGeom prst="line">
            <a:avLst/>
          </a:prstGeom>
          <a:noFill/>
          <a:ln w="12700">
            <a:solidFill>
              <a:srgbClr val="D5DFDC"/>
            </a:solidFill>
            <a:prstDash val="solid"/>
          </a:ln>
        </p:spPr>
      </p:sp>
      <p:sp>
        <p:nvSpPr>
          <p:cNvPr id="7" name="Text 5"/>
          <p:cNvSpPr/>
          <p:nvPr/>
        </p:nvSpPr>
        <p:spPr>
          <a:xfrm>
            <a:off x="850392" y="5148072"/>
            <a:ext cx="10058400" cy="301752"/>
          </a:xfrm>
          <a:prstGeom prst="rect">
            <a:avLst/>
          </a:prstGeom>
          <a:noFill/>
          <a:ln/>
        </p:spPr>
        <p:txBody>
          <a:bodyPr wrap="square" lIns="0" tIns="0" rIns="0" bIns="0" rtlCol="0" anchor="ctr"/>
          <a:lstStyle/>
          <a:p>
            <a:pPr indent="0" marL="0">
              <a:buNone/>
            </a:pPr>
            <a:r>
              <a:rPr lang="en-US" sz="1580" dirty="0">
                <a:solidFill>
                  <a:srgbClr val="5F7379"/>
                </a:solidFill>
                <a:latin typeface="Aptos" pitchFamily="34" charset="0"/>
                <a:ea typeface="Aptos" pitchFamily="34" charset="-122"/>
                <a:cs typeface="Aptos" pitchFamily="34" charset="-120"/>
              </a:rPr>
              <a:t>Reservado ao aprofundamento metodológico e às perguntas da banca.</a:t>
            </a:r>
            <a:endParaRPr lang="en-US" sz="15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ANEXO · DEFINIÇÕES</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alvo do modelo é movimentação entre registros classificados RETIDO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22</a:t>
            </a:r>
            <a:endParaRPr lang="en-US" sz="1050" dirty="0"/>
          </a:p>
        </p:txBody>
      </p:sp>
      <p:sp>
        <p:nvSpPr>
          <p:cNvPr id="8" name="Shape 6"/>
          <p:cNvSpPr/>
          <p:nvPr/>
        </p:nvSpPr>
        <p:spPr>
          <a:xfrm>
            <a:off x="749808" y="1947672"/>
            <a:ext cx="10744200" cy="1152144"/>
          </a:xfrm>
          <a:prstGeom prst="roundRect">
            <a:avLst>
              <a:gd name="adj" fmla="val 9524"/>
            </a:avLst>
          </a:prstGeom>
          <a:solidFill>
            <a:srgbClr val="E5F0EB"/>
          </a:solidFill>
          <a:ln w="12700">
            <a:solidFill>
              <a:srgbClr val="E5F0EB">
                <a:alpha val="0"/>
              </a:srgbClr>
            </a:solidFill>
            <a:prstDash val="solid"/>
          </a:ln>
        </p:spPr>
      </p:sp>
      <p:sp>
        <p:nvSpPr>
          <p:cNvPr id="9" name="Text 7"/>
          <p:cNvSpPr/>
          <p:nvPr/>
        </p:nvSpPr>
        <p:spPr>
          <a:xfrm>
            <a:off x="978408" y="2121408"/>
            <a:ext cx="73152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PERFIL CENTRAL</a:t>
            </a:r>
            <a:endParaRPr lang="en-US" sz="950" dirty="0"/>
          </a:p>
        </p:txBody>
      </p:sp>
      <p:sp>
        <p:nvSpPr>
          <p:cNvPr id="10" name="Text 8"/>
          <p:cNvSpPr/>
          <p:nvPr/>
        </p:nvSpPr>
        <p:spPr>
          <a:xfrm>
            <a:off x="969264" y="2514600"/>
            <a:ext cx="9902952" cy="466344"/>
          </a:xfrm>
          <a:prstGeom prst="rect">
            <a:avLst/>
          </a:prstGeom>
          <a:noFill/>
          <a:ln/>
        </p:spPr>
        <p:txBody>
          <a:bodyPr wrap="square" lIns="0" tIns="0" rIns="0" bIns="0" rtlCol="0" anchor="ctr"/>
          <a:lstStyle/>
          <a:p>
            <a:pPr indent="0" marL="0">
              <a:buNone/>
            </a:pPr>
            <a:r>
              <a:rPr lang="en-US" sz="2400" b="1" dirty="0">
                <a:solidFill>
                  <a:srgbClr val="162B30"/>
                </a:solidFill>
                <a:latin typeface="Aptos" pitchFamily="34" charset="0"/>
                <a:ea typeface="Aptos" pitchFamily="34" charset="-122"/>
                <a:cs typeface="Aptos" pitchFamily="34" charset="-120"/>
              </a:rPr>
              <a:t>P(MOV = 1 | RETIDO = 1, características de M0)</a:t>
            </a:r>
            <a:endParaRPr lang="en-US" sz="2400" dirty="0"/>
          </a:p>
        </p:txBody>
      </p:sp>
      <p:sp>
        <p:nvSpPr>
          <p:cNvPr id="11" name="Shape 9"/>
          <p:cNvSpPr/>
          <p:nvPr/>
        </p:nvSpPr>
        <p:spPr>
          <a:xfrm>
            <a:off x="749808" y="3374136"/>
            <a:ext cx="10744200" cy="1042416"/>
          </a:xfrm>
          <a:prstGeom prst="roundRect">
            <a:avLst>
              <a:gd name="adj" fmla="val 10526"/>
            </a:avLst>
          </a:prstGeom>
          <a:solidFill>
            <a:srgbClr val="FFFFFF"/>
          </a:solidFill>
          <a:ln w="11430">
            <a:solidFill>
              <a:srgbClr val="D5DFDC"/>
            </a:solidFill>
            <a:prstDash val="solid"/>
          </a:ln>
        </p:spPr>
      </p:sp>
      <p:sp>
        <p:nvSpPr>
          <p:cNvPr id="12" name="Text 10"/>
          <p:cNvSpPr/>
          <p:nvPr/>
        </p:nvSpPr>
        <p:spPr>
          <a:xfrm>
            <a:off x="960120" y="3566160"/>
            <a:ext cx="7315200"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OUTRA PERGUNTA</a:t>
            </a:r>
            <a:endParaRPr lang="en-US" sz="950" dirty="0"/>
          </a:p>
        </p:txBody>
      </p:sp>
      <p:sp>
        <p:nvSpPr>
          <p:cNvPr id="13" name="Text 11"/>
          <p:cNvSpPr/>
          <p:nvPr/>
        </p:nvSpPr>
        <p:spPr>
          <a:xfrm>
            <a:off x="960120" y="3922776"/>
            <a:ext cx="10067544" cy="338328"/>
          </a:xfrm>
          <a:prstGeom prst="rect">
            <a:avLst/>
          </a:prstGeom>
          <a:noFill/>
          <a:ln/>
        </p:spPr>
        <p:txBody>
          <a:bodyPr wrap="square" lIns="0" tIns="0" rIns="0" bIns="0" rtlCol="0" anchor="ctr"/>
          <a:lstStyle/>
          <a:p>
            <a:pPr indent="0" marL="0">
              <a:buNone/>
            </a:pPr>
            <a:r>
              <a:rPr lang="en-US" sz="2050" dirty="0">
                <a:solidFill>
                  <a:srgbClr val="5F7379"/>
                </a:solidFill>
                <a:latin typeface="Aptos" pitchFamily="34" charset="0"/>
                <a:ea typeface="Aptos" pitchFamily="34" charset="-122"/>
                <a:cs typeface="Aptos" pitchFamily="34" charset="-120"/>
              </a:rPr>
              <a:t>P(RETIDO = 1 e MOV = 1 | características de M0)</a:t>
            </a:r>
            <a:endParaRPr lang="en-US" sz="2050" dirty="0"/>
          </a:p>
        </p:txBody>
      </p:sp>
      <p:sp>
        <p:nvSpPr>
          <p:cNvPr id="14" name="Text 12"/>
          <p:cNvSpPr/>
          <p:nvPr/>
        </p:nvSpPr>
        <p:spPr>
          <a:xfrm>
            <a:off x="832104" y="4809744"/>
            <a:ext cx="10378440" cy="713232"/>
          </a:xfrm>
          <a:prstGeom prst="rect">
            <a:avLst/>
          </a:prstGeom>
          <a:noFill/>
          <a:ln/>
        </p:spPr>
        <p:txBody>
          <a:bodyPr wrap="square" lIns="0" tIns="0" rIns="0" bIns="0" rtlCol="0" anchor="ctr"/>
          <a:lstStyle/>
          <a:p>
            <a:pPr indent="0" marL="0">
              <a:buNone/>
            </a:pPr>
            <a:r>
              <a:rPr lang="en-US" sz="1750" b="1" dirty="0">
                <a:solidFill>
                  <a:srgbClr val="162B30"/>
                </a:solidFill>
                <a:latin typeface="Aptos" pitchFamily="34" charset="0"/>
                <a:ea typeface="Aptos" pitchFamily="34" charset="-122"/>
                <a:cs typeface="Aptos" pitchFamily="34" charset="-120"/>
              </a:rPr>
              <a:t>A modelagem condicional caracteriza retrospectivamente retidos; o status final não é conhecido no início do atendimento.</a:t>
            </a:r>
            <a:endParaRPr lang="en-US" sz="1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ANEXO · VALIDAÇÃO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O teste temporal mede generalização dentro da janela observada</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23</a:t>
            </a:r>
            <a:endParaRPr lang="en-US" sz="1050" dirty="0"/>
          </a:p>
        </p:txBody>
      </p:sp>
      <p:sp>
        <p:nvSpPr>
          <p:cNvPr id="8" name="Shape 6"/>
          <p:cNvSpPr/>
          <p:nvPr/>
        </p:nvSpPr>
        <p:spPr>
          <a:xfrm>
            <a:off x="740664" y="1965960"/>
            <a:ext cx="3602736" cy="1993392"/>
          </a:xfrm>
          <a:prstGeom prst="roundRect">
            <a:avLst>
              <a:gd name="adj" fmla="val 5505"/>
            </a:avLst>
          </a:prstGeom>
          <a:solidFill>
            <a:srgbClr val="FFFFFF"/>
          </a:solidFill>
          <a:ln w="11430">
            <a:solidFill>
              <a:srgbClr val="D5DFDC"/>
            </a:solidFill>
            <a:prstDash val="solid"/>
          </a:ln>
        </p:spPr>
      </p:sp>
      <p:sp>
        <p:nvSpPr>
          <p:cNvPr id="9" name="Shape 7"/>
          <p:cNvSpPr/>
          <p:nvPr/>
        </p:nvSpPr>
        <p:spPr>
          <a:xfrm>
            <a:off x="740664" y="1965960"/>
            <a:ext cx="45720" cy="1993392"/>
          </a:xfrm>
          <a:prstGeom prst="roundRect">
            <a:avLst>
              <a:gd name="adj" fmla="val 240000"/>
            </a:avLst>
          </a:prstGeom>
          <a:solidFill>
            <a:srgbClr val="577F99"/>
          </a:solidFill>
          <a:ln w="12700">
            <a:solidFill>
              <a:srgbClr val="577F99">
                <a:alpha val="0"/>
              </a:srgbClr>
            </a:solidFill>
            <a:prstDash val="solid"/>
          </a:ln>
        </p:spPr>
      </p:sp>
      <p:sp>
        <p:nvSpPr>
          <p:cNvPr id="10" name="Text 8"/>
          <p:cNvSpPr/>
          <p:nvPr/>
        </p:nvSpPr>
        <p:spPr>
          <a:xfrm>
            <a:off x="978408" y="2148840"/>
            <a:ext cx="3218688"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TREINO</a:t>
            </a:r>
            <a:endParaRPr lang="en-US" sz="950" dirty="0"/>
          </a:p>
        </p:txBody>
      </p:sp>
      <p:sp>
        <p:nvSpPr>
          <p:cNvPr id="11" name="Text 9"/>
          <p:cNvSpPr/>
          <p:nvPr/>
        </p:nvSpPr>
        <p:spPr>
          <a:xfrm>
            <a:off x="978408" y="2505456"/>
            <a:ext cx="3236976" cy="548640"/>
          </a:xfrm>
          <a:prstGeom prst="rect">
            <a:avLst/>
          </a:prstGeom>
          <a:noFill/>
          <a:ln/>
        </p:spPr>
        <p:txBody>
          <a:bodyPr wrap="square" lIns="0" tIns="0" rIns="0" bIns="0" rtlCol="0" anchor="ctr"/>
          <a:lstStyle/>
          <a:p>
            <a:pPr indent="0" marL="0">
              <a:buNone/>
            </a:pPr>
            <a:r>
              <a:rPr lang="en-US" sz="3000" b="1" dirty="0">
                <a:solidFill>
                  <a:srgbClr val="577F99"/>
                </a:solidFill>
                <a:latin typeface="Aptos" pitchFamily="34" charset="0"/>
                <a:ea typeface="Aptos" pitchFamily="34" charset="-122"/>
                <a:cs typeface="Aptos" pitchFamily="34" charset="-120"/>
              </a:rPr>
              <a:t>139.385</a:t>
            </a:r>
            <a:endParaRPr lang="en-US" sz="3000" dirty="0"/>
          </a:p>
        </p:txBody>
      </p:sp>
      <p:sp>
        <p:nvSpPr>
          <p:cNvPr id="12" name="Text 10"/>
          <p:cNvSpPr/>
          <p:nvPr/>
        </p:nvSpPr>
        <p:spPr>
          <a:xfrm>
            <a:off x="978408" y="3090672"/>
            <a:ext cx="3191256"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Jun–set/2025</a:t>
            </a:r>
            <a:endParaRPr lang="en-US" sz="1250" dirty="0"/>
          </a:p>
        </p:txBody>
      </p:sp>
      <p:sp>
        <p:nvSpPr>
          <p:cNvPr id="13" name="Shape 11"/>
          <p:cNvSpPr/>
          <p:nvPr/>
        </p:nvSpPr>
        <p:spPr>
          <a:xfrm>
            <a:off x="4581144" y="1965960"/>
            <a:ext cx="3602736" cy="1993392"/>
          </a:xfrm>
          <a:prstGeom prst="roundRect">
            <a:avLst>
              <a:gd name="adj" fmla="val 5505"/>
            </a:avLst>
          </a:prstGeom>
          <a:solidFill>
            <a:srgbClr val="FFFFFF"/>
          </a:solidFill>
          <a:ln w="11430">
            <a:solidFill>
              <a:srgbClr val="D5DFDC"/>
            </a:solidFill>
            <a:prstDash val="solid"/>
          </a:ln>
        </p:spPr>
      </p:sp>
      <p:sp>
        <p:nvSpPr>
          <p:cNvPr id="14" name="Shape 12"/>
          <p:cNvSpPr/>
          <p:nvPr/>
        </p:nvSpPr>
        <p:spPr>
          <a:xfrm>
            <a:off x="4581144" y="1965960"/>
            <a:ext cx="45720" cy="1993392"/>
          </a:xfrm>
          <a:prstGeom prst="roundRect">
            <a:avLst>
              <a:gd name="adj" fmla="val 240000"/>
            </a:avLst>
          </a:prstGeom>
          <a:solidFill>
            <a:srgbClr val="BD8F4C"/>
          </a:solidFill>
          <a:ln w="12700">
            <a:solidFill>
              <a:srgbClr val="BD8F4C">
                <a:alpha val="0"/>
              </a:srgbClr>
            </a:solidFill>
            <a:prstDash val="solid"/>
          </a:ln>
        </p:spPr>
      </p:sp>
      <p:sp>
        <p:nvSpPr>
          <p:cNvPr id="15" name="Text 13"/>
          <p:cNvSpPr/>
          <p:nvPr/>
        </p:nvSpPr>
        <p:spPr>
          <a:xfrm>
            <a:off x="4818888" y="2148840"/>
            <a:ext cx="3218688"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VALIDAÇÃO</a:t>
            </a:r>
            <a:endParaRPr lang="en-US" sz="950" dirty="0"/>
          </a:p>
        </p:txBody>
      </p:sp>
      <p:sp>
        <p:nvSpPr>
          <p:cNvPr id="16" name="Text 14"/>
          <p:cNvSpPr/>
          <p:nvPr/>
        </p:nvSpPr>
        <p:spPr>
          <a:xfrm>
            <a:off x="4818888" y="2505456"/>
            <a:ext cx="3236976" cy="548640"/>
          </a:xfrm>
          <a:prstGeom prst="rect">
            <a:avLst/>
          </a:prstGeom>
          <a:noFill/>
          <a:ln/>
        </p:spPr>
        <p:txBody>
          <a:bodyPr wrap="square" lIns="0" tIns="0" rIns="0" bIns="0" rtlCol="0" anchor="ctr"/>
          <a:lstStyle/>
          <a:p>
            <a:pPr indent="0" marL="0">
              <a:buNone/>
            </a:pPr>
            <a:r>
              <a:rPr lang="en-US" sz="3000" b="1" dirty="0">
                <a:solidFill>
                  <a:srgbClr val="BD8F4C"/>
                </a:solidFill>
                <a:latin typeface="Aptos" pitchFamily="34" charset="0"/>
                <a:ea typeface="Aptos" pitchFamily="34" charset="-122"/>
                <a:cs typeface="Aptos" pitchFamily="34" charset="-120"/>
              </a:rPr>
              <a:t>34.428</a:t>
            </a:r>
            <a:endParaRPr lang="en-US" sz="3000" dirty="0"/>
          </a:p>
        </p:txBody>
      </p:sp>
      <p:sp>
        <p:nvSpPr>
          <p:cNvPr id="17" name="Text 15"/>
          <p:cNvSpPr/>
          <p:nvPr/>
        </p:nvSpPr>
        <p:spPr>
          <a:xfrm>
            <a:off x="4818888" y="3090672"/>
            <a:ext cx="3191256"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Out/2025</a:t>
            </a:r>
            <a:endParaRPr lang="en-US" sz="1250" dirty="0"/>
          </a:p>
        </p:txBody>
      </p:sp>
      <p:sp>
        <p:nvSpPr>
          <p:cNvPr id="18" name="Shape 16"/>
          <p:cNvSpPr/>
          <p:nvPr/>
        </p:nvSpPr>
        <p:spPr>
          <a:xfrm>
            <a:off x="8421624" y="1965960"/>
            <a:ext cx="3602736" cy="1993392"/>
          </a:xfrm>
          <a:prstGeom prst="roundRect">
            <a:avLst>
              <a:gd name="adj" fmla="val 5505"/>
            </a:avLst>
          </a:prstGeom>
          <a:solidFill>
            <a:srgbClr val="FFFFFF"/>
          </a:solidFill>
          <a:ln w="11430">
            <a:solidFill>
              <a:srgbClr val="D5DFDC"/>
            </a:solidFill>
            <a:prstDash val="solid"/>
          </a:ln>
        </p:spPr>
      </p:sp>
      <p:sp>
        <p:nvSpPr>
          <p:cNvPr id="19" name="Shape 17"/>
          <p:cNvSpPr/>
          <p:nvPr/>
        </p:nvSpPr>
        <p:spPr>
          <a:xfrm>
            <a:off x="8421624" y="1965960"/>
            <a:ext cx="45720" cy="1993392"/>
          </a:xfrm>
          <a:prstGeom prst="roundRect">
            <a:avLst>
              <a:gd name="adj" fmla="val 240000"/>
            </a:avLst>
          </a:prstGeom>
          <a:solidFill>
            <a:srgbClr val="1E6159"/>
          </a:solidFill>
          <a:ln w="12700">
            <a:solidFill>
              <a:srgbClr val="1E6159">
                <a:alpha val="0"/>
              </a:srgbClr>
            </a:solidFill>
            <a:prstDash val="solid"/>
          </a:ln>
        </p:spPr>
      </p:sp>
      <p:sp>
        <p:nvSpPr>
          <p:cNvPr id="20" name="Text 18"/>
          <p:cNvSpPr/>
          <p:nvPr/>
        </p:nvSpPr>
        <p:spPr>
          <a:xfrm>
            <a:off x="8659368" y="2148840"/>
            <a:ext cx="3218688" cy="210312"/>
          </a:xfrm>
          <a:prstGeom prst="rect">
            <a:avLst/>
          </a:prstGeom>
          <a:noFill/>
          <a:ln/>
        </p:spPr>
        <p:txBody>
          <a:bodyPr wrap="square" lIns="0" tIns="0" rIns="0" bIns="0" rtlCol="0" anchor="ctr"/>
          <a:lstStyle/>
          <a:p>
            <a:pPr indent="0" marL="0">
              <a:buNone/>
            </a:pPr>
            <a:r>
              <a:rPr lang="en-US" sz="950" b="1" spc="110" kern="0" dirty="0">
                <a:solidFill>
                  <a:srgbClr val="5F7379"/>
                </a:solidFill>
                <a:latin typeface="Aptos" pitchFamily="34" charset="0"/>
                <a:ea typeface="Aptos" pitchFamily="34" charset="-122"/>
                <a:cs typeface="Aptos" pitchFamily="34" charset="-120"/>
              </a:rPr>
              <a:t>TESTE</a:t>
            </a:r>
            <a:endParaRPr lang="en-US" sz="950" dirty="0"/>
          </a:p>
        </p:txBody>
      </p:sp>
      <p:sp>
        <p:nvSpPr>
          <p:cNvPr id="21" name="Text 19"/>
          <p:cNvSpPr/>
          <p:nvPr/>
        </p:nvSpPr>
        <p:spPr>
          <a:xfrm>
            <a:off x="8659368" y="2505456"/>
            <a:ext cx="3236976" cy="548640"/>
          </a:xfrm>
          <a:prstGeom prst="rect">
            <a:avLst/>
          </a:prstGeom>
          <a:noFill/>
          <a:ln/>
        </p:spPr>
        <p:txBody>
          <a:bodyPr wrap="square" lIns="0" tIns="0" rIns="0" bIns="0" rtlCol="0" anchor="ctr"/>
          <a:lstStyle/>
          <a:p>
            <a:pPr indent="0" marL="0">
              <a:buNone/>
            </a:pPr>
            <a:r>
              <a:rPr lang="en-US" sz="3000" b="1" dirty="0">
                <a:solidFill>
                  <a:srgbClr val="1E6159"/>
                </a:solidFill>
                <a:latin typeface="Aptos" pitchFamily="34" charset="0"/>
                <a:ea typeface="Aptos" pitchFamily="34" charset="-122"/>
                <a:cs typeface="Aptos" pitchFamily="34" charset="-120"/>
              </a:rPr>
              <a:t>69.447</a:t>
            </a:r>
            <a:endParaRPr lang="en-US" sz="3000" dirty="0"/>
          </a:p>
        </p:txBody>
      </p:sp>
      <p:sp>
        <p:nvSpPr>
          <p:cNvPr id="22" name="Text 20"/>
          <p:cNvSpPr/>
          <p:nvPr/>
        </p:nvSpPr>
        <p:spPr>
          <a:xfrm>
            <a:off x="8659368" y="3090672"/>
            <a:ext cx="3191256" cy="740664"/>
          </a:xfrm>
          <a:prstGeom prst="rect">
            <a:avLst/>
          </a:prstGeom>
          <a:noFill/>
          <a:ln/>
        </p:spPr>
        <p:txBody>
          <a:bodyPr wrap="square" lIns="0" tIns="0" rIns="0" bIns="0" rtlCol="0" anchor="t"/>
          <a:lstStyle/>
          <a:p>
            <a:pPr indent="0" marL="0">
              <a:buNone/>
            </a:pPr>
            <a:r>
              <a:rPr lang="en-US" sz="1250" dirty="0">
                <a:solidFill>
                  <a:srgbClr val="5F7379"/>
                </a:solidFill>
                <a:latin typeface="Aptos" pitchFamily="34" charset="0"/>
                <a:ea typeface="Aptos" pitchFamily="34" charset="-122"/>
                <a:cs typeface="Aptos" pitchFamily="34" charset="-120"/>
              </a:rPr>
              <a:t>Nov–dez/2025</a:t>
            </a:r>
            <a:endParaRPr lang="en-US" sz="1250" dirty="0"/>
          </a:p>
        </p:txBody>
      </p:sp>
      <p:sp>
        <p:nvSpPr>
          <p:cNvPr id="23" name="Shape 21"/>
          <p:cNvSpPr/>
          <p:nvPr/>
        </p:nvSpPr>
        <p:spPr>
          <a:xfrm>
            <a:off x="813816" y="4370832"/>
            <a:ext cx="10607040" cy="960120"/>
          </a:xfrm>
          <a:prstGeom prst="roundRect">
            <a:avLst>
              <a:gd name="adj" fmla="val 11429"/>
            </a:avLst>
          </a:prstGeom>
          <a:solidFill>
            <a:srgbClr val="FFFFFF"/>
          </a:solidFill>
          <a:ln w="11430">
            <a:solidFill>
              <a:srgbClr val="D5DFDC"/>
            </a:solidFill>
            <a:prstDash val="solid"/>
          </a:ln>
        </p:spPr>
      </p:sp>
      <p:sp>
        <p:nvSpPr>
          <p:cNvPr id="24" name="Text 22"/>
          <p:cNvSpPr/>
          <p:nvPr/>
        </p:nvSpPr>
        <p:spPr>
          <a:xfrm>
            <a:off x="1033272" y="4562856"/>
            <a:ext cx="10168128" cy="274320"/>
          </a:xfrm>
          <a:prstGeom prst="rect">
            <a:avLst/>
          </a:prstGeom>
          <a:noFill/>
          <a:ln/>
        </p:spPr>
        <p:txBody>
          <a:bodyPr wrap="square" lIns="0" tIns="0" rIns="0" bIns="0" rtlCol="0" anchor="ctr"/>
          <a:lstStyle/>
          <a:p>
            <a:pPr indent="0" marL="0">
              <a:buNone/>
            </a:pPr>
            <a:r>
              <a:rPr lang="en-US" sz="1810" b="1" dirty="0">
                <a:solidFill>
                  <a:srgbClr val="1E6159"/>
                </a:solidFill>
                <a:latin typeface="Aptos" pitchFamily="34" charset="0"/>
                <a:ea typeface="Aptos" pitchFamily="34" charset="-122"/>
                <a:cs typeface="Aptos" pitchFamily="34" charset="-120"/>
              </a:rPr>
              <a:t>Gradient boosting: AUC 0,650 · AP 0,487 · Brier 0,2065 · lift top 10% 1,81×</a:t>
            </a:r>
            <a:endParaRPr lang="en-US" sz="1810" dirty="0"/>
          </a:p>
        </p:txBody>
      </p:sp>
      <p:sp>
        <p:nvSpPr>
          <p:cNvPr id="25" name="Text 23"/>
          <p:cNvSpPr/>
          <p:nvPr/>
        </p:nvSpPr>
        <p:spPr>
          <a:xfrm>
            <a:off x="1033272" y="4983480"/>
            <a:ext cx="10149840" cy="210312"/>
          </a:xfrm>
          <a:prstGeom prst="rect">
            <a:avLst/>
          </a:prstGeom>
          <a:noFill/>
          <a:ln/>
        </p:spPr>
        <p:txBody>
          <a:bodyPr wrap="square" lIns="0" tIns="0" rIns="0" bIns="0" rtlCol="0" anchor="ctr"/>
          <a:lstStyle/>
          <a:p>
            <a:pPr indent="0" marL="0">
              <a:buNone/>
            </a:pPr>
            <a:r>
              <a:rPr lang="en-US" sz="1210" dirty="0">
                <a:solidFill>
                  <a:srgbClr val="5F7379"/>
                </a:solidFill>
                <a:latin typeface="Aptos" pitchFamily="34" charset="0"/>
                <a:ea typeface="Aptos" pitchFamily="34" charset="-122"/>
                <a:cs typeface="Aptos" pitchFamily="34" charset="-120"/>
              </a:rPr>
              <a:t>IDs de cliente não são compartilhados entre as três partições; há repetições dentro delas.</a:t>
            </a:r>
            <a:endParaRPr lang="en-US" sz="121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ANEXO · SENSIBILIDADE</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A ponderação preservou a prevalência natural no teste</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24</a:t>
            </a:r>
            <a:endParaRPr lang="en-US" sz="1050" dirty="0"/>
          </a:p>
        </p:txBody>
      </p:sp>
      <p:sp>
        <p:nvSpPr>
          <p:cNvPr id="8" name="Text 6"/>
          <p:cNvSpPr/>
          <p:nvPr/>
        </p:nvSpPr>
        <p:spPr>
          <a:xfrm>
            <a:off x="841248" y="1911096"/>
            <a:ext cx="2743200" cy="256032"/>
          </a:xfrm>
          <a:prstGeom prst="rect">
            <a:avLst/>
          </a:prstGeom>
          <a:noFill/>
          <a:ln/>
        </p:spPr>
        <p:txBody>
          <a:bodyPr wrap="square" lIns="0" tIns="0" rIns="0" bIns="0" rtlCol="0" anchor="ctr"/>
          <a:lstStyle/>
          <a:p>
            <a:pPr indent="0" marL="0">
              <a:buNone/>
            </a:pPr>
            <a:r>
              <a:rPr lang="en-US" sz="1400" b="1" dirty="0">
                <a:solidFill>
                  <a:srgbClr val="5F7379"/>
                </a:solidFill>
                <a:latin typeface="Aptos" pitchFamily="34" charset="0"/>
                <a:ea typeface="Aptos" pitchFamily="34" charset="-122"/>
                <a:cs typeface="Aptos" pitchFamily="34" charset="-120"/>
              </a:rPr>
              <a:t>Família</a:t>
            </a:r>
            <a:endParaRPr lang="en-US" sz="1400" dirty="0"/>
          </a:p>
        </p:txBody>
      </p:sp>
      <p:sp>
        <p:nvSpPr>
          <p:cNvPr id="9" name="Text 7"/>
          <p:cNvSpPr/>
          <p:nvPr/>
        </p:nvSpPr>
        <p:spPr>
          <a:xfrm>
            <a:off x="5486400" y="1911096"/>
            <a:ext cx="1828800" cy="256032"/>
          </a:xfrm>
          <a:prstGeom prst="rect">
            <a:avLst/>
          </a:prstGeom>
          <a:noFill/>
          <a:ln/>
        </p:spPr>
        <p:txBody>
          <a:bodyPr wrap="square" lIns="0" tIns="0" rIns="0" bIns="0" rtlCol="0" anchor="ctr"/>
          <a:lstStyle/>
          <a:p>
            <a:pPr indent="0" marL="0">
              <a:buNone/>
            </a:pPr>
            <a:r>
              <a:rPr lang="en-US" sz="1400" b="1" dirty="0">
                <a:solidFill>
                  <a:srgbClr val="1E6159"/>
                </a:solidFill>
                <a:latin typeface="Aptos" pitchFamily="34" charset="0"/>
                <a:ea typeface="Aptos" pitchFamily="34" charset="-122"/>
                <a:cs typeface="Aptos" pitchFamily="34" charset="-120"/>
              </a:rPr>
              <a:t>Sem pesos</a:t>
            </a:r>
            <a:endParaRPr lang="en-US" sz="1400" dirty="0"/>
          </a:p>
        </p:txBody>
      </p:sp>
      <p:sp>
        <p:nvSpPr>
          <p:cNvPr id="10" name="Text 8"/>
          <p:cNvSpPr/>
          <p:nvPr/>
        </p:nvSpPr>
        <p:spPr>
          <a:xfrm>
            <a:off x="8229600" y="1911096"/>
            <a:ext cx="2560320" cy="256032"/>
          </a:xfrm>
          <a:prstGeom prst="rect">
            <a:avLst/>
          </a:prstGeom>
          <a:noFill/>
          <a:ln/>
        </p:spPr>
        <p:txBody>
          <a:bodyPr wrap="square" lIns="0" tIns="0" rIns="0" bIns="0" rtlCol="0" anchor="ctr"/>
          <a:lstStyle/>
          <a:p>
            <a:pPr indent="0" marL="0">
              <a:buNone/>
            </a:pPr>
            <a:r>
              <a:rPr lang="en-US" sz="1400" b="1" dirty="0">
                <a:solidFill>
                  <a:srgbClr val="BD8F4C"/>
                </a:solidFill>
                <a:latin typeface="Aptos" pitchFamily="34" charset="0"/>
                <a:ea typeface="Aptos" pitchFamily="34" charset="-122"/>
                <a:cs typeface="Aptos" pitchFamily="34" charset="-120"/>
              </a:rPr>
              <a:t>Pesos balanceados</a:t>
            </a:r>
            <a:endParaRPr lang="en-US" sz="1400" dirty="0"/>
          </a:p>
        </p:txBody>
      </p:sp>
      <p:sp>
        <p:nvSpPr>
          <p:cNvPr id="11" name="Shape 9"/>
          <p:cNvSpPr/>
          <p:nvPr/>
        </p:nvSpPr>
        <p:spPr>
          <a:xfrm>
            <a:off x="786384" y="2313432"/>
            <a:ext cx="10671048" cy="594360"/>
          </a:xfrm>
          <a:prstGeom prst="roundRect">
            <a:avLst>
              <a:gd name="adj" fmla="val 18462"/>
            </a:avLst>
          </a:prstGeom>
          <a:solidFill>
            <a:srgbClr val="FFFFFF"/>
          </a:solidFill>
          <a:ln w="11430">
            <a:solidFill>
              <a:srgbClr val="D5DFDC"/>
            </a:solidFill>
            <a:prstDash val="solid"/>
          </a:ln>
        </p:spPr>
      </p:sp>
      <p:sp>
        <p:nvSpPr>
          <p:cNvPr id="12" name="Text 10"/>
          <p:cNvSpPr/>
          <p:nvPr/>
        </p:nvSpPr>
        <p:spPr>
          <a:xfrm>
            <a:off x="987552" y="2468880"/>
            <a:ext cx="3108960" cy="274320"/>
          </a:xfrm>
          <a:prstGeom prst="rect">
            <a:avLst/>
          </a:prstGeom>
          <a:noFill/>
          <a:ln/>
        </p:spPr>
        <p:txBody>
          <a:bodyPr wrap="square" lIns="0" tIns="0" rIns="0" bIns="0" rtlCol="0" anchor="ctr"/>
          <a:lstStyle/>
          <a:p>
            <a:pPr indent="0" marL="0">
              <a:buNone/>
            </a:pPr>
            <a:r>
              <a:rPr lang="en-US" sz="1690" b="1" dirty="0">
                <a:solidFill>
                  <a:srgbClr val="162B30"/>
                </a:solidFill>
                <a:latin typeface="Aptos" pitchFamily="34" charset="0"/>
                <a:ea typeface="Aptos" pitchFamily="34" charset="-122"/>
                <a:cs typeface="Aptos" pitchFamily="34" charset="-120"/>
              </a:rPr>
              <a:t>Internet fixa</a:t>
            </a:r>
            <a:endParaRPr lang="en-US" sz="1690" dirty="0"/>
          </a:p>
        </p:txBody>
      </p:sp>
      <p:sp>
        <p:nvSpPr>
          <p:cNvPr id="13" name="Text 11"/>
          <p:cNvSpPr/>
          <p:nvPr/>
        </p:nvSpPr>
        <p:spPr>
          <a:xfrm>
            <a:off x="5504688" y="2468880"/>
            <a:ext cx="1554480" cy="274320"/>
          </a:xfrm>
          <a:prstGeom prst="rect">
            <a:avLst/>
          </a:prstGeom>
          <a:noFill/>
          <a:ln/>
        </p:spPr>
        <p:txBody>
          <a:bodyPr wrap="square" lIns="0" tIns="0" rIns="0" bIns="0" rtlCol="0" anchor="ctr"/>
          <a:lstStyle/>
          <a:p>
            <a:pPr indent="0" marL="0">
              <a:buNone/>
            </a:pPr>
            <a:r>
              <a:rPr lang="en-US" sz="1700" b="1" dirty="0">
                <a:solidFill>
                  <a:srgbClr val="1E6159"/>
                </a:solidFill>
                <a:latin typeface="Aptos" pitchFamily="34" charset="0"/>
                <a:ea typeface="Aptos" pitchFamily="34" charset="-122"/>
                <a:cs typeface="Aptos" pitchFamily="34" charset="-120"/>
              </a:rPr>
              <a:t>0,1987</a:t>
            </a:r>
            <a:endParaRPr lang="en-US" sz="1700" dirty="0"/>
          </a:p>
        </p:txBody>
      </p:sp>
      <p:sp>
        <p:nvSpPr>
          <p:cNvPr id="14" name="Text 12"/>
          <p:cNvSpPr/>
          <p:nvPr/>
        </p:nvSpPr>
        <p:spPr>
          <a:xfrm>
            <a:off x="8247888" y="2468880"/>
            <a:ext cx="1600200" cy="274320"/>
          </a:xfrm>
          <a:prstGeom prst="rect">
            <a:avLst/>
          </a:prstGeom>
          <a:noFill/>
          <a:ln/>
        </p:spPr>
        <p:txBody>
          <a:bodyPr wrap="square" lIns="0" tIns="0" rIns="0" bIns="0" rtlCol="0" anchor="ctr"/>
          <a:lstStyle/>
          <a:p>
            <a:pPr indent="0" marL="0">
              <a:buNone/>
            </a:pPr>
            <a:r>
              <a:rPr lang="en-US" sz="1700" b="1" dirty="0">
                <a:solidFill>
                  <a:srgbClr val="BD8F4C"/>
                </a:solidFill>
                <a:latin typeface="Aptos" pitchFamily="34" charset="0"/>
                <a:ea typeface="Aptos" pitchFamily="34" charset="-122"/>
                <a:cs typeface="Aptos" pitchFamily="34" charset="-120"/>
              </a:rPr>
              <a:t>0,2332</a:t>
            </a:r>
            <a:endParaRPr lang="en-US" sz="1700" dirty="0"/>
          </a:p>
        </p:txBody>
      </p:sp>
      <p:sp>
        <p:nvSpPr>
          <p:cNvPr id="15" name="Shape 13"/>
          <p:cNvSpPr/>
          <p:nvPr/>
        </p:nvSpPr>
        <p:spPr>
          <a:xfrm>
            <a:off x="786384" y="3017520"/>
            <a:ext cx="10671048" cy="594360"/>
          </a:xfrm>
          <a:prstGeom prst="roundRect">
            <a:avLst>
              <a:gd name="adj" fmla="val 18462"/>
            </a:avLst>
          </a:prstGeom>
          <a:solidFill>
            <a:srgbClr val="FFFFFF"/>
          </a:solidFill>
          <a:ln w="11430">
            <a:solidFill>
              <a:srgbClr val="D5DFDC"/>
            </a:solidFill>
            <a:prstDash val="solid"/>
          </a:ln>
        </p:spPr>
      </p:sp>
      <p:sp>
        <p:nvSpPr>
          <p:cNvPr id="16" name="Text 14"/>
          <p:cNvSpPr/>
          <p:nvPr/>
        </p:nvSpPr>
        <p:spPr>
          <a:xfrm>
            <a:off x="987552" y="3172968"/>
            <a:ext cx="3108960" cy="274320"/>
          </a:xfrm>
          <a:prstGeom prst="rect">
            <a:avLst/>
          </a:prstGeom>
          <a:noFill/>
          <a:ln/>
        </p:spPr>
        <p:txBody>
          <a:bodyPr wrap="square" lIns="0" tIns="0" rIns="0" bIns="0" rtlCol="0" anchor="ctr"/>
          <a:lstStyle/>
          <a:p>
            <a:pPr indent="0" marL="0">
              <a:buNone/>
            </a:pPr>
            <a:r>
              <a:rPr lang="en-US" sz="1690" b="1" dirty="0">
                <a:solidFill>
                  <a:srgbClr val="162B30"/>
                </a:solidFill>
                <a:latin typeface="Aptos" pitchFamily="34" charset="0"/>
                <a:ea typeface="Aptos" pitchFamily="34" charset="-122"/>
                <a:cs typeface="Aptos" pitchFamily="34" charset="-120"/>
              </a:rPr>
              <a:t>TV</a:t>
            </a:r>
            <a:endParaRPr lang="en-US" sz="1690" dirty="0"/>
          </a:p>
        </p:txBody>
      </p:sp>
      <p:sp>
        <p:nvSpPr>
          <p:cNvPr id="17" name="Text 15"/>
          <p:cNvSpPr/>
          <p:nvPr/>
        </p:nvSpPr>
        <p:spPr>
          <a:xfrm>
            <a:off x="5504688" y="3172968"/>
            <a:ext cx="1554480" cy="274320"/>
          </a:xfrm>
          <a:prstGeom prst="rect">
            <a:avLst/>
          </a:prstGeom>
          <a:noFill/>
          <a:ln/>
        </p:spPr>
        <p:txBody>
          <a:bodyPr wrap="square" lIns="0" tIns="0" rIns="0" bIns="0" rtlCol="0" anchor="ctr"/>
          <a:lstStyle/>
          <a:p>
            <a:pPr indent="0" marL="0">
              <a:buNone/>
            </a:pPr>
            <a:r>
              <a:rPr lang="en-US" sz="1700" b="1" dirty="0">
                <a:solidFill>
                  <a:srgbClr val="1E6159"/>
                </a:solidFill>
                <a:latin typeface="Aptos" pitchFamily="34" charset="0"/>
                <a:ea typeface="Aptos" pitchFamily="34" charset="-122"/>
                <a:cs typeface="Aptos" pitchFamily="34" charset="-120"/>
              </a:rPr>
              <a:t>0,1420</a:t>
            </a:r>
            <a:endParaRPr lang="en-US" sz="1700" dirty="0"/>
          </a:p>
        </p:txBody>
      </p:sp>
      <p:sp>
        <p:nvSpPr>
          <p:cNvPr id="18" name="Text 16"/>
          <p:cNvSpPr/>
          <p:nvPr/>
        </p:nvSpPr>
        <p:spPr>
          <a:xfrm>
            <a:off x="8247888" y="3172968"/>
            <a:ext cx="1600200" cy="274320"/>
          </a:xfrm>
          <a:prstGeom prst="rect">
            <a:avLst/>
          </a:prstGeom>
          <a:noFill/>
          <a:ln/>
        </p:spPr>
        <p:txBody>
          <a:bodyPr wrap="square" lIns="0" tIns="0" rIns="0" bIns="0" rtlCol="0" anchor="ctr"/>
          <a:lstStyle/>
          <a:p>
            <a:pPr indent="0" marL="0">
              <a:buNone/>
            </a:pPr>
            <a:r>
              <a:rPr lang="en-US" sz="1700" b="1" dirty="0">
                <a:solidFill>
                  <a:srgbClr val="BD8F4C"/>
                </a:solidFill>
                <a:latin typeface="Aptos" pitchFamily="34" charset="0"/>
                <a:ea typeface="Aptos" pitchFamily="34" charset="-122"/>
                <a:cs typeface="Aptos" pitchFamily="34" charset="-120"/>
              </a:rPr>
              <a:t>0,2404</a:t>
            </a:r>
            <a:endParaRPr lang="en-US" sz="1700" dirty="0"/>
          </a:p>
        </p:txBody>
      </p:sp>
      <p:sp>
        <p:nvSpPr>
          <p:cNvPr id="19" name="Shape 17"/>
          <p:cNvSpPr/>
          <p:nvPr/>
        </p:nvSpPr>
        <p:spPr>
          <a:xfrm>
            <a:off x="786384" y="3721608"/>
            <a:ext cx="10671048" cy="594360"/>
          </a:xfrm>
          <a:prstGeom prst="roundRect">
            <a:avLst>
              <a:gd name="adj" fmla="val 18462"/>
            </a:avLst>
          </a:prstGeom>
          <a:solidFill>
            <a:srgbClr val="FFFFFF"/>
          </a:solidFill>
          <a:ln w="11430">
            <a:solidFill>
              <a:srgbClr val="D5DFDC"/>
            </a:solidFill>
            <a:prstDash val="solid"/>
          </a:ln>
        </p:spPr>
      </p:sp>
      <p:sp>
        <p:nvSpPr>
          <p:cNvPr id="20" name="Text 18"/>
          <p:cNvSpPr/>
          <p:nvPr/>
        </p:nvSpPr>
        <p:spPr>
          <a:xfrm>
            <a:off x="987552" y="3877056"/>
            <a:ext cx="3108960" cy="274320"/>
          </a:xfrm>
          <a:prstGeom prst="rect">
            <a:avLst/>
          </a:prstGeom>
          <a:noFill/>
          <a:ln/>
        </p:spPr>
        <p:txBody>
          <a:bodyPr wrap="square" lIns="0" tIns="0" rIns="0" bIns="0" rtlCol="0" anchor="ctr"/>
          <a:lstStyle/>
          <a:p>
            <a:pPr indent="0" marL="0">
              <a:buNone/>
            </a:pPr>
            <a:r>
              <a:rPr lang="en-US" sz="1690" b="1" dirty="0">
                <a:solidFill>
                  <a:srgbClr val="162B30"/>
                </a:solidFill>
                <a:latin typeface="Aptos" pitchFamily="34" charset="0"/>
                <a:ea typeface="Aptos" pitchFamily="34" charset="-122"/>
                <a:cs typeface="Aptos" pitchFamily="34" charset="-120"/>
              </a:rPr>
              <a:t>Fone</a:t>
            </a:r>
            <a:endParaRPr lang="en-US" sz="1690" dirty="0"/>
          </a:p>
        </p:txBody>
      </p:sp>
      <p:sp>
        <p:nvSpPr>
          <p:cNvPr id="21" name="Text 19"/>
          <p:cNvSpPr/>
          <p:nvPr/>
        </p:nvSpPr>
        <p:spPr>
          <a:xfrm>
            <a:off x="5504688" y="3877056"/>
            <a:ext cx="1554480" cy="274320"/>
          </a:xfrm>
          <a:prstGeom prst="rect">
            <a:avLst/>
          </a:prstGeom>
          <a:noFill/>
          <a:ln/>
        </p:spPr>
        <p:txBody>
          <a:bodyPr wrap="square" lIns="0" tIns="0" rIns="0" bIns="0" rtlCol="0" anchor="ctr"/>
          <a:lstStyle/>
          <a:p>
            <a:pPr indent="0" marL="0">
              <a:buNone/>
            </a:pPr>
            <a:r>
              <a:rPr lang="en-US" sz="1700" b="1" dirty="0">
                <a:solidFill>
                  <a:srgbClr val="1E6159"/>
                </a:solidFill>
                <a:latin typeface="Aptos" pitchFamily="34" charset="0"/>
                <a:ea typeface="Aptos" pitchFamily="34" charset="-122"/>
                <a:cs typeface="Aptos" pitchFamily="34" charset="-120"/>
              </a:rPr>
              <a:t>0,1061</a:t>
            </a:r>
            <a:endParaRPr lang="en-US" sz="1700" dirty="0"/>
          </a:p>
        </p:txBody>
      </p:sp>
      <p:sp>
        <p:nvSpPr>
          <p:cNvPr id="22" name="Text 20"/>
          <p:cNvSpPr/>
          <p:nvPr/>
        </p:nvSpPr>
        <p:spPr>
          <a:xfrm>
            <a:off x="8247888" y="3877056"/>
            <a:ext cx="1600200" cy="274320"/>
          </a:xfrm>
          <a:prstGeom prst="rect">
            <a:avLst/>
          </a:prstGeom>
          <a:noFill/>
          <a:ln/>
        </p:spPr>
        <p:txBody>
          <a:bodyPr wrap="square" lIns="0" tIns="0" rIns="0" bIns="0" rtlCol="0" anchor="ctr"/>
          <a:lstStyle/>
          <a:p>
            <a:pPr indent="0" marL="0">
              <a:buNone/>
            </a:pPr>
            <a:r>
              <a:rPr lang="en-US" sz="1700" b="1" dirty="0">
                <a:solidFill>
                  <a:srgbClr val="BD8F4C"/>
                </a:solidFill>
                <a:latin typeface="Aptos" pitchFamily="34" charset="0"/>
                <a:ea typeface="Aptos" pitchFamily="34" charset="-122"/>
                <a:cs typeface="Aptos" pitchFamily="34" charset="-120"/>
              </a:rPr>
              <a:t>0,2219</a:t>
            </a:r>
            <a:endParaRPr lang="en-US" sz="1700" dirty="0"/>
          </a:p>
        </p:txBody>
      </p:sp>
      <p:sp>
        <p:nvSpPr>
          <p:cNvPr id="23" name="Shape 21"/>
          <p:cNvSpPr/>
          <p:nvPr/>
        </p:nvSpPr>
        <p:spPr>
          <a:xfrm>
            <a:off x="786384" y="4425696"/>
            <a:ext cx="10671048" cy="594360"/>
          </a:xfrm>
          <a:prstGeom prst="roundRect">
            <a:avLst>
              <a:gd name="adj" fmla="val 18462"/>
            </a:avLst>
          </a:prstGeom>
          <a:solidFill>
            <a:srgbClr val="FFFFFF"/>
          </a:solidFill>
          <a:ln w="11430">
            <a:solidFill>
              <a:srgbClr val="D5DFDC"/>
            </a:solidFill>
            <a:prstDash val="solid"/>
          </a:ln>
        </p:spPr>
      </p:sp>
      <p:sp>
        <p:nvSpPr>
          <p:cNvPr id="24" name="Text 22"/>
          <p:cNvSpPr/>
          <p:nvPr/>
        </p:nvSpPr>
        <p:spPr>
          <a:xfrm>
            <a:off x="987552" y="4581144"/>
            <a:ext cx="3108960" cy="274320"/>
          </a:xfrm>
          <a:prstGeom prst="rect">
            <a:avLst/>
          </a:prstGeom>
          <a:noFill/>
          <a:ln/>
        </p:spPr>
        <p:txBody>
          <a:bodyPr wrap="square" lIns="0" tIns="0" rIns="0" bIns="0" rtlCol="0" anchor="ctr"/>
          <a:lstStyle/>
          <a:p>
            <a:pPr indent="0" marL="0">
              <a:buNone/>
            </a:pPr>
            <a:r>
              <a:rPr lang="en-US" sz="1690" b="1" dirty="0">
                <a:solidFill>
                  <a:srgbClr val="162B30"/>
                </a:solidFill>
                <a:latin typeface="Aptos" pitchFamily="34" charset="0"/>
                <a:ea typeface="Aptos" pitchFamily="34" charset="-122"/>
                <a:cs typeface="Aptos" pitchFamily="34" charset="-120"/>
              </a:rPr>
              <a:t>Móvel</a:t>
            </a:r>
            <a:endParaRPr lang="en-US" sz="1690" dirty="0"/>
          </a:p>
        </p:txBody>
      </p:sp>
      <p:sp>
        <p:nvSpPr>
          <p:cNvPr id="25" name="Text 23"/>
          <p:cNvSpPr/>
          <p:nvPr/>
        </p:nvSpPr>
        <p:spPr>
          <a:xfrm>
            <a:off x="5504688" y="4581144"/>
            <a:ext cx="1554480" cy="274320"/>
          </a:xfrm>
          <a:prstGeom prst="rect">
            <a:avLst/>
          </a:prstGeom>
          <a:noFill/>
          <a:ln/>
        </p:spPr>
        <p:txBody>
          <a:bodyPr wrap="square" lIns="0" tIns="0" rIns="0" bIns="0" rtlCol="0" anchor="ctr"/>
          <a:lstStyle/>
          <a:p>
            <a:pPr indent="0" marL="0">
              <a:buNone/>
            </a:pPr>
            <a:r>
              <a:rPr lang="en-US" sz="1700" b="1" dirty="0">
                <a:solidFill>
                  <a:srgbClr val="1E6159"/>
                </a:solidFill>
                <a:latin typeface="Aptos" pitchFamily="34" charset="0"/>
                <a:ea typeface="Aptos" pitchFamily="34" charset="-122"/>
                <a:cs typeface="Aptos" pitchFamily="34" charset="-120"/>
              </a:rPr>
              <a:t>0,2381</a:t>
            </a:r>
            <a:endParaRPr lang="en-US" sz="1700" dirty="0"/>
          </a:p>
        </p:txBody>
      </p:sp>
      <p:sp>
        <p:nvSpPr>
          <p:cNvPr id="26" name="Text 24"/>
          <p:cNvSpPr/>
          <p:nvPr/>
        </p:nvSpPr>
        <p:spPr>
          <a:xfrm>
            <a:off x="8247888" y="4581144"/>
            <a:ext cx="1600200" cy="274320"/>
          </a:xfrm>
          <a:prstGeom prst="rect">
            <a:avLst/>
          </a:prstGeom>
          <a:noFill/>
          <a:ln/>
        </p:spPr>
        <p:txBody>
          <a:bodyPr wrap="square" lIns="0" tIns="0" rIns="0" bIns="0" rtlCol="0" anchor="ctr"/>
          <a:lstStyle/>
          <a:p>
            <a:pPr indent="0" marL="0">
              <a:buNone/>
            </a:pPr>
            <a:r>
              <a:rPr lang="en-US" sz="1700" b="1" dirty="0">
                <a:solidFill>
                  <a:srgbClr val="BD8F4C"/>
                </a:solidFill>
                <a:latin typeface="Aptos" pitchFamily="34" charset="0"/>
                <a:ea typeface="Aptos" pitchFamily="34" charset="-122"/>
                <a:cs typeface="Aptos" pitchFamily="34" charset="-120"/>
              </a:rPr>
              <a:t>0,2563</a:t>
            </a:r>
            <a:endParaRPr lang="en-US" sz="1700" dirty="0"/>
          </a:p>
        </p:txBody>
      </p:sp>
      <p:sp>
        <p:nvSpPr>
          <p:cNvPr id="27" name="Shape 25"/>
          <p:cNvSpPr/>
          <p:nvPr/>
        </p:nvSpPr>
        <p:spPr>
          <a:xfrm>
            <a:off x="722376" y="5660136"/>
            <a:ext cx="10808208" cy="438912"/>
          </a:xfrm>
          <a:prstGeom prst="roundRect">
            <a:avLst>
              <a:gd name="adj" fmla="val 25000"/>
            </a:avLst>
          </a:prstGeom>
          <a:solidFill>
            <a:srgbClr val="E5F0EB"/>
          </a:solidFill>
          <a:ln w="12700">
            <a:solidFill>
              <a:srgbClr val="E5F0EB">
                <a:alpha val="0"/>
              </a:srgbClr>
            </a:solidFill>
            <a:prstDash val="solid"/>
          </a:ln>
        </p:spPr>
      </p:sp>
      <p:sp>
        <p:nvSpPr>
          <p:cNvPr id="28" name="Text 26"/>
          <p:cNvSpPr/>
          <p:nvPr/>
        </p:nvSpPr>
        <p:spPr>
          <a:xfrm>
            <a:off x="877824" y="5724144"/>
            <a:ext cx="10497312" cy="146304"/>
          </a:xfrm>
          <a:prstGeom prst="rect">
            <a:avLst/>
          </a:prstGeom>
          <a:noFill/>
          <a:ln/>
        </p:spPr>
        <p:txBody>
          <a:bodyPr wrap="square" lIns="0" tIns="0" rIns="0" bIns="0" rtlCol="0" anchor="ctr"/>
          <a:lstStyle/>
          <a:p>
            <a:pPr indent="0" marL="0">
              <a:buNone/>
            </a:pPr>
            <a:r>
              <a:rPr lang="en-US" sz="1170" b="1" dirty="0">
                <a:solidFill>
                  <a:srgbClr val="1E6159"/>
                </a:solidFill>
                <a:latin typeface="Aptos" pitchFamily="34" charset="0"/>
                <a:ea typeface="Aptos" pitchFamily="34" charset="-122"/>
                <a:cs typeface="Aptos" pitchFamily="34" charset="-120"/>
              </a:rPr>
              <a:t>Brier menor é melhor; a ponderação piorou os quatro resultados neste experimento.</a:t>
            </a:r>
            <a:endParaRPr lang="en-US" sz="1170" dirty="0"/>
          </a:p>
        </p:txBody>
      </p:sp>
      <p:sp>
        <p:nvSpPr>
          <p:cNvPr id="29" name="Text 27"/>
          <p:cNvSpPr/>
          <p:nvPr/>
        </p:nvSpPr>
        <p:spPr>
          <a:xfrm>
            <a:off x="877824" y="5875020"/>
            <a:ext cx="10497312" cy="146304"/>
          </a:xfrm>
          <a:prstGeom prst="rect">
            <a:avLst/>
          </a:prstGeom>
          <a:noFill/>
          <a:ln/>
        </p:spPr>
        <p:txBody>
          <a:bodyPr wrap="square" lIns="0" tIns="0" rIns="0" bIns="0" rtlCol="0" anchor="ctr"/>
          <a:lstStyle/>
          <a:p>
            <a:pPr indent="0" marL="0">
              <a:buNone/>
            </a:pPr>
            <a:r>
              <a:rPr lang="en-US" sz="950" dirty="0">
                <a:solidFill>
                  <a:srgbClr val="5F7379"/>
                </a:solidFill>
                <a:latin typeface="Aptos" pitchFamily="34" charset="0"/>
                <a:ea typeface="Aptos" pitchFamily="34" charset="-122"/>
                <a:cs typeface="Aptos" pitchFamily="34" charset="-120"/>
              </a:rPr>
              <a:t>O modelo por família considerou apenas quem possuía o produto em M0, com teste temporal preservado.</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5"/>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oundRect">
            <a:avLst>
              <a:gd name="adj" fmla="val 70588"/>
            </a:avLst>
          </a:prstGeom>
          <a:solidFill>
            <a:srgbClr val="1E6159"/>
          </a:solidFill>
          <a:ln w="12700">
            <a:solidFill>
              <a:srgbClr val="1E6159">
                <a:alpha val="0"/>
              </a:srgbClr>
            </a:solidFill>
            <a:prstDash val="solid"/>
          </a:ln>
        </p:spPr>
      </p:sp>
      <p:sp>
        <p:nvSpPr>
          <p:cNvPr id="3" name="Text 1"/>
          <p:cNvSpPr/>
          <p:nvPr/>
        </p:nvSpPr>
        <p:spPr>
          <a:xfrm>
            <a:off x="548640" y="256032"/>
            <a:ext cx="9144000"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ANEXO · IDENTIFICAÇÃO E DECISÃO</a:t>
            </a:r>
            <a:endParaRPr lang="en-US" sz="950" dirty="0"/>
          </a:p>
        </p:txBody>
      </p:sp>
      <p:sp>
        <p:nvSpPr>
          <p:cNvPr id="4" name="Text 2"/>
          <p:cNvSpPr/>
          <p:nvPr/>
        </p:nvSpPr>
        <p:spPr>
          <a:xfrm>
            <a:off x="548640" y="612648"/>
            <a:ext cx="11018520" cy="932688"/>
          </a:xfrm>
          <a:prstGeom prst="rect">
            <a:avLst/>
          </a:prstGeom>
          <a:noFill/>
          <a:ln/>
        </p:spPr>
        <p:txBody>
          <a:bodyPr wrap="square" lIns="0" tIns="0" rIns="0" bIns="0" rtlCol="0" anchor="ctr"/>
          <a:lstStyle/>
          <a:p>
            <a:pPr indent="0" marL="0">
              <a:buNone/>
            </a:pPr>
            <a:r>
              <a:rPr lang="en-US" sz="2940" b="1" dirty="0">
                <a:solidFill>
                  <a:srgbClr val="162B30"/>
                </a:solidFill>
                <a:latin typeface="Aptos" pitchFamily="34" charset="0"/>
                <a:ea typeface="Aptos" pitchFamily="34" charset="-122"/>
                <a:cs typeface="Aptos" pitchFamily="34" charset="-120"/>
              </a:rPr>
              <a:t>Efeito causal e lucro exigem observações além da movimentação</a:t>
            </a:r>
            <a:endParaRPr lang="en-US" sz="2940" dirty="0"/>
          </a:p>
        </p:txBody>
      </p:sp>
      <p:sp>
        <p:nvSpPr>
          <p:cNvPr id="5" name="Shape 3"/>
          <p:cNvSpPr/>
          <p:nvPr/>
        </p:nvSpPr>
        <p:spPr>
          <a:xfrm>
            <a:off x="548640" y="1609344"/>
            <a:ext cx="11064240" cy="0"/>
          </a:xfrm>
          <a:prstGeom prst="line">
            <a:avLst/>
          </a:prstGeom>
          <a:noFill/>
          <a:ln w="10160">
            <a:solidFill>
              <a:srgbClr val="D5DFDC"/>
            </a:solidFill>
            <a:prstDash val="solid"/>
          </a:ln>
        </p:spPr>
      </p:sp>
      <p:sp>
        <p:nvSpPr>
          <p:cNvPr id="6" name="Text 4"/>
          <p:cNvSpPr/>
          <p:nvPr/>
        </p:nvSpPr>
        <p:spPr>
          <a:xfrm>
            <a:off x="548640" y="6501384"/>
            <a:ext cx="10561320" cy="173736"/>
          </a:xfrm>
          <a:prstGeom prst="rect">
            <a:avLst/>
          </a:prstGeom>
          <a:noFill/>
          <a:ln/>
        </p:spPr>
        <p:txBody>
          <a:bodyPr wrap="square" lIns="0" tIns="0" rIns="0" bIns="0" rtlCol="0" anchor="ctr"/>
          <a:lstStyle/>
          <a:p>
            <a:pPr indent="0" marL="0">
              <a:buNone/>
            </a:pPr>
            <a:r>
              <a:rPr lang="en-US" sz="900" dirty="0">
                <a:solidFill>
                  <a:srgbClr val="5F7379"/>
                </a:solidFill>
                <a:latin typeface="Aptos" pitchFamily="34" charset="0"/>
                <a:ea typeface="Aptos" pitchFamily="34" charset="-122"/>
                <a:cs typeface="Aptos" pitchFamily="34" charset="-120"/>
              </a:rPr>
              <a:t>Amostra de atendimentos, jun–dez/2025; valores por registro.</a:t>
            </a:r>
            <a:endParaRPr lang="en-US" sz="900" dirty="0"/>
          </a:p>
        </p:txBody>
      </p:sp>
      <p:sp>
        <p:nvSpPr>
          <p:cNvPr id="7" name="Text 5"/>
          <p:cNvSpPr/>
          <p:nvPr/>
        </p:nvSpPr>
        <p:spPr>
          <a:xfrm>
            <a:off x="11128248" y="6483096"/>
            <a:ext cx="457200" cy="228600"/>
          </a:xfrm>
          <a:prstGeom prst="rect">
            <a:avLst/>
          </a:prstGeom>
          <a:noFill/>
          <a:ln/>
        </p:spPr>
        <p:txBody>
          <a:bodyPr wrap="square" lIns="0" tIns="0" rIns="0" bIns="0" rtlCol="0" anchor="ctr"/>
          <a:lstStyle/>
          <a:p>
            <a:pPr algn="r" indent="0" marL="0">
              <a:buNone/>
            </a:pPr>
            <a:r>
              <a:rPr lang="en-US" sz="1050" b="1" dirty="0">
                <a:solidFill>
                  <a:srgbClr val="1E6159"/>
                </a:solidFill>
                <a:latin typeface="Aptos" pitchFamily="34" charset="0"/>
                <a:ea typeface="Aptos" pitchFamily="34" charset="-122"/>
                <a:cs typeface="Aptos" pitchFamily="34" charset="-120"/>
              </a:rPr>
              <a:t>25</a:t>
            </a:r>
            <a:endParaRPr lang="en-US" sz="1050" dirty="0"/>
          </a:p>
        </p:txBody>
      </p:sp>
      <p:sp>
        <p:nvSpPr>
          <p:cNvPr id="8" name="Shape 6"/>
          <p:cNvSpPr/>
          <p:nvPr/>
        </p:nvSpPr>
        <p:spPr>
          <a:xfrm>
            <a:off x="758952" y="1938528"/>
            <a:ext cx="5477256" cy="1316736"/>
          </a:xfrm>
          <a:prstGeom prst="roundRect">
            <a:avLst>
              <a:gd name="adj" fmla="val 8333"/>
            </a:avLst>
          </a:prstGeom>
          <a:solidFill>
            <a:srgbClr val="FFFFFF"/>
          </a:solidFill>
          <a:ln w="11430">
            <a:solidFill>
              <a:srgbClr val="D5DFDC"/>
            </a:solidFill>
            <a:prstDash val="solid"/>
          </a:ln>
        </p:spPr>
      </p:sp>
      <p:sp>
        <p:nvSpPr>
          <p:cNvPr id="9" name="Text 7"/>
          <p:cNvSpPr/>
          <p:nvPr/>
        </p:nvSpPr>
        <p:spPr>
          <a:xfrm>
            <a:off x="978408" y="2139696"/>
            <a:ext cx="5010912"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ACEITE DE OFERTA</a:t>
            </a:r>
            <a:endParaRPr lang="en-US" sz="950" dirty="0"/>
          </a:p>
        </p:txBody>
      </p:sp>
      <p:sp>
        <p:nvSpPr>
          <p:cNvPr id="10" name="Text 8"/>
          <p:cNvSpPr/>
          <p:nvPr/>
        </p:nvSpPr>
        <p:spPr>
          <a:xfrm>
            <a:off x="978408" y="2514600"/>
            <a:ext cx="4983480" cy="530352"/>
          </a:xfrm>
          <a:prstGeom prst="rect">
            <a:avLst/>
          </a:prstGeom>
          <a:noFill/>
          <a:ln/>
        </p:spPr>
        <p:txBody>
          <a:bodyPr wrap="square" lIns="0" tIns="0" rIns="0" bIns="0" rtlCol="0" anchor="t"/>
          <a:lstStyle/>
          <a:p>
            <a:pPr indent="0" marL="0">
              <a:buNone/>
            </a:pPr>
            <a:r>
              <a:rPr lang="en-US" sz="1600" b="1" dirty="0">
                <a:solidFill>
                  <a:srgbClr val="162B30"/>
                </a:solidFill>
                <a:latin typeface="Aptos" pitchFamily="34" charset="0"/>
                <a:ea typeface="Aptos" pitchFamily="34" charset="-122"/>
                <a:cs typeface="Aptos" pitchFamily="34" charset="-120"/>
              </a:rPr>
              <a:t>Oferta apresentada, elegibilidade e decisão do cliente.</a:t>
            </a:r>
            <a:endParaRPr lang="en-US" sz="1600" dirty="0"/>
          </a:p>
        </p:txBody>
      </p:sp>
      <p:sp>
        <p:nvSpPr>
          <p:cNvPr id="11" name="Shape 9"/>
          <p:cNvSpPr/>
          <p:nvPr/>
        </p:nvSpPr>
        <p:spPr>
          <a:xfrm>
            <a:off x="6437376" y="1938528"/>
            <a:ext cx="5477256" cy="1316736"/>
          </a:xfrm>
          <a:prstGeom prst="roundRect">
            <a:avLst>
              <a:gd name="adj" fmla="val 8333"/>
            </a:avLst>
          </a:prstGeom>
          <a:solidFill>
            <a:srgbClr val="FFFFFF"/>
          </a:solidFill>
          <a:ln w="11430">
            <a:solidFill>
              <a:srgbClr val="D5DFDC"/>
            </a:solidFill>
            <a:prstDash val="solid"/>
          </a:ln>
        </p:spPr>
      </p:sp>
      <p:sp>
        <p:nvSpPr>
          <p:cNvPr id="12" name="Text 10"/>
          <p:cNvSpPr/>
          <p:nvPr/>
        </p:nvSpPr>
        <p:spPr>
          <a:xfrm>
            <a:off x="6656832" y="2139696"/>
            <a:ext cx="5010912"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UPLIFT COMERCIAL</a:t>
            </a:r>
            <a:endParaRPr lang="en-US" sz="950" dirty="0"/>
          </a:p>
        </p:txBody>
      </p:sp>
      <p:sp>
        <p:nvSpPr>
          <p:cNvPr id="13" name="Text 11"/>
          <p:cNvSpPr/>
          <p:nvPr/>
        </p:nvSpPr>
        <p:spPr>
          <a:xfrm>
            <a:off x="6656832" y="2514600"/>
            <a:ext cx="4983480" cy="530352"/>
          </a:xfrm>
          <a:prstGeom prst="rect">
            <a:avLst/>
          </a:prstGeom>
          <a:noFill/>
          <a:ln/>
        </p:spPr>
        <p:txBody>
          <a:bodyPr wrap="square" lIns="0" tIns="0" rIns="0" bIns="0" rtlCol="0" anchor="t"/>
          <a:lstStyle/>
          <a:p>
            <a:pPr indent="0" marL="0">
              <a:buNone/>
            </a:pPr>
            <a:r>
              <a:rPr lang="en-US" sz="1600" b="1" dirty="0">
                <a:solidFill>
                  <a:srgbClr val="162B30"/>
                </a:solidFill>
                <a:latin typeface="Aptos" pitchFamily="34" charset="0"/>
                <a:ea typeface="Aptos" pitchFamily="34" charset="-122"/>
                <a:cs typeface="Aptos" pitchFamily="34" charset="-120"/>
              </a:rPr>
              <a:t>Tratamento definido e resultado em grupo comparável.</a:t>
            </a:r>
            <a:endParaRPr lang="en-US" sz="1600" dirty="0"/>
          </a:p>
        </p:txBody>
      </p:sp>
      <p:sp>
        <p:nvSpPr>
          <p:cNvPr id="14" name="Shape 12"/>
          <p:cNvSpPr/>
          <p:nvPr/>
        </p:nvSpPr>
        <p:spPr>
          <a:xfrm>
            <a:off x="758952" y="3465576"/>
            <a:ext cx="5477256" cy="1316736"/>
          </a:xfrm>
          <a:prstGeom prst="roundRect">
            <a:avLst>
              <a:gd name="adj" fmla="val 8333"/>
            </a:avLst>
          </a:prstGeom>
          <a:solidFill>
            <a:srgbClr val="FFFFFF"/>
          </a:solidFill>
          <a:ln w="11430">
            <a:solidFill>
              <a:srgbClr val="D5DFDC"/>
            </a:solidFill>
            <a:prstDash val="solid"/>
          </a:ln>
        </p:spPr>
      </p:sp>
      <p:sp>
        <p:nvSpPr>
          <p:cNvPr id="15" name="Text 13"/>
          <p:cNvSpPr/>
          <p:nvPr/>
        </p:nvSpPr>
        <p:spPr>
          <a:xfrm>
            <a:off x="978408" y="3666744"/>
            <a:ext cx="5010912"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LUCRO INCREMENTAL</a:t>
            </a:r>
            <a:endParaRPr lang="en-US" sz="950" dirty="0"/>
          </a:p>
        </p:txBody>
      </p:sp>
      <p:sp>
        <p:nvSpPr>
          <p:cNvPr id="16" name="Text 14"/>
          <p:cNvSpPr/>
          <p:nvPr/>
        </p:nvSpPr>
        <p:spPr>
          <a:xfrm>
            <a:off x="978408" y="4041648"/>
            <a:ext cx="4983480" cy="530352"/>
          </a:xfrm>
          <a:prstGeom prst="rect">
            <a:avLst/>
          </a:prstGeom>
          <a:noFill/>
          <a:ln/>
        </p:spPr>
        <p:txBody>
          <a:bodyPr wrap="square" lIns="0" tIns="0" rIns="0" bIns="0" rtlCol="0" anchor="t"/>
          <a:lstStyle/>
          <a:p>
            <a:pPr indent="0" marL="0">
              <a:buNone/>
            </a:pPr>
            <a:r>
              <a:rPr lang="en-US" sz="1600" b="1" dirty="0">
                <a:solidFill>
                  <a:srgbClr val="162B30"/>
                </a:solidFill>
                <a:latin typeface="Aptos" pitchFamily="34" charset="0"/>
                <a:ea typeface="Aptos" pitchFamily="34" charset="-122"/>
                <a:cs typeface="Aptos" pitchFamily="34" charset="-120"/>
              </a:rPr>
              <a:t>Custo, margem de contribuição e efeito causal.</a:t>
            </a:r>
            <a:endParaRPr lang="en-US" sz="1600" dirty="0"/>
          </a:p>
        </p:txBody>
      </p:sp>
      <p:sp>
        <p:nvSpPr>
          <p:cNvPr id="17" name="Shape 15"/>
          <p:cNvSpPr/>
          <p:nvPr/>
        </p:nvSpPr>
        <p:spPr>
          <a:xfrm>
            <a:off x="6437376" y="3465576"/>
            <a:ext cx="5477256" cy="1316736"/>
          </a:xfrm>
          <a:prstGeom prst="roundRect">
            <a:avLst>
              <a:gd name="adj" fmla="val 8333"/>
            </a:avLst>
          </a:prstGeom>
          <a:solidFill>
            <a:srgbClr val="FFFFFF"/>
          </a:solidFill>
          <a:ln w="11430">
            <a:solidFill>
              <a:srgbClr val="D5DFDC"/>
            </a:solidFill>
            <a:prstDash val="solid"/>
          </a:ln>
        </p:spPr>
      </p:sp>
      <p:sp>
        <p:nvSpPr>
          <p:cNvPr id="18" name="Text 16"/>
          <p:cNvSpPr/>
          <p:nvPr/>
        </p:nvSpPr>
        <p:spPr>
          <a:xfrm>
            <a:off x="6656832" y="3666744"/>
            <a:ext cx="5010912" cy="210312"/>
          </a:xfrm>
          <a:prstGeom prst="rect">
            <a:avLst/>
          </a:prstGeom>
          <a:noFill/>
          <a:ln/>
        </p:spPr>
        <p:txBody>
          <a:bodyPr wrap="square" lIns="0" tIns="0" rIns="0" bIns="0" rtlCol="0" anchor="ctr"/>
          <a:lstStyle/>
          <a:p>
            <a:pPr indent="0" marL="0">
              <a:buNone/>
            </a:pPr>
            <a:r>
              <a:rPr lang="en-US" sz="950" b="1" spc="110" kern="0" dirty="0">
                <a:solidFill>
                  <a:srgbClr val="1E6159"/>
                </a:solidFill>
                <a:latin typeface="Aptos" pitchFamily="34" charset="0"/>
                <a:ea typeface="Aptos" pitchFamily="34" charset="-122"/>
                <a:cs typeface="Aptos" pitchFamily="34" charset="-120"/>
              </a:rPr>
              <a:t>RETENÇÃO POSTERIOR</a:t>
            </a:r>
            <a:endParaRPr lang="en-US" sz="950" dirty="0"/>
          </a:p>
        </p:txBody>
      </p:sp>
      <p:sp>
        <p:nvSpPr>
          <p:cNvPr id="19" name="Text 17"/>
          <p:cNvSpPr/>
          <p:nvPr/>
        </p:nvSpPr>
        <p:spPr>
          <a:xfrm>
            <a:off x="6656832" y="4041648"/>
            <a:ext cx="4983480" cy="530352"/>
          </a:xfrm>
          <a:prstGeom prst="rect">
            <a:avLst/>
          </a:prstGeom>
          <a:noFill/>
          <a:ln/>
        </p:spPr>
        <p:txBody>
          <a:bodyPr wrap="square" lIns="0" tIns="0" rIns="0" bIns="0" rtlCol="0" anchor="t"/>
          <a:lstStyle/>
          <a:p>
            <a:pPr indent="0" marL="0">
              <a:buNone/>
            </a:pPr>
            <a:r>
              <a:rPr lang="en-US" sz="1600" b="1" dirty="0">
                <a:solidFill>
                  <a:srgbClr val="162B30"/>
                </a:solidFill>
                <a:latin typeface="Aptos" pitchFamily="34" charset="0"/>
                <a:ea typeface="Aptos" pitchFamily="34" charset="-122"/>
                <a:cs typeface="Aptos" pitchFamily="34" charset="-120"/>
              </a:rPr>
              <a:t>Datas de evento, duração e acompanhamento.</a:t>
            </a:r>
            <a:endParaRPr lang="en-US" sz="1600" dirty="0"/>
          </a:p>
        </p:txBody>
      </p:sp>
      <p:sp>
        <p:nvSpPr>
          <p:cNvPr id="20" name="Shape 18"/>
          <p:cNvSpPr/>
          <p:nvPr/>
        </p:nvSpPr>
        <p:spPr>
          <a:xfrm>
            <a:off x="768096" y="5303520"/>
            <a:ext cx="10991088" cy="521208"/>
          </a:xfrm>
          <a:prstGeom prst="roundRect">
            <a:avLst>
              <a:gd name="adj" fmla="val 21053"/>
            </a:avLst>
          </a:prstGeom>
          <a:solidFill>
            <a:srgbClr val="F1E7D8"/>
          </a:solidFill>
          <a:ln w="12700">
            <a:solidFill>
              <a:srgbClr val="F1E7D8">
                <a:alpha val="0"/>
              </a:srgbClr>
            </a:solidFill>
            <a:prstDash val="solid"/>
          </a:ln>
        </p:spPr>
      </p:sp>
      <p:sp>
        <p:nvSpPr>
          <p:cNvPr id="21" name="Text 19"/>
          <p:cNvSpPr/>
          <p:nvPr/>
        </p:nvSpPr>
        <p:spPr>
          <a:xfrm>
            <a:off x="960120" y="5440680"/>
            <a:ext cx="10515600" cy="228600"/>
          </a:xfrm>
          <a:prstGeom prst="rect">
            <a:avLst/>
          </a:prstGeom>
          <a:noFill/>
          <a:ln/>
        </p:spPr>
        <p:txBody>
          <a:bodyPr wrap="square" lIns="0" tIns="0" rIns="0" bIns="0" rtlCol="0" anchor="ctr"/>
          <a:lstStyle/>
          <a:p>
            <a:pPr indent="0" marL="0">
              <a:buNone/>
            </a:pPr>
            <a:r>
              <a:rPr lang="en-US" sz="1380" b="1" dirty="0">
                <a:solidFill>
                  <a:srgbClr val="162B30"/>
                </a:solidFill>
                <a:latin typeface="Aptos" pitchFamily="34" charset="0"/>
                <a:ea typeface="Aptos" pitchFamily="34" charset="-122"/>
                <a:cs typeface="Aptos" pitchFamily="34" charset="-120"/>
              </a:rPr>
              <a:t>Cenário de equilíbrio: uplift mínimo = custo da ação ÷ ganho incremental por sucesso.</a:t>
            </a:r>
            <a:endParaRPr lang="en-US" sz="13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Estudo de caso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Retenção de clientes | Perfis, transições e valor</dc:title>
  <dc:subject>Perfis, movimentações e valor observado na retenção — junho a dezembro de 2025</dc:subject>
  <dc:creator>Estudo de Ciência de Dados</dc:creator>
  <cp:lastModifiedBy>Estudo de Ciência de Dados</cp:lastModifiedBy>
  <cp:revision>1</cp:revision>
  <dcterms:created xsi:type="dcterms:W3CDTF">2026-10-15T09:24:50Z</dcterms:created>
  <dcterms:modified xsi:type="dcterms:W3CDTF">2026-10-15T09:24:50Z</dcterms:modified>
</cp:coreProperties>
</file>