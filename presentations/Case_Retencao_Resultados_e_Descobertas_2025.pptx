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ANALÍTICO • ESTUDO EXECUTIVO • RESULTADOS EXPERIMENTAIS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Perfis de retenção com movimentação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7406640" cy="2706624"/>
          </a:xfrm>
          <a:prstGeom prst="rect">
            <a:avLst/>
          </a:prstGeom>
          <a:solidFill>
            <a:srgbClr val="122334"/>
          </a:solidFill>
          <a:ln w="12700">
            <a:solidFill>
              <a:srgbClr val="1223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76856"/>
            <a:ext cx="6812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qualidade da informação à decisão de negócio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54787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retenção de telecomunicações • amostra de sete meses • indicadores descritivos por registro do funil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57616" y="1901952"/>
            <a:ext cx="3191256" cy="2706624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22402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central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22792" y="2706624"/>
            <a:ext cx="26426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o perfil de registros classificados como retidos e com movimentação de produtos.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restrito. As regras de negócio ainda requerem validação.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conceitos que não são equivalentes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56816"/>
            <a:ext cx="3438144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56816"/>
            <a:ext cx="3438144" cy="109728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13432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788920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do processo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9536" y="3794760"/>
            <a:ext cx="2971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Retido no funil não comprova permanência sustentada.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1956816"/>
            <a:ext cx="3438144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956816"/>
            <a:ext cx="3438144" cy="109728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13432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 e mix M0→M30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2971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produto ou plano não é necessariamente aceitar oferta.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65008" y="1956816"/>
            <a:ext cx="3438144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1956816"/>
            <a:ext cx="3438144" cy="109728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2313432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MONETÁRIO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2788920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VALOR_*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84464" y="3794760"/>
            <a:ext cx="2971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 de valor não demonstra preservação de receita.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99846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604875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 atual: registro do funil, não cliente único. Definições operacionais provisórias.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leitura integral preservou o escopo da amostra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250545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103120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303.654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77824" y="275234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lidos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9856" y="1883664"/>
            <a:ext cx="250545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103120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303.652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3657600" y="275234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período alvo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883664"/>
            <a:ext cx="250545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103120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287.977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6437376" y="275234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distintos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9408" y="1883664"/>
            <a:ext cx="250545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79408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2103120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14.069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9217152" y="275234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repetidos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927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87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249.309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46085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54296" y="4087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48.091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654296" y="46085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retidos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4087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6.252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94192" y="46085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aberto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99846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04875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Dois registros fora do período (fevereiro e maio) excluídos somente dos indicadores da janela.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observada entre registros retidos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20240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139696"/>
            <a:ext cx="4937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86.540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77824" y="2788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Retidos com alguma FLAG_MOV =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30632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representa aceite de oferta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45352" y="19202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920240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2139696"/>
            <a:ext cx="4937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34,7%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6483096" y="2788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registros classificados como retidos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83096" y="30632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Denominador: 249.309 registros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922776"/>
            <a:ext cx="10908792" cy="1097280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aberto ≠ não retido   |   Movimento ≠ preservação de receita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99846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04875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percentual descreve registros desta amostra. Não é métrica corporativa nem indicador causal.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 inicial: perfil associado à movimentação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família(s)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933956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33956"/>
            <a:ext cx="2157155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1847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27,6%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6712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90.470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família(s)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756916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756916"/>
            <a:ext cx="2879214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670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99008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91.072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família(s)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3579876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3579876"/>
            <a:ext cx="3142707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3493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40,3%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81304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65.304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família(s)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4402836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402836"/>
            <a:ext cx="5424891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4315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69,5%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63600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2.333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5673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Associação descritiva: mix inicial pode estar correlacionado a perfil, canal, ofertas e regras de elegibilidade.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Comportamento mensal: movimento entre retidos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10607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144854"/>
            <a:ext cx="667512" cy="1518586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6197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30,6%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9464" y="2698282"/>
            <a:ext cx="667512" cy="1965158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5154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9464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95928" y="2863954"/>
            <a:ext cx="667512" cy="1799486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268107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95928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22392" y="2945321"/>
            <a:ext cx="667512" cy="1718119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62441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34,6%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22392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48856" y="2875337"/>
            <a:ext cx="667512" cy="1788103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69245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8856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2982492"/>
            <a:ext cx="667512" cy="1680948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79961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33,8%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01784" y="3069144"/>
            <a:ext cx="667512" cy="1594296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288626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01784" y="4764024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507492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entre os retidos no respectivo mês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76529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Volumetria mensal semelhante não prova representatividade; a composição da amostra pode mudar entre meses.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e cancelamento por família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487168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87168"/>
            <a:ext cx="2246233" cy="22860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52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 77.067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11880"/>
            <a:ext cx="1642405" cy="228600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Cancelamento  56.350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93592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TV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93592" y="2487168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2487168"/>
            <a:ext cx="738543" cy="22860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2852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 25.339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93592" y="3611880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3611880"/>
            <a:ext cx="876377" cy="228600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Cancelamento  30.068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55664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55664" y="2487168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2487168"/>
            <a:ext cx="299888" cy="22860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2852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 10.289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55664" y="3611880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5664" y="3611880"/>
            <a:ext cx="779232" cy="228600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Cancelamento  26.735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17736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317736" y="2487168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17736" y="2487168"/>
            <a:ext cx="141535" cy="22860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17736" y="2852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  4.856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17736" y="3611880"/>
            <a:ext cx="2331720" cy="22860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17736" y="3611880"/>
            <a:ext cx="0" cy="228600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17736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Cancelamento  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4736592"/>
            <a:ext cx="10698480" cy="365760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80060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Famílias se sobrepõem por registro: as contagens não devem ser somadas como clientes distintos.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779008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829300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cancelamento de um produto não implica perda integral do relacionamento.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Origem do atendimento: comparação com cautela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2112264"/>
            <a:ext cx="5212080" cy="27432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112264"/>
            <a:ext cx="1667919" cy="27432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2551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retidos: 51.214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49040" y="3209544"/>
            <a:ext cx="5212080" cy="27432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209544"/>
            <a:ext cx="1845744" cy="27432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3108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3648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retidos: 198.095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736592"/>
            <a:ext cx="10698480" cy="640080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737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abertos concentram-se em LEGADO; comparar canais diretamente pode produzir viés de seleção.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81558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6587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Diferenças entre origens não demonstram superioridade causal de recomendação ou catálogo.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Riscos materiais identificados na auditoria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65376"/>
            <a:ext cx="10652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65376"/>
            <a:ext cx="73152" cy="987552"/>
          </a:xfrm>
          <a:prstGeom prst="rect">
            <a:avLst/>
          </a:prstGeom>
          <a:solidFill>
            <a:srgbClr val="B16B32"/>
          </a:solidFill>
          <a:ln w="12700">
            <a:solidFill>
              <a:srgbClr val="B16B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02996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 DO EVENTO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3320" y="2011680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14.069 IDs repetidos; 1.706 com status distintos.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62672" y="201168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deduplicar pelo ID de cliente.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81528"/>
            <a:ext cx="10652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81528"/>
            <a:ext cx="73152" cy="987552"/>
          </a:xfrm>
          <a:prstGeom prst="rect">
            <a:avLst/>
          </a:prstGeom>
          <a:solidFill>
            <a:srgbClr val="B16B32"/>
          </a:solidFill>
          <a:ln w="12700">
            <a:solidFill>
              <a:srgbClr val="B16B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24612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E TEMPO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3227832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6.252 leads em aberto; não há evento final datado.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62672" y="3227832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interpretar como censura sem janela observada.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10652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97680"/>
            <a:ext cx="73152" cy="987552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446227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ECONOMIA DO MIX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4443984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de valor e produto apresentam regimes distintos.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2672" y="44439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unidades e lógica de bundling antes de monetizar.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79592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929884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 desses riscos foi “corrigido” por exclusões ou imputações automáticas.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Perfis observados: mix e elegibilidade em M0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Apenas BL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933956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33956"/>
            <a:ext cx="2112265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1847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28,9%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67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82.490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 + TV + FONE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784348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784348"/>
            <a:ext cx="2852712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697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61.897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575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 + TV + FONE + MV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3634740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3634740"/>
            <a:ext cx="5085836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69,5%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2.333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 + MV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4485132"/>
            <a:ext cx="5852160" cy="182880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485132"/>
            <a:ext cx="4056722" cy="18288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4398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718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retidos: 4.802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81558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6587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Associação de composição contratual. Não implica benefício incremental de agregar produtos.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 → M30: queda de valor entre retidos com movimento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34107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01952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21408"/>
            <a:ext cx="30449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-25,46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96112" y="27706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do delta M30 − M0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4495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Unidades monetárias não validadas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16552" y="1901952"/>
            <a:ext cx="34107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901952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121408"/>
            <a:ext cx="30449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78,7%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654296" y="27706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delta negativo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54296" y="304495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retidos com movimentação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74736" y="1901952"/>
            <a:ext cx="33192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1901952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121408"/>
            <a:ext cx="2953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14,9%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8412480" y="277063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delta positivo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044952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retidos com movimentação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" y="3895344"/>
            <a:ext cx="10808208" cy="1298448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15137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soma dos valores observados desse grupo varia -20,1% entre M0 e M30.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080" y="5788152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38444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Isso NÃO é perda de receita faturada: faltam unidade, competência, descontos, créditos e regras de bundle.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Predição experimental: validação cronológica fora do treino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3649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03120"/>
            <a:ext cx="29992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0,662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96112" y="2752344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AUC-ROC no holdout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266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nov–dez/2025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07408" y="1883664"/>
            <a:ext cx="33649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103120"/>
            <a:ext cx="29992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0,1849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645152" y="2752344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Brier no holdout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30266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0,1988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47304" y="1883664"/>
            <a:ext cx="33649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47304" y="1883664"/>
            <a:ext cx="54864" cy="1508760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2103120"/>
            <a:ext cx="29992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1,84×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8385048" y="2752344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no decil superior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85048" y="30266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relação à prevalência do teste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" y="3794760"/>
            <a:ext cx="1080820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0690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selecionado: árvore rasa (profundidade 5, folha mínima 600).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" y="4645152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teste: 84.067 • evento composto no teste: 27,2% • dados de M0 apenas.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865876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Prognóstico de evento operacional, não recomendação causal de oferta. Validação prospectiva continua necessária.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confundir movimento por registro com oportunidade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77393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correção do denominador muda a conclusão aparente.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família(s)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468880"/>
            <a:ext cx="429768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468880"/>
            <a:ext cx="1188121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4231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27,6%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2468880"/>
            <a:ext cx="164592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2468880"/>
            <a:ext cx="455025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51008" y="2423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27,6%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família(s)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4640" y="3154680"/>
            <a:ext cx="429768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3154680"/>
            <a:ext cx="1585817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1089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36,9%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3154680"/>
            <a:ext cx="164592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3154680"/>
            <a:ext cx="387949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51008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23,6%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família(s)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34640" y="3840480"/>
            <a:ext cx="429768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840480"/>
            <a:ext cx="1730944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7947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40,3%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5360" y="3840480"/>
            <a:ext cx="164592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3840480"/>
            <a:ext cx="352041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51008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21,4%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família(s)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834640" y="4526280"/>
            <a:ext cx="429768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4526280"/>
            <a:ext cx="2987928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44805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69,5%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95360" y="4526280"/>
            <a:ext cx="1645920" cy="21031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5360" y="4526280"/>
            <a:ext cx="599318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44805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36,4%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5394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Esquerda: qualquer movimento/retidos     Direita: flags/produtos M0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870448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920740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normalização não elimina viés por mix, elegibilidade ou seleção. São estimandos distintos.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Maturidade da origem: leads ainda em aberto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2212848"/>
            <a:ext cx="5897880" cy="30175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212848"/>
            <a:ext cx="4831654" cy="301752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210312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679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6.162 casos em aberto / 68.380 registros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3767328"/>
            <a:ext cx="5897880" cy="301752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3767328"/>
            <a:ext cx="20510" cy="301752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65760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6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4233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casos em aberto / 235.272 registros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81101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 entre casos encerrados tem viés potencial de seleção; origem não é tratamento aleatório.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modelagem responde a uma questão diferente da caracterização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965960"/>
            <a:ext cx="52486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965960"/>
            <a:ext cx="5248656" cy="10058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PRINCIPAL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78892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P(Movimentação | Retido, M0)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1832" y="3703320"/>
            <a:ext cx="4690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movimentou dentre os registros retidos?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452628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Descrição observacional por mix e produto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52486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965960"/>
            <a:ext cx="5248656" cy="100584"/>
          </a:xfrm>
          <a:prstGeom prst="rect">
            <a:avLst/>
          </a:prstGeom>
          <a:solidFill>
            <a:srgbClr val="BC9557"/>
          </a:solidFill>
          <a:ln w="12700">
            <a:solidFill>
              <a:srgbClr val="BC9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EXPLORATÓRIO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278892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P(Retido e Movimentação | M0)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64808" y="3703320"/>
            <a:ext cx="4690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evento composto ocorreu nos encerrados?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452628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0,662; Brier 0,1849 no holdout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33872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84164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Nenhuma das duas tarefas identifica o efeito causal ou incremental da oferta.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de evidência para a decisão de retenção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911096"/>
            <a:ext cx="10625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 OBSERVADO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67328" y="203911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retidos com movimento; taxas por oportunidade; deltas M0–M30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871216"/>
            <a:ext cx="10625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00837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ESTIMADO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299923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AUC, Brier e lift do evento composto em holdout cronológico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831336"/>
            <a:ext cx="10625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96849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HIPÓTESE A TESTAR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395935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Intervenções por mix e auditoria de quedas de valores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4791456"/>
            <a:ext cx="10625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9286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IDENTIFICÁVEL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67328" y="491947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 de oferta, receita líquida, margem, churn futuro e duração do contrato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870448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920740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narrativa é condicionada à semântica de negócio e não promove associações a efeitos causais.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Recomendações como hipóteses mensuráveis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da carteira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956816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ofertas estruturadas por mix inicial (1/2/3/4 famílias).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88352" y="1956816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Retidos com movimento, variação monetária validada.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Origem / maturidade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916936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Reconciliar leads em aberto e o mix SOLAR versus LEGADO.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88352" y="2916936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fechamento, desfecho, diferenças de composição.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767328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após retenção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877056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descontos, downgrades e alterações de plano em M0/M30.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88352" y="3877056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por produto, margem e receita contábil.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727448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Sinal preditivo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837176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score somente em shadow mode e períodos futuros.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88352" y="4837176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Brier, AP, lift, estabilidade e taxas por grupo.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833872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884164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Nenhuma das ações tem impacto incremental comprovado: desenhar experimento controlado antes de escalar.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9319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ESTUDO OBSERVACIONAL • USO RESTRITO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Próximas decisões e ações testáveis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27048"/>
            <a:ext cx="10927080" cy="16459"/>
          </a:xfrm>
          <a:prstGeom prst="rect">
            <a:avLst/>
          </a:prstGeom>
          <a:solidFill>
            <a:srgbClr val="D9E1D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JUN–DEZ/2025  •  DEFINIÇÕES PROVISÓRIAS  •  SEM INFERÊNCIA CAUSAL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847088"/>
            <a:ext cx="10570464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993392"/>
            <a:ext cx="466344" cy="46634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1214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196596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chave de lead e regras de status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27632" y="22951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da amostra; critério de encerramento e maturidade.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2816352"/>
            <a:ext cx="10570464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962656"/>
            <a:ext cx="466344" cy="46634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0906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2935224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FLAG_MOV e VALOR com o negócio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27632" y="32644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alteração contratual de preço, desconto e mix.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" y="3785616"/>
            <a:ext cx="10570464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3931920"/>
            <a:ext cx="466344" cy="46634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05993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27632" y="390448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perfis M0 e baseline temporal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7632" y="42336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origem, composição e seleção. Evitar vazamento.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" y="4754880"/>
            <a:ext cx="10570464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4901184"/>
            <a:ext cx="466344" cy="466344"/>
          </a:xfrm>
          <a:prstGeom prst="rect">
            <a:avLst/>
          </a:prstGeom>
          <a:solidFill>
            <a:srgbClr val="1B6565"/>
          </a:solidFill>
          <a:ln w="12700">
            <a:solidFill>
              <a:srgbClr val="1B65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502920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27632" y="4873752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Desenhar experimentos comerciais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27632" y="520293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 retenção, valor líquido e satisfação com controle.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888736"/>
            <a:ext cx="10927080" cy="301752"/>
          </a:xfrm>
          <a:prstGeom prst="rect">
            <a:avLst/>
          </a:prstGeom>
          <a:solidFill>
            <a:srgbClr val="E8F0ED"/>
          </a:solidFill>
          <a:ln w="12700">
            <a:solidFill>
              <a:srgbClr val="E8F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39028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3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experimentais; decisões comerciais e valores financeiros dependem de definições oficiais.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Uso restrito — análise do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de Retenção — Estudo Executivo — Evidências Observacionais</dc:title>
  <dc:subject>Diagnóstico descritivo da base do case — material confidencial</dc:subject>
  <dc:creator>Projeto Customer Retention Analytics</dc:creator>
  <cp:lastModifiedBy>Projeto Customer Retention Analytics</cp:lastModifiedBy>
  <cp:revision>1</cp:revision>
  <dcterms:created xsi:type="dcterms:W3CDTF">2026-10-14T20:07:50Z</dcterms:created>
  <dcterms:modified xsi:type="dcterms:W3CDTF">2026-10-14T20:07:50Z</dcterms:modified>
</cp:coreProperties>
</file>