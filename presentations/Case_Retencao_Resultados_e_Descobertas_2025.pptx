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ANALÍTICO • ESTUDO EXECUTIVO • RESULTADOS EXPERIMENTAIS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Perfis de retenção com movimentação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901952"/>
            <a:ext cx="7406640" cy="2706624"/>
          </a:xfrm>
          <a:prstGeom prst="rect">
            <a:avLst/>
          </a:prstGeom>
          <a:solidFill>
            <a:srgbClr val="122334"/>
          </a:solidFill>
          <a:ln w="12700">
            <a:solidFill>
              <a:srgbClr val="1223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276856"/>
            <a:ext cx="6812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 qualidade da informação à decisão de negócio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960120" y="3547872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9E9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de retenção de telecomunicações • amostra de sete meses • indicadores descritivos por registro do funil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357616" y="1901952"/>
            <a:ext cx="3191256" cy="2706624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22792" y="2240280"/>
            <a:ext cx="267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 central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22792" y="2706624"/>
            <a:ext cx="264261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Identificar o perfil de registros classificados como retidos e com movimentação de produtos.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40080" y="5120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restrito. As regras de negócio ainda requerem validação.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Três conceitos que não são equivalentes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956816"/>
            <a:ext cx="3438144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956816"/>
            <a:ext cx="3438144" cy="109728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313432"/>
            <a:ext cx="3017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RETENÇÃO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59536" y="2788920"/>
            <a:ext cx="3044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do processo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59536" y="3794760"/>
            <a:ext cx="29718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Retido no funil não comprova permanência sustentada.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52544" y="1956816"/>
            <a:ext cx="3438144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2544" y="1956816"/>
            <a:ext cx="3438144" cy="109728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2313432"/>
            <a:ext cx="3017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MOVIMENTAÇÃO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0" y="2788920"/>
            <a:ext cx="3044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Flags e mix M0→M30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572000" y="3794760"/>
            <a:ext cx="29718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Alterar produto ou plano não é necessariamente aceitar oferta.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65008" y="1956816"/>
            <a:ext cx="3438144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65008" y="1956816"/>
            <a:ext cx="3438144" cy="109728"/>
          </a:xfrm>
          <a:prstGeom prst="rect">
            <a:avLst/>
          </a:prstGeom>
          <a:solidFill>
            <a:srgbClr val="BC9557"/>
          </a:solidFill>
          <a:ln w="12700">
            <a:solidFill>
              <a:srgbClr val="BC95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84464" y="2313432"/>
            <a:ext cx="3017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 MONETÁRIO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84464" y="2788920"/>
            <a:ext cx="3044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Campos VALOR_*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8284464" y="3794760"/>
            <a:ext cx="297180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Diferença de valor não demonstra preservação de receita.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5998464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6048756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Unidade atual: registro do funil, não cliente único. Definições operacionais provisórias.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leitura integral preservou o escopo da amostra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883664"/>
            <a:ext cx="2505456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83664"/>
            <a:ext cx="54864" cy="150876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103120"/>
            <a:ext cx="2139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303.654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877824" y="2752344"/>
            <a:ext cx="2139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lidos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19856" y="1883664"/>
            <a:ext cx="2505456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9856" y="1883664"/>
            <a:ext cx="54864" cy="150876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2103120"/>
            <a:ext cx="2139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303.652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3657600" y="2752344"/>
            <a:ext cx="2139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período alvo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99632" y="1883664"/>
            <a:ext cx="2505456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99632" y="1883664"/>
            <a:ext cx="54864" cy="150876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37376" y="2103120"/>
            <a:ext cx="2139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287.977</a:t>
            </a:r>
            <a:endParaRPr lang="en-US" sz="2900" dirty="0"/>
          </a:p>
        </p:txBody>
      </p:sp>
      <p:sp>
        <p:nvSpPr>
          <p:cNvPr id="19" name="Text 17"/>
          <p:cNvSpPr/>
          <p:nvPr/>
        </p:nvSpPr>
        <p:spPr>
          <a:xfrm>
            <a:off x="6437376" y="2752344"/>
            <a:ext cx="2139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IDs distintos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979408" y="1883664"/>
            <a:ext cx="2505456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79408" y="1883664"/>
            <a:ext cx="54864" cy="150876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17152" y="2103120"/>
            <a:ext cx="2139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14.069</a:t>
            </a:r>
            <a:endParaRPr lang="en-US" sz="2900" dirty="0"/>
          </a:p>
        </p:txBody>
      </p:sp>
      <p:sp>
        <p:nvSpPr>
          <p:cNvPr id="23" name="Text 21"/>
          <p:cNvSpPr/>
          <p:nvPr/>
        </p:nvSpPr>
        <p:spPr>
          <a:xfrm>
            <a:off x="9217152" y="2752344"/>
            <a:ext cx="2139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IDs repetidos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3794760"/>
            <a:ext cx="109270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08736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249.309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14400" y="460857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retidos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54296" y="408736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48.091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4654296" y="460857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não retidos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394192" y="408736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16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6.252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8394192" y="460857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 aberto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5998464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6048756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Dois registros fora do período (fevereiro e maio) excluídos somente dos indicadores da janela.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Movimentação observada entre registros retidos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53035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920240"/>
            <a:ext cx="54864" cy="150876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139696"/>
            <a:ext cx="49377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86.540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877824" y="27889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Retidos com alguma FLAG_MOV =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7824" y="30632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Não representa aceite de oferta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245352" y="1920240"/>
            <a:ext cx="53035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45352" y="1920240"/>
            <a:ext cx="54864" cy="150876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83096" y="2139696"/>
            <a:ext cx="49377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34,7%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6483096" y="27889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 registros classificados como retidos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83096" y="30632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Denominador: 249.309 registros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0080" y="3922776"/>
            <a:ext cx="10908792" cy="1097280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4251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 aberto ≠ não retido   |   Movimento ≠ preservação de receita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40080" y="5998464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6048756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percentual descreve registros desta amostra. Não é métrica corporativa nem indicador causal.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Mix inicial: perfil associado à movimentação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874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família(s)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37560" y="1933956"/>
            <a:ext cx="5852160" cy="18288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933956"/>
            <a:ext cx="2157155" cy="18288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64040" y="18470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27,6%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2167128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retidos: 90.470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2697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família(s)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37560" y="2756916"/>
            <a:ext cx="5852160" cy="18288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37560" y="2756916"/>
            <a:ext cx="2879214" cy="18288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64040" y="26700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36,9%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37560" y="2990088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retidos: 91.072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35204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família(s)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337560" y="3579876"/>
            <a:ext cx="5852160" cy="18288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37560" y="3579876"/>
            <a:ext cx="3142707" cy="18288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64040" y="34930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40,3%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37560" y="3813048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retidos: 65.304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2960" y="4343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família(s)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337560" y="4402836"/>
            <a:ext cx="5852160" cy="18288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37560" y="4402836"/>
            <a:ext cx="5424891" cy="18288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64040" y="43159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69,5%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337560" y="4636008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retidos: 2.333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" y="5806440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856732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Associação descritiva: mix inicial pode estar correlacionado a perfil, canal, ofertas e regras de elegibilidade.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Comportamento mensal: movimento entre retidos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938528"/>
            <a:ext cx="1060704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3144854"/>
            <a:ext cx="667512" cy="1518586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961974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30,6%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43000" y="4764024"/>
            <a:ext cx="667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69464" y="2698282"/>
            <a:ext cx="667512" cy="1965158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0592" y="2515402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39,6%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69464" y="4764024"/>
            <a:ext cx="667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995928" y="2863954"/>
            <a:ext cx="667512" cy="1799486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77056" y="2681074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36,2%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95928" y="4764024"/>
            <a:ext cx="667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22392" y="2945321"/>
            <a:ext cx="667512" cy="1718119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0" y="2762441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34,6%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22392" y="4764024"/>
            <a:ext cx="667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48856" y="2875337"/>
            <a:ext cx="667512" cy="1788103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9984" y="2692457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36,0%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48856" y="4764024"/>
            <a:ext cx="667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75320" y="2982492"/>
            <a:ext cx="667512" cy="1680948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56448" y="2799612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33,8%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75320" y="4764024"/>
            <a:ext cx="667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701784" y="3069144"/>
            <a:ext cx="667512" cy="1594296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582912" y="2886264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32,1%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701784" y="4764024"/>
            <a:ext cx="667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51560" y="5074920"/>
            <a:ext cx="612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% entre os retidos no respectivo mês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5715000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765292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Volumetria mensal semelhante não prova representatividade; a composição da amostra pode mudar entre meses.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Movimentação e cancelamento por família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1520" y="2487168"/>
            <a:ext cx="2331720" cy="22860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487168"/>
            <a:ext cx="2246233" cy="22860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85292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Movimentação  77.067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611880"/>
            <a:ext cx="2331720" cy="22860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3611880"/>
            <a:ext cx="1642405" cy="228600"/>
          </a:xfrm>
          <a:prstGeom prst="rect">
            <a:avLst/>
          </a:prstGeom>
          <a:solidFill>
            <a:srgbClr val="BC9557"/>
          </a:solidFill>
          <a:ln w="12700">
            <a:solidFill>
              <a:srgbClr val="BC95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9776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Cancelamento  56.350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93592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TV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593592" y="2487168"/>
            <a:ext cx="2331720" cy="22860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93592" y="2487168"/>
            <a:ext cx="738543" cy="22860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93592" y="285292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Movimentação  25.339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93592" y="3611880"/>
            <a:ext cx="2331720" cy="22860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93592" y="3611880"/>
            <a:ext cx="876377" cy="228600"/>
          </a:xfrm>
          <a:prstGeom prst="rect">
            <a:avLst/>
          </a:prstGeom>
          <a:solidFill>
            <a:srgbClr val="BC9557"/>
          </a:solidFill>
          <a:ln w="12700">
            <a:solidFill>
              <a:srgbClr val="BC955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93592" y="39776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Cancelamento  30.068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55664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FONE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455664" y="2487168"/>
            <a:ext cx="2331720" cy="22860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55664" y="2487168"/>
            <a:ext cx="299888" cy="22860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55664" y="285292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Movimentação  10.289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55664" y="3611880"/>
            <a:ext cx="2331720" cy="22860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55664" y="3611880"/>
            <a:ext cx="779232" cy="228600"/>
          </a:xfrm>
          <a:prstGeom prst="rect">
            <a:avLst/>
          </a:prstGeom>
          <a:solidFill>
            <a:srgbClr val="BC9557"/>
          </a:solidFill>
          <a:ln w="12700">
            <a:solidFill>
              <a:srgbClr val="BC955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55664" y="39776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Cancelamento  26.735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317736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9317736" y="2487168"/>
            <a:ext cx="2331720" cy="22860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17736" y="2487168"/>
            <a:ext cx="141535" cy="22860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17736" y="285292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Movimentação  4.856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317736" y="3611880"/>
            <a:ext cx="2331720" cy="22860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317736" y="3611880"/>
            <a:ext cx="0" cy="228600"/>
          </a:xfrm>
          <a:prstGeom prst="rect">
            <a:avLst/>
          </a:prstGeom>
          <a:solidFill>
            <a:srgbClr val="BC9557"/>
          </a:solidFill>
          <a:ln w="12700">
            <a:solidFill>
              <a:srgbClr val="BC955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7736" y="39776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Cancelamento  0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49808" y="4736592"/>
            <a:ext cx="10698480" cy="365760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2688" y="4800600"/>
            <a:ext cx="10241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Famílias se sobrepõem por registro: as contagens não devem ser somadas como clientes distintos.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0080" y="5779008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829300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cancelamento de um produto não implica perda integral do relacionamento.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Origem do atendimento: comparação com cautela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20116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LEGADO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749040" y="2112264"/>
            <a:ext cx="5212080" cy="27432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9040" y="2112264"/>
            <a:ext cx="1667919" cy="27432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35440" y="2011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32,0%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49040" y="2551176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de retidos: 51.214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41248" y="3108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SOLAR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749040" y="3209544"/>
            <a:ext cx="5212080" cy="27432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49040" y="3209544"/>
            <a:ext cx="1845744" cy="27432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440" y="31089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35,4%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749040" y="3648456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de retidos: 198.095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4736592"/>
            <a:ext cx="10698480" cy="640080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87375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Leads abertos concentram-se em LEGADO; comparar canais diretamente pode produzir viés de seleção.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815584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865876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Diferenças entre origens não demonstram superioridade causal de recomendação ou catálogo.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Riscos materiais identificados na auditoria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65376"/>
            <a:ext cx="1065276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865376"/>
            <a:ext cx="73152" cy="987552"/>
          </a:xfrm>
          <a:prstGeom prst="rect">
            <a:avLst/>
          </a:prstGeom>
          <a:solidFill>
            <a:srgbClr val="B16B32"/>
          </a:solidFill>
          <a:ln w="12700">
            <a:solidFill>
              <a:srgbClr val="B16B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14984" y="2029968"/>
            <a:ext cx="280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UNIDADE DO EVENTO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03320" y="2011680"/>
            <a:ext cx="3776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14.069 IDs repetidos; 1.706 com status distintos.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662672" y="2011680"/>
            <a:ext cx="336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Não deduplicar pelo ID de cliente.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081528"/>
            <a:ext cx="1065276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081528"/>
            <a:ext cx="73152" cy="987552"/>
          </a:xfrm>
          <a:prstGeom prst="rect">
            <a:avLst/>
          </a:prstGeom>
          <a:solidFill>
            <a:srgbClr val="B16B32"/>
          </a:solidFill>
          <a:ln w="12700">
            <a:solidFill>
              <a:srgbClr val="B16B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14984" y="3246120"/>
            <a:ext cx="280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E TEMPO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03320" y="3227832"/>
            <a:ext cx="3776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6.252 leads em aberto; não há evento final datado.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662672" y="3227832"/>
            <a:ext cx="336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Não interpretar como censura sem janela observada.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4297680"/>
            <a:ext cx="1065276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297680"/>
            <a:ext cx="73152" cy="987552"/>
          </a:xfrm>
          <a:prstGeom prst="rect">
            <a:avLst/>
          </a:prstGeom>
          <a:solidFill>
            <a:srgbClr val="BC9557"/>
          </a:solidFill>
          <a:ln w="12700">
            <a:solidFill>
              <a:srgbClr val="BC95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4984" y="4462272"/>
            <a:ext cx="280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ECONOMIA DO MIX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703320" y="4443984"/>
            <a:ext cx="3776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Campos de valor e produto apresentam regimes distintos.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62672" y="4443984"/>
            <a:ext cx="336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unidades e lógica de bundling antes de monetizar.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879592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929884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Nenhum desses riscos foi “corrigido” por exclusões ou imputações automáticas.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Perfis observados: mix e elegibilidade em M0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874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Apenas BL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37560" y="1933956"/>
            <a:ext cx="5852160" cy="18288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933956"/>
            <a:ext cx="2112265" cy="18288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64040" y="18470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28,9%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21671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retidos: 82.490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27249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 + TV + FONE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37560" y="2784348"/>
            <a:ext cx="5852160" cy="18288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37560" y="2784348"/>
            <a:ext cx="2852712" cy="18288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64040" y="2697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39,0%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37560" y="3017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retidos: 61.897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35753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 + TV + FONE + MV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337560" y="3634740"/>
            <a:ext cx="5852160" cy="18288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37560" y="3634740"/>
            <a:ext cx="5085836" cy="18288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64040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69,5%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37560" y="386791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retidos: 2.333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2960" y="44256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 + MV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337560" y="4485132"/>
            <a:ext cx="5852160" cy="182880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37560" y="4485132"/>
            <a:ext cx="4056722" cy="18288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64040" y="4398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55,5%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337560" y="471830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retidos: 4.802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" y="5815584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865876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Associação de composição contratual. Não implica benefício incremental de agregar produtos.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M0 → M30: queda de valor entre retidos com movimento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901952"/>
            <a:ext cx="3410712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1901952"/>
            <a:ext cx="54864" cy="150876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121408"/>
            <a:ext cx="304495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-25,46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896112" y="2770632"/>
            <a:ext cx="3044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Mediana do delta M30 − M0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96112" y="3044952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Unidades monetárias não validadas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416552" y="1901952"/>
            <a:ext cx="3410712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6552" y="1901952"/>
            <a:ext cx="54864" cy="150876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54296" y="2121408"/>
            <a:ext cx="304495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78,7%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4654296" y="2770632"/>
            <a:ext cx="3044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 delta negativo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54296" y="3044952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 retidos com movimentação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174736" y="1901952"/>
            <a:ext cx="3319272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74736" y="1901952"/>
            <a:ext cx="54864" cy="150876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2121408"/>
            <a:ext cx="29535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14,9%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8412480" y="2770632"/>
            <a:ext cx="2953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 delta positivo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412480" y="3044952"/>
            <a:ext cx="2953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 retidos com movimentação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94944" y="3895344"/>
            <a:ext cx="10808208" cy="1298448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4151376"/>
            <a:ext cx="10149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soma dos valores observados desse grupo varia -20,1% entre M0 e M30.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40080" y="5788152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838444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Isso NÃO é perda de receita faturada: faltam unidade, competência, descontos, créditos e regras de bundle.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Predição experimental: validação cronológica fora do treino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883664"/>
            <a:ext cx="3364992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1883664"/>
            <a:ext cx="54864" cy="150876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103120"/>
            <a:ext cx="299923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0,662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896112" y="2752344"/>
            <a:ext cx="2999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AUC-ROC no holdout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96112" y="3026664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 nov–dez/2025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407408" y="1883664"/>
            <a:ext cx="3364992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07408" y="1883664"/>
            <a:ext cx="54864" cy="150876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5152" y="2103120"/>
            <a:ext cx="299923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0,1849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4645152" y="2752344"/>
            <a:ext cx="2999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Brier no holdout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45152" y="3026664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Baseline: 0,1988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147304" y="1883664"/>
            <a:ext cx="3364992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47304" y="1883664"/>
            <a:ext cx="54864" cy="1508760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85048" y="2103120"/>
            <a:ext cx="299923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1,84×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8385048" y="2752344"/>
            <a:ext cx="2999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Lift no decil superior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85048" y="3026664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 relação à prevalência do teste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67512" y="3794760"/>
            <a:ext cx="10808208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1832" y="40690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selecionado: árvore rasa (profundidade 5, folha mínima 600).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1832" y="4645152"/>
            <a:ext cx="9966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teste: 84.067 • evento composto no teste: 27,2% • dados de M0 apenas.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5815584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5865876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Prognóstico de evento operacional, não recomendação causal de oferta. Validação prospectiva continua necessária.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Não confundir movimento por registro com oportunidade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8096" y="1773936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correção do denominador muda a conclusão aparente.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família(s)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834640" y="2468880"/>
            <a:ext cx="4297680" cy="210312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34640" y="2468880"/>
            <a:ext cx="1188121" cy="0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42316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27,6%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595360" y="2468880"/>
            <a:ext cx="1645920" cy="210312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95360" y="2468880"/>
            <a:ext cx="455025" cy="0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351008" y="242316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B16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27,6%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" y="31089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família(s)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834640" y="3154680"/>
            <a:ext cx="4297680" cy="210312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4640" y="3154680"/>
            <a:ext cx="1585817" cy="0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0" y="310896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36,9%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595360" y="3154680"/>
            <a:ext cx="1645920" cy="210312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95360" y="3154680"/>
            <a:ext cx="387949" cy="0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51008" y="310896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B16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23,6%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672" y="37947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família(s)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2834640" y="3840480"/>
            <a:ext cx="4297680" cy="210312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3840480"/>
            <a:ext cx="1730944" cy="0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0" y="379476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40,3%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595360" y="3840480"/>
            <a:ext cx="1645920" cy="210312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95360" y="3840480"/>
            <a:ext cx="352041" cy="0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351008" y="379476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B16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21,4%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04672" y="44805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família(s)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2834640" y="4526280"/>
            <a:ext cx="4297680" cy="210312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34640" y="4526280"/>
            <a:ext cx="2987928" cy="0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0" y="448056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69,5%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595360" y="4526280"/>
            <a:ext cx="1645920" cy="210312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95360" y="4526280"/>
            <a:ext cx="599318" cy="0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51008" y="448056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B16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36,4%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60120" y="539496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Esquerda: qualquer movimento/retidos     Direita: flags/produtos M0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5870448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920740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normalização não elimina viés por mix, elegibilidade ou seleção. São estimandos distintos.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Maturidade da origem: leads ainda em aberto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210312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LEGADO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37560" y="2212848"/>
            <a:ext cx="5897880" cy="301752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2212848"/>
            <a:ext cx="4831654" cy="301752"/>
          </a:xfrm>
          <a:prstGeom prst="rect">
            <a:avLst/>
          </a:prstGeom>
          <a:solidFill>
            <a:srgbClr val="BC9557"/>
          </a:solidFill>
          <a:ln w="12700">
            <a:solidFill>
              <a:srgbClr val="BC95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0" y="2103120"/>
            <a:ext cx="1554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B16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9,01%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337560" y="26791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6.162 casos em aberto / 68.380 registros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65760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SOLAR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337560" y="3767328"/>
            <a:ext cx="5897880" cy="301752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37560" y="3767328"/>
            <a:ext cx="20510" cy="301752"/>
          </a:xfrm>
          <a:prstGeom prst="rect">
            <a:avLst/>
          </a:prstGeom>
          <a:solidFill>
            <a:srgbClr val="BC9557"/>
          </a:solidFill>
          <a:ln w="12700">
            <a:solidFill>
              <a:srgbClr val="BC95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0" y="3657600"/>
            <a:ext cx="1554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B16B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0,04%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337560" y="42336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casos em aberto / 235.272 registros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760720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811012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Retenção entre casos encerrados tem viés potencial de seleção; origem não é tratamento aleatório.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modelagem responde a uma questão diferente da caracterização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13232" y="1965960"/>
            <a:ext cx="52486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1965960"/>
            <a:ext cx="5248656" cy="10058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240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PERFIL PRINCIPAL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41832" y="2788920"/>
            <a:ext cx="4736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P(Movimentação | Retido, M0)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941832" y="3703320"/>
            <a:ext cx="46908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Quem movimentou dentre os registros retidos?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41832" y="4526280"/>
            <a:ext cx="4690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Descrição observacional por mix e produto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6208" y="1965960"/>
            <a:ext cx="52486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6208" y="1965960"/>
            <a:ext cx="5248656" cy="100584"/>
          </a:xfrm>
          <a:prstGeom prst="rect">
            <a:avLst/>
          </a:prstGeom>
          <a:solidFill>
            <a:srgbClr val="BC9557"/>
          </a:solidFill>
          <a:ln w="12700">
            <a:solidFill>
              <a:srgbClr val="BC95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2240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EXPLORATÓRIO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64808" y="2788920"/>
            <a:ext cx="4736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P(Retido e Movimentação | M0)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464808" y="3703320"/>
            <a:ext cx="46908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 evento composto ocorreu nos encerrados?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64808" y="4526280"/>
            <a:ext cx="4690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AUC 0,662; Brier 0,1849 no holdout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833872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884164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Nenhuma das duas tarefas identifica o efeito causal ou incremental da oferta.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Nível de evidência para a decisão de retenção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1911096"/>
            <a:ext cx="10625328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204825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FATO OBSERVADO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67328" y="2039112"/>
            <a:ext cx="7178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retidos com movimento; taxas por oportunidade; deltas M0–M30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49808" y="2871216"/>
            <a:ext cx="10625328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300837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 ESTIMADO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67328" y="2999232"/>
            <a:ext cx="7178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AUC, Brier e lift do evento composto em holdout cronológico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49808" y="3831336"/>
            <a:ext cx="10625328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0976" y="396849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HIPÓTESE A TESTAR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67328" y="3959352"/>
            <a:ext cx="7178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Intervenções por mix e auditoria de quedas de valores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49808" y="4791456"/>
            <a:ext cx="10625328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" y="492861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NÃO IDENTIFICÁVEL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67328" y="4919472"/>
            <a:ext cx="7178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Efeito de oferta, receita líquida, margem, churn futuro e duração do contrato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870448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920740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narrativa é condicionada à semântica de negócio e não promove associações a efeitos causais.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Recomendações como hipóteses mensuráveis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13232" y="1847088"/>
            <a:ext cx="10789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Perfil da carteira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1956816"/>
            <a:ext cx="4251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Testar ofertas estruturadas por mix inicial (1/2/3/4 famílias).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88352" y="1956816"/>
            <a:ext cx="38221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Retidos com movimento, variação monetária validada.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3232" y="2807208"/>
            <a:ext cx="10789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926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Origem / maturidade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2916936"/>
            <a:ext cx="4251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Reconciliar leads em aberto e o mix SOLAR versus LEGADO.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88352" y="2916936"/>
            <a:ext cx="38221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 de fechamento, desfecho, diferenças de composição.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13232" y="3767328"/>
            <a:ext cx="10789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886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 após retenção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3877056"/>
            <a:ext cx="4251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Auditar descontos, downgrades e alterações de plano em M0/M30.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88352" y="3877056"/>
            <a:ext cx="38221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 por produto, margem e receita contábil.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13232" y="4727448"/>
            <a:ext cx="10789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846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Sinal preditivo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837176"/>
            <a:ext cx="4251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Testar score somente em shadow mode e períodos futuros.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88352" y="4837176"/>
            <a:ext cx="38221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Brier, AP, lift, estabilidade e taxas por grupo.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833872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884164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Nenhuma das ações tem impacto incremental comprovado: desenhar experimento controlado antes de escalar.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65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• USO RESTRITO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Próximas decisões e ações testáveis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10927080" cy="16459"/>
          </a:xfrm>
          <a:prstGeom prst="rect">
            <a:avLst/>
          </a:prstGeom>
          <a:solidFill>
            <a:srgbClr val="D9E1D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510528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AMOSTRA JUN–DEZ/2025  •  DEFINIÇÕES PROVISÓRIAS  •  SEM INFERÊNCIA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58952" y="1847088"/>
            <a:ext cx="10570464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2688" y="1993392"/>
            <a:ext cx="466344" cy="46634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2121408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27632" y="1965960"/>
            <a:ext cx="5138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chave de lead e regras de status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27632" y="2295144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Governança da amostra; critério de encerramento e maturidade.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58952" y="2816352"/>
            <a:ext cx="10570464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" y="2962656"/>
            <a:ext cx="466344" cy="46634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9264" y="3090672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627632" y="2935224"/>
            <a:ext cx="5138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Definir FLAG_MOV e VALOR com o negócio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27632" y="3264408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Distinguir alteração contratual de preço, desconto e mix.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58952" y="3785616"/>
            <a:ext cx="10570464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2688" y="3931920"/>
            <a:ext cx="466344" cy="46634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059936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627632" y="3904488"/>
            <a:ext cx="5138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Construir perfis M0 e baseline temporal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27632" y="4233672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Separar origem, composição e seleção. Evitar vazamento.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58952" y="4754880"/>
            <a:ext cx="10570464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D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2688" y="4901184"/>
            <a:ext cx="466344" cy="466344"/>
          </a:xfrm>
          <a:prstGeom prst="rect">
            <a:avLst/>
          </a:prstGeom>
          <a:solidFill>
            <a:srgbClr val="1B6565"/>
          </a:solidFill>
          <a:ln w="12700">
            <a:solidFill>
              <a:srgbClr val="1B65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9264" y="502920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27632" y="4873752"/>
            <a:ext cx="5138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Desenhar experimentos comerciais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627632" y="5202936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Acompanhar retenção, valor líquido e satisfação com controle.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888736"/>
            <a:ext cx="10927080" cy="301752"/>
          </a:xfrm>
          <a:prstGeom prst="rect">
            <a:avLst/>
          </a:prstGeom>
          <a:solidFill>
            <a:srgbClr val="E8F0ED"/>
          </a:solidFill>
          <a:ln w="12700">
            <a:solidFill>
              <a:srgbClr val="E8F0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939028"/>
            <a:ext cx="10607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223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Resultados experimentais; decisões comerciais e valores financeiros dependem de definições oficiais.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Uso restrito — análise do case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de Retenção — Estudo Executivo — Evidências Observacionais</dc:title>
  <dc:subject>Diagnóstico descritivo da base do case — material confidencial</dc:subject>
  <dc:creator>Projeto Customer Retention Analytics</dc:creator>
  <cp:lastModifiedBy>Projeto Customer Retention Analytics</cp:lastModifiedBy>
  <cp:revision>1</cp:revision>
  <dcterms:created xsi:type="dcterms:W3CDTF">2026-10-14T20:15:13Z</dcterms:created>
  <dcterms:modified xsi:type="dcterms:W3CDTF">2026-10-14T20:15:13Z</dcterms:modified>
</cp:coreProperties>
</file>